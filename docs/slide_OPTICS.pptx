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Raleway Bold" charset="1" panose="00000000000000000000"/>
      <p:regular r:id="rId44"/>
    </p:embeddedFont>
    <p:embeddedFont>
      <p:font typeface="Helvetica Now Bold" charset="1" panose="020B0804030202020204"/>
      <p:regular r:id="rId45"/>
    </p:embeddedFont>
    <p:embeddedFont>
      <p:font typeface="Helvetica Now" charset="1" panose="020B0504030202020204"/>
      <p:regular r:id="rId46"/>
    </p:embeddedFont>
    <p:embeddedFont>
      <p:font typeface="Raleway Semi-Bold" charset="1" panose="00000000000000000000"/>
      <p:regular r:id="rId47"/>
    </p:embeddedFont>
    <p:embeddedFont>
      <p:font typeface="Raleway" charset="1" panose="00000000000000000000"/>
      <p:regular r:id="rId48"/>
    </p:embeddedFont>
    <p:embeddedFont>
      <p:font typeface="Raleway Italics" charset="1" panose="00000000000000000000"/>
      <p:regular r:id="rId49"/>
    </p:embeddedFont>
    <p:embeddedFont>
      <p:font typeface="Raleway Bold Italics" charset="1" panose="00000000000000000000"/>
      <p:regular r:id="rId50"/>
    </p:embeddedFont>
    <p:embeddedFont>
      <p:font typeface="Open Sans Bold" charset="1" panose="020B0806030504020204"/>
      <p:regular r:id="rId51"/>
    </p:embeddedFont>
    <p:embeddedFont>
      <p:font typeface="Raleway Semi-Bold Italics" charset="1" panose="00000000000000000000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16" Target="../media/image35.png" Type="http://schemas.openxmlformats.org/officeDocument/2006/relationships/image"/><Relationship Id="rId17" Target="../media/image36.svg" Type="http://schemas.openxmlformats.org/officeDocument/2006/relationships/image"/><Relationship Id="rId18" Target="../media/image37.png" Type="http://schemas.openxmlformats.org/officeDocument/2006/relationships/image"/><Relationship Id="rId19" Target="../media/image38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5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6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7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8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218480"/>
            <a:chOff x="0" y="0"/>
            <a:chExt cx="4816593" cy="21645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64538"/>
            </a:xfrm>
            <a:custGeom>
              <a:avLst/>
              <a:gdLst/>
              <a:ahLst/>
              <a:cxnLst/>
              <a:rect r="r" b="b" t="t" l="l"/>
              <a:pathLst>
                <a:path h="216453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64538"/>
                  </a:lnTo>
                  <a:lnTo>
                    <a:pt x="0" y="2164538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202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708392"/>
            <a:ext cx="10074858" cy="461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12"/>
              </a:lnSpc>
            </a:pPr>
            <a:r>
              <a:rPr lang="en-US" b="true" sz="9804" spc="29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ANALISI</a:t>
            </a:r>
          </a:p>
          <a:p>
            <a:pPr algn="l">
              <a:lnSpc>
                <a:spcPts val="9412"/>
              </a:lnSpc>
            </a:pPr>
            <a:r>
              <a:rPr lang="en-US" b="true" sz="9804" spc="29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DEL</a:t>
            </a:r>
            <a:r>
              <a:rPr lang="en-US" b="true" sz="9804" spc="29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LE DENSITÀ</a:t>
            </a:r>
          </a:p>
          <a:p>
            <a:pPr algn="l">
              <a:lnSpc>
                <a:spcPts val="9412"/>
              </a:lnSpc>
            </a:pPr>
            <a:r>
              <a:rPr lang="en-US" b="true" sz="9804" spc="29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 OPTICS</a:t>
            </a:r>
          </a:p>
          <a:p>
            <a:pPr algn="l">
              <a:lnSpc>
                <a:spcPts val="7737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15248" y="0"/>
            <a:ext cx="4767231" cy="2498842"/>
          </a:xfrm>
          <a:custGeom>
            <a:avLst/>
            <a:gdLst/>
            <a:ahLst/>
            <a:cxnLst/>
            <a:rect r="r" b="b" t="t" l="l"/>
            <a:pathLst>
              <a:path h="2498842" w="4767231">
                <a:moveTo>
                  <a:pt x="0" y="0"/>
                </a:moveTo>
                <a:lnTo>
                  <a:pt x="4767231" y="0"/>
                </a:lnTo>
                <a:lnTo>
                  <a:pt x="4767231" y="2498842"/>
                </a:lnTo>
                <a:lnTo>
                  <a:pt x="0" y="2498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63" r="0" b="-246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86841" y="1950517"/>
            <a:ext cx="4831491" cy="4831491"/>
          </a:xfrm>
          <a:custGeom>
            <a:avLst/>
            <a:gdLst/>
            <a:ahLst/>
            <a:cxnLst/>
            <a:rect r="r" b="b" t="t" l="l"/>
            <a:pathLst>
              <a:path h="4831491" w="4831491">
                <a:moveTo>
                  <a:pt x="0" y="0"/>
                </a:moveTo>
                <a:lnTo>
                  <a:pt x="4831491" y="0"/>
                </a:lnTo>
                <a:lnTo>
                  <a:pt x="4831491" y="4831490"/>
                </a:lnTo>
                <a:lnTo>
                  <a:pt x="0" y="48314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640020"/>
            <a:ext cx="10484118" cy="100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3499" spc="174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Esplorazione dei dataset e identificazione dei cluster attraverso l’algoritmo OPTICS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0582" y="9021674"/>
            <a:ext cx="2552278" cy="28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831" spc="54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Giulia M. Colombo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3010843" y="8699511"/>
            <a:ext cx="0" cy="1163357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689141" y="8653732"/>
            <a:ext cx="0" cy="1209135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3424019" y="9021674"/>
            <a:ext cx="3993659" cy="28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831" spc="54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Principi e modelli della percezione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6255" y="8749414"/>
            <a:ext cx="2126424" cy="22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424" spc="42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Presentato da: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24019" y="8749414"/>
            <a:ext cx="2126424" cy="22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2"/>
              </a:lnSpc>
            </a:pPr>
            <a:r>
              <a:rPr lang="en-US" sz="1424" spc="42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Corso: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6255" y="9298897"/>
            <a:ext cx="2552278" cy="28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831" spc="54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Paolo Gavagni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255" y="9576120"/>
            <a:ext cx="2552278" cy="28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831" spc="54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Laura Grosini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960603" y="8739527"/>
            <a:ext cx="4822833" cy="860568"/>
            <a:chOff x="0" y="0"/>
            <a:chExt cx="6430444" cy="114742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2835232" cy="2955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52"/>
                </a:lnSpc>
              </a:pPr>
              <a:r>
                <a:rPr lang="en-US" sz="1424" spc="42">
                  <a:solidFill>
                    <a:srgbClr val="000000"/>
                  </a:solidFill>
                  <a:latin typeface="Helvetica Now"/>
                  <a:ea typeface="Helvetica Now"/>
                  <a:cs typeface="Helvetica Now"/>
                  <a:sym typeface="Helvetica Now"/>
                </a:rPr>
                <a:t>Link GitHub: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367620"/>
              <a:ext cx="6430444" cy="7798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1"/>
                </a:lnSpc>
              </a:pPr>
              <a:r>
                <a:rPr lang="en-US" b="true" sz="1831" spc="54">
                  <a:solidFill>
                    <a:srgbClr val="000000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https://github.com/giuliamartinacolombo/PrincipiEModelliDellaPercezione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47364" y="9537998"/>
            <a:ext cx="16593273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42046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29" y="0"/>
                </a:lnTo>
                <a:lnTo>
                  <a:pt x="1127029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47364" y="2905285"/>
            <a:ext cx="7700489" cy="4849582"/>
            <a:chOff x="0" y="0"/>
            <a:chExt cx="1265741" cy="7971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5741" cy="797133"/>
            </a:xfrm>
            <a:custGeom>
              <a:avLst/>
              <a:gdLst/>
              <a:ahLst/>
              <a:cxnLst/>
              <a:rect r="r" b="b" t="t" l="l"/>
              <a:pathLst>
                <a:path h="797133" w="1265741">
                  <a:moveTo>
                    <a:pt x="0" y="0"/>
                  </a:moveTo>
                  <a:lnTo>
                    <a:pt x="1265741" y="0"/>
                  </a:lnTo>
                  <a:lnTo>
                    <a:pt x="1265741" y="797133"/>
                  </a:lnTo>
                  <a:lnTo>
                    <a:pt x="0" y="797133"/>
                  </a:lnTo>
                  <a:close/>
                </a:path>
              </a:pathLst>
            </a:custGeom>
            <a:blipFill>
              <a:blip r:embed="rId6"/>
              <a:stretch>
                <a:fillRect l="-6736" t="0" r="-673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879494"/>
            <a:ext cx="8819946" cy="120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273"/>
              </a:lnSpc>
              <a:spcBef>
                <a:spcPct val="0"/>
              </a:spcBef>
            </a:pPr>
            <a:r>
              <a:rPr lang="en-US" b="true" sz="8430" spc="25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IL CLUSTERING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43830"/>
            <a:ext cx="8819946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160"/>
              </a:lnSpc>
              <a:spcBef>
                <a:spcPct val="0"/>
              </a:spcBef>
            </a:pPr>
            <a:r>
              <a:rPr lang="en-US" b="true" sz="3200" spc="6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Che cos’è?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17028" y="9714211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85973" y="3118490"/>
            <a:ext cx="7491530" cy="428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7"/>
              </a:lnSpc>
            </a:pP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b="true" sz="2198" spc="43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clustering 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è una tecnica di machine learning </a:t>
            </a:r>
            <a:r>
              <a:rPr lang="en-US" sz="2198" spc="43" strike="noStrike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non supervisionato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che mira a raggruppare dati simili tra loro, senza l’uso di etichette predefinite.</a:t>
            </a:r>
          </a:p>
          <a:p>
            <a:pPr algn="just">
              <a:lnSpc>
                <a:spcPts val="3077"/>
              </a:lnSpc>
            </a:pPr>
          </a:p>
          <a:p>
            <a:pPr algn="just">
              <a:lnSpc>
                <a:spcPts val="3126"/>
              </a:lnSpc>
            </a:pPr>
            <a:r>
              <a:rPr lang="en-US" sz="2233" spc="44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È</a:t>
            </a:r>
            <a:r>
              <a:rPr lang="en-US" sz="2233" spc="44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ampiamente utilizzato in ambito commerciale, scientifico e tecnologico.</a:t>
            </a:r>
          </a:p>
          <a:p>
            <a:pPr algn="just">
              <a:lnSpc>
                <a:spcPts val="3126"/>
              </a:lnSpc>
            </a:pPr>
          </a:p>
          <a:p>
            <a:pPr algn="just">
              <a:lnSpc>
                <a:spcPts val="3077"/>
              </a:lnSpc>
            </a:pP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Offre diversi benefici chiave nell’analisi dei dati, tra cui: analisi esplorativa, riduzione della complessità, pre-elaborazione per altre tecniche e applicazioni pratiche</a:t>
            </a:r>
          </a:p>
          <a:p>
            <a:pPr algn="just" marL="0" indent="0" lvl="1">
              <a:lnSpc>
                <a:spcPts val="307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47364" y="9714211"/>
            <a:ext cx="4936045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8557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30" y="0"/>
                </a:lnTo>
                <a:lnTo>
                  <a:pt x="1127030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92072" y="4028870"/>
            <a:ext cx="530794" cy="530794"/>
            <a:chOff x="0" y="0"/>
            <a:chExt cx="707726" cy="70772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07726" cy="707726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123825"/>
                <a:ext cx="660400" cy="612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16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18048" y="211586"/>
              <a:ext cx="471629" cy="295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2"/>
                </a:lnSpc>
              </a:pPr>
              <a:r>
                <a:rPr lang="en-US" b="true" sz="1648" spc="32">
                  <a:solidFill>
                    <a:srgbClr val="A300FF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01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476265" y="4034550"/>
            <a:ext cx="480334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399" spc="47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Apprendim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en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to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 sup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ervisiona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t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o</a:t>
            </a:r>
          </a:p>
          <a:p>
            <a:pPr algn="just" marL="0" indent="0" lvl="1">
              <a:lnSpc>
                <a:spcPts val="335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0525312" y="4028870"/>
            <a:ext cx="530794" cy="53079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613848" y="4194274"/>
            <a:ext cx="353722" cy="21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2"/>
              </a:lnSpc>
            </a:pPr>
            <a:r>
              <a:rPr lang="en-US" b="true" sz="1648" spc="32">
                <a:solidFill>
                  <a:srgbClr val="A300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70406" y="4034550"/>
            <a:ext cx="1056524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399" spc="47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Apprendim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en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to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 NON sup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ervisiona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t</a:t>
            </a:r>
            <a:r>
              <a:rPr lang="en-US" b="true" sz="2399" spc="47" strike="noStrike" u="sng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o</a:t>
            </a:r>
          </a:p>
          <a:p>
            <a:pPr algn="just" marL="0" indent="0" lvl="1">
              <a:lnSpc>
                <a:spcPts val="3359"/>
              </a:lnSpc>
            </a:pPr>
          </a:p>
        </p:txBody>
      </p:sp>
      <p:sp>
        <p:nvSpPr>
          <p:cNvPr name="AutoShape 15" id="15"/>
          <p:cNvSpPr/>
          <p:nvPr/>
        </p:nvSpPr>
        <p:spPr>
          <a:xfrm>
            <a:off x="9144276" y="4238208"/>
            <a:ext cx="0" cy="468577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4767908" y="4577344"/>
            <a:ext cx="0" cy="49283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7" id="17"/>
          <p:cNvSpPr/>
          <p:nvPr/>
        </p:nvSpPr>
        <p:spPr>
          <a:xfrm>
            <a:off x="13521013" y="4577344"/>
            <a:ext cx="0" cy="49283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3316893" y="6462363"/>
            <a:ext cx="2940131" cy="2880373"/>
          </a:xfrm>
          <a:custGeom>
            <a:avLst/>
            <a:gdLst/>
            <a:ahLst/>
            <a:cxnLst/>
            <a:rect r="r" b="b" t="t" l="l"/>
            <a:pathLst>
              <a:path h="2880373" w="2940131">
                <a:moveTo>
                  <a:pt x="0" y="0"/>
                </a:moveTo>
                <a:lnTo>
                  <a:pt x="2940131" y="0"/>
                </a:lnTo>
                <a:lnTo>
                  <a:pt x="2940131" y="2880373"/>
                </a:lnTo>
                <a:lnTo>
                  <a:pt x="0" y="28803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057371" y="6462363"/>
            <a:ext cx="2927284" cy="2880373"/>
          </a:xfrm>
          <a:custGeom>
            <a:avLst/>
            <a:gdLst/>
            <a:ahLst/>
            <a:cxnLst/>
            <a:rect r="r" b="b" t="t" l="l"/>
            <a:pathLst>
              <a:path h="2880373" w="2927284">
                <a:moveTo>
                  <a:pt x="0" y="0"/>
                </a:moveTo>
                <a:lnTo>
                  <a:pt x="2927284" y="0"/>
                </a:lnTo>
                <a:lnTo>
                  <a:pt x="2927284" y="2880373"/>
                </a:lnTo>
                <a:lnTo>
                  <a:pt x="0" y="28803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209804" y="717599"/>
            <a:ext cx="14230833" cy="237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9273"/>
              </a:lnSpc>
              <a:spcBef>
                <a:spcPct val="0"/>
              </a:spcBef>
            </a:pPr>
            <a:r>
              <a:rPr lang="en-US" b="true" sz="8430" spc="25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MA COSA VUOL DIRE “NON SUPERVISIONATO”?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8557" y="3263060"/>
            <a:ext cx="10565240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spc="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Nel mac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hine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le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arn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ng, e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sto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du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nd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ca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gori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di 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lg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100" spc="42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tmi:</a:t>
            </a:r>
          </a:p>
          <a:p>
            <a:pPr algn="just" marL="0" indent="0" lvl="1">
              <a:lnSpc>
                <a:spcPts val="294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228557" y="5153357"/>
            <a:ext cx="7116803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L’algoritmo impara da un insieme di dati etic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hettati.</a:t>
            </a:r>
          </a:p>
          <a:p>
            <a:pPr algn="ctr">
              <a:lnSpc>
                <a:spcPts val="2660"/>
              </a:lnSpc>
            </a:pP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Significa che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per ogni esempio fo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rn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ito, si conosce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già la “risposta corretta”.</a:t>
            </a:r>
          </a:p>
          <a:p>
            <a:pPr algn="just">
              <a:lnSpc>
                <a:spcPts val="2940"/>
              </a:lnSpc>
            </a:pPr>
          </a:p>
          <a:p>
            <a:pPr algn="just" marL="0" indent="0" lvl="1">
              <a:lnSpc>
                <a:spcPts val="294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147535" y="5203532"/>
            <a:ext cx="7116803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L’al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goritmo riceve solo i dati grezzi (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punti, immagini, segnali, ecc.) e deve scop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ire da solo se esistono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gruppi o strutture nascoste.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</a:p>
          <a:p>
            <a:pPr algn="just" marL="0" indent="0" lvl="1">
              <a:lnSpc>
                <a:spcPts val="2940"/>
              </a:lnSpc>
            </a:pPr>
          </a:p>
        </p:txBody>
      </p:sp>
      <p:sp>
        <p:nvSpPr>
          <p:cNvPr name="AutoShape 24" id="24"/>
          <p:cNvSpPr/>
          <p:nvPr/>
        </p:nvSpPr>
        <p:spPr>
          <a:xfrm flipV="true">
            <a:off x="847364" y="9537998"/>
            <a:ext cx="16593273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6317028" y="9714211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7364" y="9714211"/>
            <a:ext cx="4936045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2046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29" y="0"/>
                </a:lnTo>
                <a:lnTo>
                  <a:pt x="1127029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2173783" y="3806658"/>
            <a:ext cx="1826216" cy="1915299"/>
            <a:chOff x="0" y="0"/>
            <a:chExt cx="520700" cy="546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0700" cy="532386"/>
            </a:xfrm>
            <a:custGeom>
              <a:avLst/>
              <a:gdLst/>
              <a:ahLst/>
              <a:cxnLst/>
              <a:rect r="r" b="b" t="t" l="l"/>
              <a:pathLst>
                <a:path h="532386" w="520700">
                  <a:moveTo>
                    <a:pt x="0" y="38021"/>
                  </a:moveTo>
                  <a:lnTo>
                    <a:pt x="0" y="292179"/>
                  </a:lnTo>
                  <a:cubicBezTo>
                    <a:pt x="0" y="316263"/>
                    <a:pt x="10728" y="339096"/>
                    <a:pt x="29267" y="354470"/>
                  </a:cubicBezTo>
                  <a:lnTo>
                    <a:pt x="231083" y="521830"/>
                  </a:lnTo>
                  <a:cubicBezTo>
                    <a:pt x="248056" y="535905"/>
                    <a:pt x="272644" y="535905"/>
                    <a:pt x="289617" y="521830"/>
                  </a:cubicBezTo>
                  <a:lnTo>
                    <a:pt x="491433" y="354470"/>
                  </a:lnTo>
                  <a:cubicBezTo>
                    <a:pt x="509972" y="339096"/>
                    <a:pt x="520700" y="316263"/>
                    <a:pt x="520700" y="292179"/>
                  </a:cubicBezTo>
                  <a:lnTo>
                    <a:pt x="520700" y="38021"/>
                  </a:lnTo>
                  <a:cubicBezTo>
                    <a:pt x="520700" y="27938"/>
                    <a:pt x="516694" y="18267"/>
                    <a:pt x="509564" y="11136"/>
                  </a:cubicBezTo>
                  <a:cubicBezTo>
                    <a:pt x="502433" y="4006"/>
                    <a:pt x="492762" y="0"/>
                    <a:pt x="482679" y="0"/>
                  </a:cubicBezTo>
                  <a:lnTo>
                    <a:pt x="38021" y="0"/>
                  </a:lnTo>
                  <a:cubicBezTo>
                    <a:pt x="27938" y="0"/>
                    <a:pt x="18267" y="4006"/>
                    <a:pt x="11136" y="11136"/>
                  </a:cubicBezTo>
                  <a:cubicBezTo>
                    <a:pt x="4006" y="18267"/>
                    <a:pt x="0" y="27938"/>
                    <a:pt x="0" y="38021"/>
                  </a:cubicBezTo>
                  <a:close/>
                </a:path>
              </a:pathLst>
            </a:custGeom>
            <a:solidFill>
              <a:srgbClr val="6F88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2700"/>
              <a:ext cx="5207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417704" y="4238334"/>
            <a:ext cx="1051949" cy="1051949"/>
          </a:xfrm>
          <a:custGeom>
            <a:avLst/>
            <a:gdLst/>
            <a:ahLst/>
            <a:cxnLst/>
            <a:rect r="r" b="b" t="t" l="l"/>
            <a:pathLst>
              <a:path h="1051949" w="1051949">
                <a:moveTo>
                  <a:pt x="0" y="0"/>
                </a:moveTo>
                <a:lnTo>
                  <a:pt x="1051949" y="0"/>
                </a:lnTo>
                <a:lnTo>
                  <a:pt x="1051949" y="1051949"/>
                </a:lnTo>
                <a:lnTo>
                  <a:pt x="0" y="10519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5400000">
            <a:off x="2195995" y="6304495"/>
            <a:ext cx="1826216" cy="1915299"/>
            <a:chOff x="0" y="0"/>
            <a:chExt cx="520700" cy="546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0700" cy="532386"/>
            </a:xfrm>
            <a:custGeom>
              <a:avLst/>
              <a:gdLst/>
              <a:ahLst/>
              <a:cxnLst/>
              <a:rect r="r" b="b" t="t" l="l"/>
              <a:pathLst>
                <a:path h="532386" w="520700">
                  <a:moveTo>
                    <a:pt x="0" y="38021"/>
                  </a:moveTo>
                  <a:lnTo>
                    <a:pt x="0" y="292179"/>
                  </a:lnTo>
                  <a:cubicBezTo>
                    <a:pt x="0" y="316263"/>
                    <a:pt x="10728" y="339096"/>
                    <a:pt x="29267" y="354470"/>
                  </a:cubicBezTo>
                  <a:lnTo>
                    <a:pt x="231083" y="521830"/>
                  </a:lnTo>
                  <a:cubicBezTo>
                    <a:pt x="248056" y="535905"/>
                    <a:pt x="272644" y="535905"/>
                    <a:pt x="289617" y="521830"/>
                  </a:cubicBezTo>
                  <a:lnTo>
                    <a:pt x="491433" y="354470"/>
                  </a:lnTo>
                  <a:cubicBezTo>
                    <a:pt x="509972" y="339096"/>
                    <a:pt x="520700" y="316263"/>
                    <a:pt x="520700" y="292179"/>
                  </a:cubicBezTo>
                  <a:lnTo>
                    <a:pt x="520700" y="38021"/>
                  </a:lnTo>
                  <a:cubicBezTo>
                    <a:pt x="520700" y="27938"/>
                    <a:pt x="516694" y="18267"/>
                    <a:pt x="509564" y="11136"/>
                  </a:cubicBezTo>
                  <a:cubicBezTo>
                    <a:pt x="502433" y="4006"/>
                    <a:pt x="492762" y="0"/>
                    <a:pt x="482679" y="0"/>
                  </a:cubicBezTo>
                  <a:lnTo>
                    <a:pt x="38021" y="0"/>
                  </a:lnTo>
                  <a:cubicBezTo>
                    <a:pt x="27938" y="0"/>
                    <a:pt x="18267" y="4006"/>
                    <a:pt x="11136" y="11136"/>
                  </a:cubicBezTo>
                  <a:cubicBezTo>
                    <a:pt x="4006" y="18267"/>
                    <a:pt x="0" y="27938"/>
                    <a:pt x="0" y="38021"/>
                  </a:cubicBezTo>
                  <a:close/>
                </a:path>
              </a:pathLst>
            </a:custGeom>
            <a:solidFill>
              <a:srgbClr val="62DDA7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2700"/>
              <a:ext cx="5207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385666" y="6704132"/>
            <a:ext cx="1116025" cy="1116025"/>
          </a:xfrm>
          <a:custGeom>
            <a:avLst/>
            <a:gdLst/>
            <a:ahLst/>
            <a:cxnLst/>
            <a:rect r="r" b="b" t="t" l="l"/>
            <a:pathLst>
              <a:path h="1116025" w="1116025">
                <a:moveTo>
                  <a:pt x="0" y="0"/>
                </a:moveTo>
                <a:lnTo>
                  <a:pt x="1116025" y="0"/>
                </a:lnTo>
                <a:lnTo>
                  <a:pt x="1116025" y="1116026"/>
                </a:lnTo>
                <a:lnTo>
                  <a:pt x="0" y="11160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40573" y="800914"/>
            <a:ext cx="12788385" cy="237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3"/>
              </a:lnSpc>
            </a:pPr>
            <a:r>
              <a:rPr lang="en-US" b="true" sz="8430" spc="25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COME FUNZIONA IL CLUSTERING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52385" y="3935006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6F88FF"/>
                </a:solidFill>
                <a:latin typeface="Raleway Bold"/>
                <a:ea typeface="Raleway Bold"/>
                <a:cs typeface="Raleway Bold"/>
                <a:sym typeface="Raleway Bold"/>
              </a:rPr>
              <a:t>01. PRE-ELABORAZIONE DEI DATI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37048" y="4482772"/>
            <a:ext cx="11899499" cy="13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Rimozione di valori mancanti, duplicat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e feature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irri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anti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Normalizzazio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 e ridimens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on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ament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dei dati per evitare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che va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bil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c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on v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ori più grandi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do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minino sulle altre</a:t>
            </a:r>
          </a:p>
          <a:p>
            <a:pPr algn="just" marL="0" indent="0" lvl="1">
              <a:lnSpc>
                <a:spcPts val="266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4374598" y="6432843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62DDA7"/>
                </a:solidFill>
                <a:latin typeface="Raleway Bold"/>
                <a:ea typeface="Raleway Bold"/>
                <a:cs typeface="Raleway Bold"/>
                <a:sym typeface="Raleway Bold"/>
              </a:rPr>
              <a:t>02. ESTRAZIONE DELLE CARATTERISTICHE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59260" y="6980609"/>
            <a:ext cx="11899499" cy="13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Identificazione o creazione dell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caratteri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tiche più rappresentative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Permette all’a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lgo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tmo d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con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centr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arsi sugli aspetti d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avver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ilevanti del dataset</a:t>
            </a:r>
          </a:p>
          <a:p>
            <a:pPr algn="just">
              <a:lnSpc>
                <a:spcPts val="2660"/>
              </a:lnSpc>
            </a:pPr>
          </a:p>
          <a:p>
            <a:pPr algn="just" marL="0" indent="0" lvl="1">
              <a:lnSpc>
                <a:spcPts val="266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2046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29" y="0"/>
                </a:lnTo>
                <a:lnTo>
                  <a:pt x="1127029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2207101" y="1357261"/>
            <a:ext cx="1826216" cy="1915299"/>
            <a:chOff x="0" y="0"/>
            <a:chExt cx="520700" cy="546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0700" cy="532386"/>
            </a:xfrm>
            <a:custGeom>
              <a:avLst/>
              <a:gdLst/>
              <a:ahLst/>
              <a:cxnLst/>
              <a:rect r="r" b="b" t="t" l="l"/>
              <a:pathLst>
                <a:path h="532386" w="520700">
                  <a:moveTo>
                    <a:pt x="0" y="38021"/>
                  </a:moveTo>
                  <a:lnTo>
                    <a:pt x="0" y="292179"/>
                  </a:lnTo>
                  <a:cubicBezTo>
                    <a:pt x="0" y="316263"/>
                    <a:pt x="10728" y="339096"/>
                    <a:pt x="29267" y="354470"/>
                  </a:cubicBezTo>
                  <a:lnTo>
                    <a:pt x="231083" y="521830"/>
                  </a:lnTo>
                  <a:cubicBezTo>
                    <a:pt x="248056" y="535905"/>
                    <a:pt x="272644" y="535905"/>
                    <a:pt x="289617" y="521830"/>
                  </a:cubicBezTo>
                  <a:lnTo>
                    <a:pt x="491433" y="354470"/>
                  </a:lnTo>
                  <a:cubicBezTo>
                    <a:pt x="509972" y="339096"/>
                    <a:pt x="520700" y="316263"/>
                    <a:pt x="520700" y="292179"/>
                  </a:cubicBezTo>
                  <a:lnTo>
                    <a:pt x="520700" y="38021"/>
                  </a:lnTo>
                  <a:cubicBezTo>
                    <a:pt x="520700" y="27938"/>
                    <a:pt x="516694" y="18267"/>
                    <a:pt x="509564" y="11136"/>
                  </a:cubicBezTo>
                  <a:cubicBezTo>
                    <a:pt x="502433" y="4006"/>
                    <a:pt x="492762" y="0"/>
                    <a:pt x="482679" y="0"/>
                  </a:cubicBezTo>
                  <a:lnTo>
                    <a:pt x="38021" y="0"/>
                  </a:lnTo>
                  <a:cubicBezTo>
                    <a:pt x="27938" y="0"/>
                    <a:pt x="18267" y="4006"/>
                    <a:pt x="11136" y="11136"/>
                  </a:cubicBezTo>
                  <a:cubicBezTo>
                    <a:pt x="4006" y="18267"/>
                    <a:pt x="0" y="27938"/>
                    <a:pt x="0" y="38021"/>
                  </a:cubicBezTo>
                  <a:close/>
                </a:path>
              </a:pathLst>
            </a:custGeom>
            <a:solidFill>
              <a:srgbClr val="7ED957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2700"/>
              <a:ext cx="5207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2229313" y="3855098"/>
            <a:ext cx="1826216" cy="1915299"/>
            <a:chOff x="0" y="0"/>
            <a:chExt cx="520700" cy="546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0700" cy="532386"/>
            </a:xfrm>
            <a:custGeom>
              <a:avLst/>
              <a:gdLst/>
              <a:ahLst/>
              <a:cxnLst/>
              <a:rect r="r" b="b" t="t" l="l"/>
              <a:pathLst>
                <a:path h="532386" w="520700">
                  <a:moveTo>
                    <a:pt x="0" y="38021"/>
                  </a:moveTo>
                  <a:lnTo>
                    <a:pt x="0" y="292179"/>
                  </a:lnTo>
                  <a:cubicBezTo>
                    <a:pt x="0" y="316263"/>
                    <a:pt x="10728" y="339096"/>
                    <a:pt x="29267" y="354470"/>
                  </a:cubicBezTo>
                  <a:lnTo>
                    <a:pt x="231083" y="521830"/>
                  </a:lnTo>
                  <a:cubicBezTo>
                    <a:pt x="248056" y="535905"/>
                    <a:pt x="272644" y="535905"/>
                    <a:pt x="289617" y="521830"/>
                  </a:cubicBezTo>
                  <a:lnTo>
                    <a:pt x="491433" y="354470"/>
                  </a:lnTo>
                  <a:cubicBezTo>
                    <a:pt x="509972" y="339096"/>
                    <a:pt x="520700" y="316263"/>
                    <a:pt x="520700" y="292179"/>
                  </a:cubicBezTo>
                  <a:lnTo>
                    <a:pt x="520700" y="38021"/>
                  </a:lnTo>
                  <a:cubicBezTo>
                    <a:pt x="520700" y="27938"/>
                    <a:pt x="516694" y="18267"/>
                    <a:pt x="509564" y="11136"/>
                  </a:cubicBezTo>
                  <a:cubicBezTo>
                    <a:pt x="502433" y="4006"/>
                    <a:pt x="492762" y="0"/>
                    <a:pt x="482679" y="0"/>
                  </a:cubicBezTo>
                  <a:lnTo>
                    <a:pt x="38021" y="0"/>
                  </a:lnTo>
                  <a:cubicBezTo>
                    <a:pt x="27938" y="0"/>
                    <a:pt x="18267" y="4006"/>
                    <a:pt x="11136" y="11136"/>
                  </a:cubicBezTo>
                  <a:cubicBezTo>
                    <a:pt x="4006" y="18267"/>
                    <a:pt x="0" y="27938"/>
                    <a:pt x="0" y="38021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2700"/>
              <a:ext cx="5207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2229313" y="6352935"/>
            <a:ext cx="1826216" cy="1915299"/>
            <a:chOff x="0" y="0"/>
            <a:chExt cx="520700" cy="546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0700" cy="532386"/>
            </a:xfrm>
            <a:custGeom>
              <a:avLst/>
              <a:gdLst/>
              <a:ahLst/>
              <a:cxnLst/>
              <a:rect r="r" b="b" t="t" l="l"/>
              <a:pathLst>
                <a:path h="532386" w="520700">
                  <a:moveTo>
                    <a:pt x="0" y="38021"/>
                  </a:moveTo>
                  <a:lnTo>
                    <a:pt x="0" y="292179"/>
                  </a:lnTo>
                  <a:cubicBezTo>
                    <a:pt x="0" y="316263"/>
                    <a:pt x="10728" y="339096"/>
                    <a:pt x="29267" y="354470"/>
                  </a:cubicBezTo>
                  <a:lnTo>
                    <a:pt x="231083" y="521830"/>
                  </a:lnTo>
                  <a:cubicBezTo>
                    <a:pt x="248056" y="535905"/>
                    <a:pt x="272644" y="535905"/>
                    <a:pt x="289617" y="521830"/>
                  </a:cubicBezTo>
                  <a:lnTo>
                    <a:pt x="491433" y="354470"/>
                  </a:lnTo>
                  <a:cubicBezTo>
                    <a:pt x="509972" y="339096"/>
                    <a:pt x="520700" y="316263"/>
                    <a:pt x="520700" y="292179"/>
                  </a:cubicBezTo>
                  <a:lnTo>
                    <a:pt x="520700" y="38021"/>
                  </a:lnTo>
                  <a:cubicBezTo>
                    <a:pt x="520700" y="27938"/>
                    <a:pt x="516694" y="18267"/>
                    <a:pt x="509564" y="11136"/>
                  </a:cubicBezTo>
                  <a:cubicBezTo>
                    <a:pt x="502433" y="4006"/>
                    <a:pt x="492762" y="0"/>
                    <a:pt x="482679" y="0"/>
                  </a:cubicBezTo>
                  <a:lnTo>
                    <a:pt x="38021" y="0"/>
                  </a:lnTo>
                  <a:cubicBezTo>
                    <a:pt x="27938" y="0"/>
                    <a:pt x="18267" y="4006"/>
                    <a:pt x="11136" y="11136"/>
                  </a:cubicBezTo>
                  <a:cubicBezTo>
                    <a:pt x="4006" y="18267"/>
                    <a:pt x="0" y="27938"/>
                    <a:pt x="0" y="38021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2700"/>
              <a:ext cx="520700" cy="33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436453" y="1979303"/>
            <a:ext cx="1125512" cy="671214"/>
          </a:xfrm>
          <a:custGeom>
            <a:avLst/>
            <a:gdLst/>
            <a:ahLst/>
            <a:cxnLst/>
            <a:rect r="r" b="b" t="t" l="l"/>
            <a:pathLst>
              <a:path h="671214" w="1125512">
                <a:moveTo>
                  <a:pt x="0" y="0"/>
                </a:moveTo>
                <a:lnTo>
                  <a:pt x="1125512" y="0"/>
                </a:lnTo>
                <a:lnTo>
                  <a:pt x="1125512" y="671214"/>
                </a:lnTo>
                <a:lnTo>
                  <a:pt x="0" y="6712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345994" y="4231638"/>
            <a:ext cx="1179190" cy="1165714"/>
          </a:xfrm>
          <a:custGeom>
            <a:avLst/>
            <a:gdLst/>
            <a:ahLst/>
            <a:cxnLst/>
            <a:rect r="r" b="b" t="t" l="l"/>
            <a:pathLst>
              <a:path h="1165714" w="1179190">
                <a:moveTo>
                  <a:pt x="0" y="0"/>
                </a:moveTo>
                <a:lnTo>
                  <a:pt x="1179190" y="0"/>
                </a:lnTo>
                <a:lnTo>
                  <a:pt x="1179190" y="1165714"/>
                </a:lnTo>
                <a:lnTo>
                  <a:pt x="0" y="1165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1375" t="-44091" r="-42101" b="-41506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07923" y="6783159"/>
            <a:ext cx="982573" cy="1054851"/>
          </a:xfrm>
          <a:custGeom>
            <a:avLst/>
            <a:gdLst/>
            <a:ahLst/>
            <a:cxnLst/>
            <a:rect r="r" b="b" t="t" l="l"/>
            <a:pathLst>
              <a:path h="1054851" w="982573">
                <a:moveTo>
                  <a:pt x="0" y="0"/>
                </a:moveTo>
                <a:lnTo>
                  <a:pt x="982573" y="0"/>
                </a:lnTo>
                <a:lnTo>
                  <a:pt x="982573" y="1054851"/>
                </a:lnTo>
                <a:lnTo>
                  <a:pt x="0" y="10548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044540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85704" y="1485608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7ED957"/>
                </a:solidFill>
                <a:latin typeface="Raleway Bold"/>
                <a:ea typeface="Raleway Bold"/>
                <a:cs typeface="Raleway Bold"/>
                <a:sym typeface="Raleway Bold"/>
              </a:rPr>
              <a:t>03. MISURAZIONE DELLA DISTANZA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70366" y="2033375"/>
            <a:ext cx="11899499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Gli algoritmi raggruppano i dat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utilizzando met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rich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di distanza o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ità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Misuran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anto i punti dati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iano vicini o lontani tra loro</a:t>
            </a:r>
          </a:p>
          <a:p>
            <a:pPr algn="just" marL="0" indent="0" lvl="1">
              <a:lnSpc>
                <a:spcPts val="266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4407916" y="3983445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DE59"/>
                </a:solidFill>
                <a:latin typeface="Raleway Bold"/>
                <a:ea typeface="Raleway Bold"/>
                <a:cs typeface="Raleway Bold"/>
                <a:sym typeface="Raleway Bold"/>
              </a:rPr>
              <a:t>04. FORMAZIONE DEI CLUSTER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92579" y="4531212"/>
            <a:ext cx="11899499" cy="13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Dopo il calcolo dell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distanze, l’algoritmo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raggruppa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punti in c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lust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Og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clus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riunisce punti più simili tra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lo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ro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che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rispetto agli altri gruppi</a:t>
            </a:r>
          </a:p>
          <a:p>
            <a:pPr algn="just">
              <a:lnSpc>
                <a:spcPts val="2660"/>
              </a:lnSpc>
            </a:pPr>
          </a:p>
          <a:p>
            <a:pPr algn="just" marL="0" indent="0" lvl="1">
              <a:lnSpc>
                <a:spcPts val="266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4292579" y="7029049"/>
            <a:ext cx="11899499" cy="13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cluster vengono rivist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e perfezionati 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ivamente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oritmo aggiorna i confini per renderli più coerenti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s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ignificativi</a:t>
            </a:r>
          </a:p>
          <a:p>
            <a:pPr algn="just">
              <a:lnSpc>
                <a:spcPts val="2660"/>
              </a:lnSpc>
            </a:pPr>
          </a:p>
          <a:p>
            <a:pPr algn="just" marL="0" indent="0" lvl="1">
              <a:lnSpc>
                <a:spcPts val="266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4407916" y="6468225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914D"/>
                </a:solidFill>
                <a:latin typeface="Raleway Bold"/>
                <a:ea typeface="Raleway Bold"/>
                <a:cs typeface="Raleway Bold"/>
                <a:sym typeface="Raleway Bold"/>
              </a:rPr>
              <a:t>05. VALUTAZIONE E PERFEZIONAMENTO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2046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29" y="0"/>
                </a:lnTo>
                <a:lnTo>
                  <a:pt x="1127029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57264" y="9723494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685088" y="5182860"/>
            <a:ext cx="14917825" cy="2503585"/>
            <a:chOff x="0" y="0"/>
            <a:chExt cx="19890433" cy="3338113"/>
          </a:xfrm>
        </p:grpSpPr>
        <p:sp>
          <p:nvSpPr>
            <p:cNvPr name="AutoShape 8" id="8"/>
            <p:cNvSpPr/>
            <p:nvPr/>
          </p:nvSpPr>
          <p:spPr>
            <a:xfrm>
              <a:off x="1302246" y="1047090"/>
              <a:ext cx="17918491" cy="0"/>
            </a:xfrm>
            <a:prstGeom prst="line">
              <a:avLst/>
            </a:prstGeom>
            <a:ln cap="flat" w="140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 flipV="true">
              <a:off x="1302246" y="2189097"/>
              <a:ext cx="17918491" cy="0"/>
            </a:xfrm>
            <a:prstGeom prst="line">
              <a:avLst/>
            </a:prstGeom>
            <a:ln cap="flat" w="140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 flipV="true">
              <a:off x="1302246" y="3331104"/>
              <a:ext cx="17918491" cy="0"/>
            </a:xfrm>
            <a:prstGeom prst="line">
              <a:avLst/>
            </a:prstGeom>
            <a:ln cap="flat" w="14019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1" id="11"/>
            <p:cNvGrpSpPr/>
            <p:nvPr/>
          </p:nvGrpSpPr>
          <p:grpSpPr>
            <a:xfrm rot="0">
              <a:off x="0" y="0"/>
              <a:ext cx="896338" cy="896338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123825"/>
                <a:ext cx="660400" cy="612775"/>
              </a:xfrm>
              <a:prstGeom prst="rect">
                <a:avLst/>
              </a:prstGeom>
            </p:spPr>
            <p:txBody>
              <a:bodyPr anchor="ctr" rtlCol="false" tIns="74999" lIns="74999" bIns="74999" rIns="74999"/>
              <a:lstStyle/>
              <a:p>
                <a:pPr algn="ctr">
                  <a:lnSpc>
                    <a:spcPts val="2016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1169925"/>
              <a:ext cx="896338" cy="896338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123825"/>
                <a:ext cx="660400" cy="612775"/>
              </a:xfrm>
              <a:prstGeom prst="rect">
                <a:avLst/>
              </a:prstGeom>
            </p:spPr>
            <p:txBody>
              <a:bodyPr anchor="ctr" rtlCol="false" tIns="74999" lIns="74999" bIns="74999" rIns="74999"/>
              <a:lstStyle/>
              <a:p>
                <a:pPr algn="ctr">
                  <a:lnSpc>
                    <a:spcPts val="2016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2339849"/>
              <a:ext cx="896338" cy="896338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123825"/>
                <a:ext cx="660400" cy="612775"/>
              </a:xfrm>
              <a:prstGeom prst="rect">
                <a:avLst/>
              </a:prstGeom>
            </p:spPr>
            <p:txBody>
              <a:bodyPr anchor="ctr" rtlCol="false" tIns="74999" lIns="74999" bIns="74999" rIns="74999"/>
              <a:lstStyle/>
              <a:p>
                <a:pPr algn="ctr">
                  <a:lnSpc>
                    <a:spcPts val="201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02246" y="118350"/>
              <a:ext cx="10459142" cy="5989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23"/>
                </a:lnSpc>
              </a:pPr>
              <a:r>
                <a:rPr lang="en-US" sz="2659" spc="53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Basati sulla </a:t>
              </a:r>
              <a:r>
                <a:rPr lang="en-US" b="true" sz="2659" spc="53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distanza </a:t>
              </a:r>
              <a:r>
                <a:rPr lang="en-US" sz="2659" i="true" spc="53">
                  <a:solidFill>
                    <a:srgbClr val="545454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(es. K-Means, K-Medoids)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302246" y="1288274"/>
              <a:ext cx="10157346" cy="5989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23"/>
                </a:lnSpc>
              </a:pPr>
              <a:r>
                <a:rPr lang="en-US" sz="2659" spc="53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Basati sulla </a:t>
              </a:r>
              <a:r>
                <a:rPr lang="en-US" b="true" sz="2659" spc="53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densità </a:t>
              </a:r>
              <a:r>
                <a:rPr lang="en-US" sz="2659" i="true" spc="53">
                  <a:solidFill>
                    <a:srgbClr val="545454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(es. DBSCAN, OPTICS)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02246" y="2436072"/>
              <a:ext cx="18588187" cy="5989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723"/>
                </a:lnSpc>
              </a:pPr>
              <a:r>
                <a:rPr lang="en-US" sz="2659" spc="53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Basati su </a:t>
              </a:r>
              <a:r>
                <a:rPr lang="en-US" b="true" sz="2659" spc="53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modelli </a:t>
              </a:r>
              <a:r>
                <a:rPr lang="en-US" sz="2659" spc="53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o </a:t>
              </a:r>
              <a:r>
                <a:rPr lang="en-US" b="true" sz="2659" spc="53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gerarchie</a:t>
              </a:r>
              <a:r>
                <a:rPr lang="en-US" b="true" sz="2659" i="true" spc="53">
                  <a:solidFill>
                    <a:srgbClr val="000000"/>
                  </a:solidFill>
                  <a:latin typeface="Raleway Bold Italics"/>
                  <a:ea typeface="Raleway Bold Italics"/>
                  <a:cs typeface="Raleway Bold Italics"/>
                  <a:sym typeface="Raleway Bold Italics"/>
                </a:rPr>
                <a:t> </a:t>
              </a:r>
              <a:r>
                <a:rPr lang="en-US" sz="2659" i="true" spc="53">
                  <a:solidFill>
                    <a:srgbClr val="545454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(es. Agglomerative Clustering, Gaussian Mixture)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49509" y="267345"/>
              <a:ext cx="597320" cy="374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2087" spc="41">
                  <a:solidFill>
                    <a:srgbClr val="000000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01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49509" y="1437270"/>
              <a:ext cx="597320" cy="374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2087" spc="41">
                  <a:solidFill>
                    <a:srgbClr val="000000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02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49509" y="2607195"/>
              <a:ext cx="597320" cy="374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4"/>
                </a:lnSpc>
              </a:pPr>
              <a:r>
                <a:rPr lang="en-US" b="true" sz="2087" spc="41">
                  <a:solidFill>
                    <a:srgbClr val="000000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03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53620" y="685376"/>
            <a:ext cx="2805471" cy="2805471"/>
          </a:xfrm>
          <a:custGeom>
            <a:avLst/>
            <a:gdLst/>
            <a:ahLst/>
            <a:cxnLst/>
            <a:rect r="r" b="b" t="t" l="l"/>
            <a:pathLst>
              <a:path h="2805471" w="2805471">
                <a:moveTo>
                  <a:pt x="0" y="0"/>
                </a:moveTo>
                <a:lnTo>
                  <a:pt x="2805471" y="0"/>
                </a:lnTo>
                <a:lnTo>
                  <a:pt x="2805471" y="2805471"/>
                </a:lnTo>
                <a:lnTo>
                  <a:pt x="0" y="28054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4364830" y="879494"/>
            <a:ext cx="7688427" cy="237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3"/>
              </a:lnSpc>
            </a:pPr>
            <a:r>
              <a:rPr lang="en-US" b="true" sz="8430" spc="25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TIPOLOGIE DI CLUSTERING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8514" y="4025265"/>
            <a:ext cx="13816172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spc="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Gli algortimi di clustering vengono classificati in tre principali categorie:</a:t>
            </a:r>
          </a:p>
          <a:p>
            <a:pPr algn="just" marL="0" indent="0" lvl="1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027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628909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8557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30" y="0"/>
                </a:lnTo>
                <a:lnTo>
                  <a:pt x="1127030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44448" y="4619157"/>
            <a:ext cx="4199104" cy="4178109"/>
          </a:xfrm>
          <a:custGeom>
            <a:avLst/>
            <a:gdLst/>
            <a:ahLst/>
            <a:cxnLst/>
            <a:rect r="r" b="b" t="t" l="l"/>
            <a:pathLst>
              <a:path h="4178109" w="4199104">
                <a:moveTo>
                  <a:pt x="0" y="0"/>
                </a:moveTo>
                <a:lnTo>
                  <a:pt x="4199104" y="0"/>
                </a:lnTo>
                <a:lnTo>
                  <a:pt x="4199104" y="4178109"/>
                </a:lnTo>
                <a:lnTo>
                  <a:pt x="0" y="41781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6393" y="1615311"/>
            <a:ext cx="15735213" cy="249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716"/>
              </a:lnSpc>
              <a:spcBef>
                <a:spcPct val="0"/>
              </a:spcBef>
            </a:pPr>
            <a:r>
              <a:rPr lang="en-US" b="true" sz="8833" spc="26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CONCENTRIAMOCI SULL’ALGORITMO OPTICS!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027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06710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027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628909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8557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30" y="0"/>
                </a:lnTo>
                <a:lnTo>
                  <a:pt x="1127030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014292" y="3977994"/>
            <a:ext cx="10238846" cy="897788"/>
            <a:chOff x="0" y="0"/>
            <a:chExt cx="2696651" cy="2364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96651" cy="236454"/>
            </a:xfrm>
            <a:custGeom>
              <a:avLst/>
              <a:gdLst/>
              <a:ahLst/>
              <a:cxnLst/>
              <a:rect r="r" b="b" t="t" l="l"/>
              <a:pathLst>
                <a:path h="236454" w="2696651">
                  <a:moveTo>
                    <a:pt x="38563" y="0"/>
                  </a:moveTo>
                  <a:lnTo>
                    <a:pt x="2658088" y="0"/>
                  </a:lnTo>
                  <a:cubicBezTo>
                    <a:pt x="2668316" y="0"/>
                    <a:pt x="2678124" y="4063"/>
                    <a:pt x="2685356" y="11295"/>
                  </a:cubicBezTo>
                  <a:cubicBezTo>
                    <a:pt x="2692588" y="18527"/>
                    <a:pt x="2696651" y="28335"/>
                    <a:pt x="2696651" y="38563"/>
                  </a:cubicBezTo>
                  <a:lnTo>
                    <a:pt x="2696651" y="197892"/>
                  </a:lnTo>
                  <a:cubicBezTo>
                    <a:pt x="2696651" y="208119"/>
                    <a:pt x="2692588" y="217928"/>
                    <a:pt x="2685356" y="225160"/>
                  </a:cubicBezTo>
                  <a:cubicBezTo>
                    <a:pt x="2678124" y="232392"/>
                    <a:pt x="2668316" y="236454"/>
                    <a:pt x="2658088" y="236454"/>
                  </a:cubicBezTo>
                  <a:lnTo>
                    <a:pt x="38563" y="236454"/>
                  </a:lnTo>
                  <a:cubicBezTo>
                    <a:pt x="28335" y="236454"/>
                    <a:pt x="18527" y="232392"/>
                    <a:pt x="11295" y="225160"/>
                  </a:cubicBezTo>
                  <a:cubicBezTo>
                    <a:pt x="4063" y="217928"/>
                    <a:pt x="0" y="208119"/>
                    <a:pt x="0" y="197892"/>
                  </a:cubicBezTo>
                  <a:lnTo>
                    <a:pt x="0" y="38563"/>
                  </a:lnTo>
                  <a:cubicBezTo>
                    <a:pt x="0" y="28335"/>
                    <a:pt x="4063" y="18527"/>
                    <a:pt x="11295" y="11295"/>
                  </a:cubicBezTo>
                  <a:cubicBezTo>
                    <a:pt x="18527" y="4063"/>
                    <a:pt x="28335" y="0"/>
                    <a:pt x="38563" y="0"/>
                  </a:cubicBezTo>
                  <a:close/>
                </a:path>
              </a:pathLst>
            </a:custGeom>
            <a:solidFill>
              <a:srgbClr val="FF7C7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696651" cy="274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014292" y="4875782"/>
            <a:ext cx="10238846" cy="897788"/>
            <a:chOff x="0" y="0"/>
            <a:chExt cx="2696651" cy="2364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96651" cy="236454"/>
            </a:xfrm>
            <a:custGeom>
              <a:avLst/>
              <a:gdLst/>
              <a:ahLst/>
              <a:cxnLst/>
              <a:rect r="r" b="b" t="t" l="l"/>
              <a:pathLst>
                <a:path h="236454" w="2696651">
                  <a:moveTo>
                    <a:pt x="38563" y="0"/>
                  </a:moveTo>
                  <a:lnTo>
                    <a:pt x="2658088" y="0"/>
                  </a:lnTo>
                  <a:cubicBezTo>
                    <a:pt x="2668316" y="0"/>
                    <a:pt x="2678124" y="4063"/>
                    <a:pt x="2685356" y="11295"/>
                  </a:cubicBezTo>
                  <a:cubicBezTo>
                    <a:pt x="2692588" y="18527"/>
                    <a:pt x="2696651" y="28335"/>
                    <a:pt x="2696651" y="38563"/>
                  </a:cubicBezTo>
                  <a:lnTo>
                    <a:pt x="2696651" y="197892"/>
                  </a:lnTo>
                  <a:cubicBezTo>
                    <a:pt x="2696651" y="208119"/>
                    <a:pt x="2692588" y="217928"/>
                    <a:pt x="2685356" y="225160"/>
                  </a:cubicBezTo>
                  <a:cubicBezTo>
                    <a:pt x="2678124" y="232392"/>
                    <a:pt x="2668316" y="236454"/>
                    <a:pt x="2658088" y="236454"/>
                  </a:cubicBezTo>
                  <a:lnTo>
                    <a:pt x="38563" y="236454"/>
                  </a:lnTo>
                  <a:cubicBezTo>
                    <a:pt x="28335" y="236454"/>
                    <a:pt x="18527" y="232392"/>
                    <a:pt x="11295" y="225160"/>
                  </a:cubicBezTo>
                  <a:cubicBezTo>
                    <a:pt x="4063" y="217928"/>
                    <a:pt x="0" y="208119"/>
                    <a:pt x="0" y="197892"/>
                  </a:cubicBezTo>
                  <a:lnTo>
                    <a:pt x="0" y="38563"/>
                  </a:lnTo>
                  <a:cubicBezTo>
                    <a:pt x="0" y="28335"/>
                    <a:pt x="4063" y="18527"/>
                    <a:pt x="11295" y="11295"/>
                  </a:cubicBezTo>
                  <a:cubicBezTo>
                    <a:pt x="18527" y="4063"/>
                    <a:pt x="28335" y="0"/>
                    <a:pt x="38563" y="0"/>
                  </a:cubicBezTo>
                  <a:close/>
                </a:path>
              </a:pathLst>
            </a:custGeom>
            <a:solidFill>
              <a:srgbClr val="FFA06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96651" cy="274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34861" y="5773570"/>
            <a:ext cx="10238846" cy="897788"/>
            <a:chOff x="0" y="0"/>
            <a:chExt cx="2696651" cy="236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96651" cy="236454"/>
            </a:xfrm>
            <a:custGeom>
              <a:avLst/>
              <a:gdLst/>
              <a:ahLst/>
              <a:cxnLst/>
              <a:rect r="r" b="b" t="t" l="l"/>
              <a:pathLst>
                <a:path h="236454" w="2696651">
                  <a:moveTo>
                    <a:pt x="38563" y="0"/>
                  </a:moveTo>
                  <a:lnTo>
                    <a:pt x="2658088" y="0"/>
                  </a:lnTo>
                  <a:cubicBezTo>
                    <a:pt x="2668316" y="0"/>
                    <a:pt x="2678124" y="4063"/>
                    <a:pt x="2685356" y="11295"/>
                  </a:cubicBezTo>
                  <a:cubicBezTo>
                    <a:pt x="2692588" y="18527"/>
                    <a:pt x="2696651" y="28335"/>
                    <a:pt x="2696651" y="38563"/>
                  </a:cubicBezTo>
                  <a:lnTo>
                    <a:pt x="2696651" y="197892"/>
                  </a:lnTo>
                  <a:cubicBezTo>
                    <a:pt x="2696651" y="208119"/>
                    <a:pt x="2692588" y="217928"/>
                    <a:pt x="2685356" y="225160"/>
                  </a:cubicBezTo>
                  <a:cubicBezTo>
                    <a:pt x="2678124" y="232392"/>
                    <a:pt x="2668316" y="236454"/>
                    <a:pt x="2658088" y="236454"/>
                  </a:cubicBezTo>
                  <a:lnTo>
                    <a:pt x="38563" y="236454"/>
                  </a:lnTo>
                  <a:cubicBezTo>
                    <a:pt x="28335" y="236454"/>
                    <a:pt x="18527" y="232392"/>
                    <a:pt x="11295" y="225160"/>
                  </a:cubicBezTo>
                  <a:cubicBezTo>
                    <a:pt x="4063" y="217928"/>
                    <a:pt x="0" y="208119"/>
                    <a:pt x="0" y="197892"/>
                  </a:cubicBezTo>
                  <a:lnTo>
                    <a:pt x="0" y="38563"/>
                  </a:lnTo>
                  <a:cubicBezTo>
                    <a:pt x="0" y="28335"/>
                    <a:pt x="4063" y="18527"/>
                    <a:pt x="11295" y="11295"/>
                  </a:cubicBezTo>
                  <a:cubicBezTo>
                    <a:pt x="18527" y="4063"/>
                    <a:pt x="28335" y="0"/>
                    <a:pt x="38563" y="0"/>
                  </a:cubicBezTo>
                  <a:close/>
                </a:path>
              </a:pathLst>
            </a:custGeom>
            <a:solidFill>
              <a:srgbClr val="F9E18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96651" cy="274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34861" y="6671358"/>
            <a:ext cx="10238846" cy="897788"/>
            <a:chOff x="0" y="0"/>
            <a:chExt cx="2696651" cy="236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96651" cy="236454"/>
            </a:xfrm>
            <a:custGeom>
              <a:avLst/>
              <a:gdLst/>
              <a:ahLst/>
              <a:cxnLst/>
              <a:rect r="r" b="b" t="t" l="l"/>
              <a:pathLst>
                <a:path h="236454" w="2696651">
                  <a:moveTo>
                    <a:pt x="38563" y="0"/>
                  </a:moveTo>
                  <a:lnTo>
                    <a:pt x="2658088" y="0"/>
                  </a:lnTo>
                  <a:cubicBezTo>
                    <a:pt x="2668316" y="0"/>
                    <a:pt x="2678124" y="4063"/>
                    <a:pt x="2685356" y="11295"/>
                  </a:cubicBezTo>
                  <a:cubicBezTo>
                    <a:pt x="2692588" y="18527"/>
                    <a:pt x="2696651" y="28335"/>
                    <a:pt x="2696651" y="38563"/>
                  </a:cubicBezTo>
                  <a:lnTo>
                    <a:pt x="2696651" y="197892"/>
                  </a:lnTo>
                  <a:cubicBezTo>
                    <a:pt x="2696651" y="208119"/>
                    <a:pt x="2692588" y="217928"/>
                    <a:pt x="2685356" y="225160"/>
                  </a:cubicBezTo>
                  <a:cubicBezTo>
                    <a:pt x="2678124" y="232392"/>
                    <a:pt x="2668316" y="236454"/>
                    <a:pt x="2658088" y="236454"/>
                  </a:cubicBezTo>
                  <a:lnTo>
                    <a:pt x="38563" y="236454"/>
                  </a:lnTo>
                  <a:cubicBezTo>
                    <a:pt x="28335" y="236454"/>
                    <a:pt x="18527" y="232392"/>
                    <a:pt x="11295" y="225160"/>
                  </a:cubicBezTo>
                  <a:cubicBezTo>
                    <a:pt x="4063" y="217928"/>
                    <a:pt x="0" y="208119"/>
                    <a:pt x="0" y="197892"/>
                  </a:cubicBezTo>
                  <a:lnTo>
                    <a:pt x="0" y="38563"/>
                  </a:lnTo>
                  <a:cubicBezTo>
                    <a:pt x="0" y="28335"/>
                    <a:pt x="4063" y="18527"/>
                    <a:pt x="11295" y="11295"/>
                  </a:cubicBezTo>
                  <a:cubicBezTo>
                    <a:pt x="18527" y="4063"/>
                    <a:pt x="28335" y="0"/>
                    <a:pt x="38563" y="0"/>
                  </a:cubicBezTo>
                  <a:close/>
                </a:path>
              </a:pathLst>
            </a:custGeom>
            <a:solidFill>
              <a:srgbClr val="9CE57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96651" cy="274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14292" y="7538133"/>
            <a:ext cx="10238846" cy="897788"/>
            <a:chOff x="0" y="0"/>
            <a:chExt cx="2696651" cy="2364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96651" cy="236454"/>
            </a:xfrm>
            <a:custGeom>
              <a:avLst/>
              <a:gdLst/>
              <a:ahLst/>
              <a:cxnLst/>
              <a:rect r="r" b="b" t="t" l="l"/>
              <a:pathLst>
                <a:path h="236454" w="2696651">
                  <a:moveTo>
                    <a:pt x="38563" y="0"/>
                  </a:moveTo>
                  <a:lnTo>
                    <a:pt x="2658088" y="0"/>
                  </a:lnTo>
                  <a:cubicBezTo>
                    <a:pt x="2668316" y="0"/>
                    <a:pt x="2678124" y="4063"/>
                    <a:pt x="2685356" y="11295"/>
                  </a:cubicBezTo>
                  <a:cubicBezTo>
                    <a:pt x="2692588" y="18527"/>
                    <a:pt x="2696651" y="28335"/>
                    <a:pt x="2696651" y="38563"/>
                  </a:cubicBezTo>
                  <a:lnTo>
                    <a:pt x="2696651" y="197892"/>
                  </a:lnTo>
                  <a:cubicBezTo>
                    <a:pt x="2696651" y="208119"/>
                    <a:pt x="2692588" y="217928"/>
                    <a:pt x="2685356" y="225160"/>
                  </a:cubicBezTo>
                  <a:cubicBezTo>
                    <a:pt x="2678124" y="232392"/>
                    <a:pt x="2668316" y="236454"/>
                    <a:pt x="2658088" y="236454"/>
                  </a:cubicBezTo>
                  <a:lnTo>
                    <a:pt x="38563" y="236454"/>
                  </a:lnTo>
                  <a:cubicBezTo>
                    <a:pt x="28335" y="236454"/>
                    <a:pt x="18527" y="232392"/>
                    <a:pt x="11295" y="225160"/>
                  </a:cubicBezTo>
                  <a:cubicBezTo>
                    <a:pt x="4063" y="217928"/>
                    <a:pt x="0" y="208119"/>
                    <a:pt x="0" y="197892"/>
                  </a:cubicBezTo>
                  <a:lnTo>
                    <a:pt x="0" y="38563"/>
                  </a:lnTo>
                  <a:cubicBezTo>
                    <a:pt x="0" y="28335"/>
                    <a:pt x="4063" y="18527"/>
                    <a:pt x="11295" y="11295"/>
                  </a:cubicBezTo>
                  <a:cubicBezTo>
                    <a:pt x="18527" y="4063"/>
                    <a:pt x="28335" y="0"/>
                    <a:pt x="38563" y="0"/>
                  </a:cubicBezTo>
                  <a:close/>
                </a:path>
              </a:pathLst>
            </a:custGeom>
            <a:solidFill>
              <a:srgbClr val="99AC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696651" cy="274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408434" y="4104765"/>
            <a:ext cx="589485" cy="644246"/>
          </a:xfrm>
          <a:custGeom>
            <a:avLst/>
            <a:gdLst/>
            <a:ahLst/>
            <a:cxnLst/>
            <a:rect r="r" b="b" t="t" l="l"/>
            <a:pathLst>
              <a:path h="644246" w="589485">
                <a:moveTo>
                  <a:pt x="0" y="0"/>
                </a:moveTo>
                <a:lnTo>
                  <a:pt x="589485" y="0"/>
                </a:lnTo>
                <a:lnTo>
                  <a:pt x="589485" y="644246"/>
                </a:lnTo>
                <a:lnTo>
                  <a:pt x="0" y="6442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264753" y="4896723"/>
            <a:ext cx="876848" cy="876848"/>
          </a:xfrm>
          <a:custGeom>
            <a:avLst/>
            <a:gdLst/>
            <a:ahLst/>
            <a:cxnLst/>
            <a:rect r="r" b="b" t="t" l="l"/>
            <a:pathLst>
              <a:path h="876848" w="876848">
                <a:moveTo>
                  <a:pt x="0" y="0"/>
                </a:moveTo>
                <a:lnTo>
                  <a:pt x="876847" y="0"/>
                </a:lnTo>
                <a:lnTo>
                  <a:pt x="876847" y="876847"/>
                </a:lnTo>
                <a:lnTo>
                  <a:pt x="0" y="8768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365202" y="5878868"/>
            <a:ext cx="675948" cy="687193"/>
          </a:xfrm>
          <a:custGeom>
            <a:avLst/>
            <a:gdLst/>
            <a:ahLst/>
            <a:cxnLst/>
            <a:rect r="r" b="b" t="t" l="l"/>
            <a:pathLst>
              <a:path h="687193" w="675948">
                <a:moveTo>
                  <a:pt x="0" y="0"/>
                </a:moveTo>
                <a:lnTo>
                  <a:pt x="675949" y="0"/>
                </a:lnTo>
                <a:lnTo>
                  <a:pt x="675949" y="687193"/>
                </a:lnTo>
                <a:lnTo>
                  <a:pt x="0" y="6871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6721512">
            <a:off x="4343219" y="6205530"/>
            <a:ext cx="672149" cy="10922"/>
          </a:xfrm>
          <a:custGeom>
            <a:avLst/>
            <a:gdLst/>
            <a:ahLst/>
            <a:cxnLst/>
            <a:rect r="r" b="b" t="t" l="l"/>
            <a:pathLst>
              <a:path h="10922" w="672149">
                <a:moveTo>
                  <a:pt x="0" y="0"/>
                </a:moveTo>
                <a:lnTo>
                  <a:pt x="672149" y="0"/>
                </a:lnTo>
                <a:lnTo>
                  <a:pt x="672149" y="10922"/>
                </a:lnTo>
                <a:lnTo>
                  <a:pt x="0" y="109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w="9525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2700000">
            <a:off x="4343219" y="6187002"/>
            <a:ext cx="672149" cy="10922"/>
          </a:xfrm>
          <a:custGeom>
            <a:avLst/>
            <a:gdLst/>
            <a:ahLst/>
            <a:cxnLst/>
            <a:rect r="r" b="b" t="t" l="l"/>
            <a:pathLst>
              <a:path h="10922" w="672149">
                <a:moveTo>
                  <a:pt x="0" y="0"/>
                </a:moveTo>
                <a:lnTo>
                  <a:pt x="672149" y="0"/>
                </a:lnTo>
                <a:lnTo>
                  <a:pt x="672149" y="10922"/>
                </a:lnTo>
                <a:lnTo>
                  <a:pt x="0" y="109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w="9525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4390485" y="6831444"/>
            <a:ext cx="577617" cy="577617"/>
          </a:xfrm>
          <a:custGeom>
            <a:avLst/>
            <a:gdLst/>
            <a:ahLst/>
            <a:cxnLst/>
            <a:rect r="r" b="b" t="t" l="l"/>
            <a:pathLst>
              <a:path h="577617" w="577617">
                <a:moveTo>
                  <a:pt x="0" y="0"/>
                </a:moveTo>
                <a:lnTo>
                  <a:pt x="577617" y="0"/>
                </a:lnTo>
                <a:lnTo>
                  <a:pt x="577617" y="577617"/>
                </a:lnTo>
                <a:lnTo>
                  <a:pt x="0" y="57761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340090" y="7637729"/>
            <a:ext cx="726173" cy="698597"/>
          </a:xfrm>
          <a:custGeom>
            <a:avLst/>
            <a:gdLst/>
            <a:ahLst/>
            <a:cxnLst/>
            <a:rect r="r" b="b" t="t" l="l"/>
            <a:pathLst>
              <a:path h="698597" w="726173">
                <a:moveTo>
                  <a:pt x="0" y="0"/>
                </a:moveTo>
                <a:lnTo>
                  <a:pt x="726173" y="0"/>
                </a:lnTo>
                <a:lnTo>
                  <a:pt x="726173" y="698597"/>
                </a:lnTo>
                <a:lnTo>
                  <a:pt x="0" y="69859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19282" t="-23115" r="-20856" b="-22555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378093" y="1104900"/>
            <a:ext cx="13531813" cy="120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9273"/>
              </a:lnSpc>
              <a:spcBef>
                <a:spcPct val="0"/>
              </a:spcBef>
            </a:pPr>
            <a:r>
              <a:rPr lang="en-US" b="true" sz="8430" spc="25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PANORAMICA SU OPTICS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027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406710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61569" y="2732430"/>
            <a:ext cx="15185431" cy="7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77"/>
              </a:lnSpc>
            </a:pPr>
            <a:r>
              <a:rPr lang="en-US" b="true" sz="2198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OPT</a:t>
            </a:r>
            <a:r>
              <a:rPr lang="en-US" b="true" sz="2198" spc="43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</a:t>
            </a:r>
            <a:r>
              <a:rPr lang="en-US" b="true" sz="2198" spc="43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CS</a:t>
            </a:r>
            <a:r>
              <a:rPr lang="en-US" b="true" sz="2198" spc="43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(Ord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ering 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Poi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ts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t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Id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fy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Clustering Structure) è u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198" spc="43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alg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198" spc="43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ritmo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98" spc="43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 cl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198" spc="43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erin</a:t>
            </a:r>
            <a:r>
              <a:rPr lang="en-US" sz="2198" spc="43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 bas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ato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sulla </a:t>
            </a:r>
            <a:r>
              <a:rPr lang="en-US" b="true" sz="2198" spc="43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densità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particolarmente utile per identificare cluster di </a:t>
            </a:r>
            <a:r>
              <a:rPr lang="en-US" b="true" sz="2198" spc="43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densità variabile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r>
              <a:rPr lang="en-US" sz="2198" spc="43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74716" y="4149368"/>
            <a:ext cx="8744210" cy="448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637"/>
              </a:lnSpc>
            </a:pPr>
            <a:r>
              <a:rPr lang="en-US" b="true" sz="2598" spc="5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Clustering basato sulla densità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74716" y="5057626"/>
            <a:ext cx="8744210" cy="448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637"/>
              </a:lnSpc>
            </a:pPr>
            <a:r>
              <a:rPr lang="en-US" b="true" sz="2598" spc="5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Gestione di densità variabili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74716" y="5934652"/>
            <a:ext cx="8744210" cy="448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637"/>
              </a:lnSpc>
            </a:pPr>
            <a:r>
              <a:rPr lang="en-US" b="true" sz="2598" spc="5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Nessuna necessità di definire il numero di cluster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74716" y="6867497"/>
            <a:ext cx="8744210" cy="448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637"/>
              </a:lnSpc>
            </a:pPr>
            <a:r>
              <a:rPr lang="en-US" b="true" sz="2598" spc="5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Reachability Plots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89519" y="7731071"/>
            <a:ext cx="8729407" cy="448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637"/>
              </a:lnSpc>
            </a:pPr>
            <a:r>
              <a:rPr lang="en-US" b="true" sz="2598" spc="5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Gestione complessa dei dati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7430" y="992197"/>
            <a:ext cx="15832337" cy="237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3"/>
              </a:lnSpc>
            </a:pPr>
            <a:r>
              <a:rPr lang="en-US" b="true" sz="8430" spc="25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PRIMA DI SPIEGARE IL FUNZIONAMENTO...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42046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29" y="0"/>
                </a:lnTo>
                <a:lnTo>
                  <a:pt x="1127029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252811" y="4046417"/>
            <a:ext cx="174605" cy="1746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62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4960" lIns="44960" bIns="44960" rIns="4496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620505" y="5260136"/>
            <a:ext cx="174605" cy="1746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62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4960" lIns="44960" bIns="44960" rIns="4496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270372" y="7271415"/>
            <a:ext cx="174605" cy="17460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62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4960" lIns="44960" bIns="44960" rIns="4496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128531" y="5277208"/>
            <a:ext cx="119444" cy="28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b="true" sz="1693">
                <a:solidFill>
                  <a:srgbClr val="A300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ε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32007" y="3981845"/>
            <a:ext cx="4658207" cy="465820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4960" lIns="44960" bIns="44960" rIns="4496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14472476" y="4767328"/>
            <a:ext cx="1732791" cy="1531167"/>
          </a:xfrm>
          <a:prstGeom prst="line">
            <a:avLst/>
          </a:prstGeom>
          <a:ln cap="flat" w="28575">
            <a:solidFill>
              <a:srgbClr val="A300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373808" y="6223646"/>
            <a:ext cx="174605" cy="17460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62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4960" lIns="44960" bIns="44960" rIns="4496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966104" y="7446020"/>
            <a:ext cx="174605" cy="17460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62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4960" lIns="44960" bIns="44960" rIns="4496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863148" y="6481562"/>
            <a:ext cx="174605" cy="17460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62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44960" lIns="44960" bIns="44960" rIns="4496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305748" y="6369676"/>
            <a:ext cx="136119" cy="286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b="true" sz="1693">
                <a:solidFill>
                  <a:srgbClr val="2962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958077" y="4979823"/>
            <a:ext cx="3383800" cy="2985061"/>
            <a:chOff x="0" y="0"/>
            <a:chExt cx="5097780" cy="44970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42469" y="46331"/>
              <a:ext cx="5005489" cy="4404922"/>
            </a:xfrm>
            <a:custGeom>
              <a:avLst/>
              <a:gdLst/>
              <a:ahLst/>
              <a:cxnLst/>
              <a:rect r="r" b="b" t="t" l="l"/>
              <a:pathLst>
                <a:path h="4404922" w="5005489">
                  <a:moveTo>
                    <a:pt x="1302461" y="172109"/>
                  </a:moveTo>
                  <a:cubicBezTo>
                    <a:pt x="1106881" y="178459"/>
                    <a:pt x="1052271" y="184809"/>
                    <a:pt x="1000201" y="200049"/>
                  </a:cubicBezTo>
                  <a:cubicBezTo>
                    <a:pt x="943051" y="216559"/>
                    <a:pt x="879551" y="244499"/>
                    <a:pt x="832561" y="269899"/>
                  </a:cubicBezTo>
                  <a:cubicBezTo>
                    <a:pt x="794461" y="288949"/>
                    <a:pt x="766521" y="307999"/>
                    <a:pt x="736041" y="332129"/>
                  </a:cubicBezTo>
                  <a:cubicBezTo>
                    <a:pt x="703021" y="356259"/>
                    <a:pt x="675081" y="377849"/>
                    <a:pt x="644601" y="414679"/>
                  </a:cubicBezTo>
                  <a:cubicBezTo>
                    <a:pt x="601421" y="466749"/>
                    <a:pt x="548081" y="554379"/>
                    <a:pt x="511251" y="622959"/>
                  </a:cubicBezTo>
                  <a:cubicBezTo>
                    <a:pt x="478231" y="685189"/>
                    <a:pt x="451561" y="756309"/>
                    <a:pt x="429971" y="809649"/>
                  </a:cubicBezTo>
                  <a:cubicBezTo>
                    <a:pt x="416001" y="850289"/>
                    <a:pt x="403301" y="882039"/>
                    <a:pt x="395681" y="915059"/>
                  </a:cubicBezTo>
                  <a:cubicBezTo>
                    <a:pt x="389331" y="945539"/>
                    <a:pt x="394411" y="973479"/>
                    <a:pt x="386791" y="1001419"/>
                  </a:cubicBezTo>
                  <a:cubicBezTo>
                    <a:pt x="379171" y="1026819"/>
                    <a:pt x="363931" y="1036979"/>
                    <a:pt x="353771" y="1075079"/>
                  </a:cubicBezTo>
                  <a:cubicBezTo>
                    <a:pt x="325831" y="1183029"/>
                    <a:pt x="313131" y="1509419"/>
                    <a:pt x="299161" y="1721509"/>
                  </a:cubicBezTo>
                  <a:cubicBezTo>
                    <a:pt x="286461" y="1927249"/>
                    <a:pt x="290271" y="2112669"/>
                    <a:pt x="273761" y="2329839"/>
                  </a:cubicBezTo>
                  <a:cubicBezTo>
                    <a:pt x="255981" y="2582569"/>
                    <a:pt x="198831" y="2936899"/>
                    <a:pt x="187401" y="3147719"/>
                  </a:cubicBezTo>
                  <a:cubicBezTo>
                    <a:pt x="181051" y="3281069"/>
                    <a:pt x="175971" y="3381399"/>
                    <a:pt x="188671" y="3472839"/>
                  </a:cubicBezTo>
                  <a:cubicBezTo>
                    <a:pt x="196291" y="3541419"/>
                    <a:pt x="214071" y="3601109"/>
                    <a:pt x="233121" y="3649369"/>
                  </a:cubicBezTo>
                  <a:cubicBezTo>
                    <a:pt x="247091" y="3686199"/>
                    <a:pt x="263601" y="3714139"/>
                    <a:pt x="281381" y="3742079"/>
                  </a:cubicBezTo>
                  <a:cubicBezTo>
                    <a:pt x="295351" y="3768749"/>
                    <a:pt x="304241" y="3790339"/>
                    <a:pt x="328371" y="3813199"/>
                  </a:cubicBezTo>
                  <a:cubicBezTo>
                    <a:pt x="361391" y="3847489"/>
                    <a:pt x="419811" y="3883049"/>
                    <a:pt x="479501" y="3913529"/>
                  </a:cubicBezTo>
                  <a:cubicBezTo>
                    <a:pt x="551891" y="3950359"/>
                    <a:pt x="643331" y="3980839"/>
                    <a:pt x="739851" y="4011319"/>
                  </a:cubicBezTo>
                  <a:cubicBezTo>
                    <a:pt x="856691" y="4048149"/>
                    <a:pt x="1020521" y="4091329"/>
                    <a:pt x="1133551" y="4111649"/>
                  </a:cubicBezTo>
                  <a:cubicBezTo>
                    <a:pt x="1214831" y="4126889"/>
                    <a:pt x="1269441" y="4124349"/>
                    <a:pt x="1349451" y="4135779"/>
                  </a:cubicBezTo>
                  <a:cubicBezTo>
                    <a:pt x="1451051" y="4151019"/>
                    <a:pt x="1589481" y="4186579"/>
                    <a:pt x="1694891" y="4200549"/>
                  </a:cubicBezTo>
                  <a:cubicBezTo>
                    <a:pt x="1783791" y="4211979"/>
                    <a:pt x="1839671" y="4213249"/>
                    <a:pt x="1940001" y="4217059"/>
                  </a:cubicBezTo>
                  <a:cubicBezTo>
                    <a:pt x="2102561" y="4224679"/>
                    <a:pt x="2375611" y="4227219"/>
                    <a:pt x="2577541" y="4229759"/>
                  </a:cubicBezTo>
                  <a:cubicBezTo>
                    <a:pt x="2761691" y="4231029"/>
                    <a:pt x="2996641" y="4236109"/>
                    <a:pt x="3102051" y="4229759"/>
                  </a:cubicBezTo>
                  <a:cubicBezTo>
                    <a:pt x="3149041" y="4227219"/>
                    <a:pt x="3161741" y="4225949"/>
                    <a:pt x="3201111" y="4218329"/>
                  </a:cubicBezTo>
                  <a:cubicBezTo>
                    <a:pt x="3265881" y="4204359"/>
                    <a:pt x="3357321" y="4173879"/>
                    <a:pt x="3447491" y="4142129"/>
                  </a:cubicBezTo>
                  <a:cubicBezTo>
                    <a:pt x="3559251" y="4102759"/>
                    <a:pt x="3737051" y="4032909"/>
                    <a:pt x="3818331" y="3993539"/>
                  </a:cubicBezTo>
                  <a:cubicBezTo>
                    <a:pt x="3858971" y="3971949"/>
                    <a:pt x="3876751" y="3961789"/>
                    <a:pt x="3909771" y="3937659"/>
                  </a:cubicBezTo>
                  <a:cubicBezTo>
                    <a:pt x="3949141" y="3908449"/>
                    <a:pt x="3991051" y="3877969"/>
                    <a:pt x="4036771" y="3825899"/>
                  </a:cubicBezTo>
                  <a:cubicBezTo>
                    <a:pt x="4110431" y="3742079"/>
                    <a:pt x="4227271" y="3561739"/>
                    <a:pt x="4283151" y="3466489"/>
                  </a:cubicBezTo>
                  <a:cubicBezTo>
                    <a:pt x="4317441" y="3409339"/>
                    <a:pt x="4336491" y="3375049"/>
                    <a:pt x="4355541" y="3321709"/>
                  </a:cubicBezTo>
                  <a:cubicBezTo>
                    <a:pt x="4378401" y="3262019"/>
                    <a:pt x="4379671" y="3190899"/>
                    <a:pt x="4402531" y="3121049"/>
                  </a:cubicBezTo>
                  <a:cubicBezTo>
                    <a:pt x="4430471" y="3038499"/>
                    <a:pt x="4473651" y="2950869"/>
                    <a:pt x="4516831" y="2861969"/>
                  </a:cubicBezTo>
                  <a:cubicBezTo>
                    <a:pt x="4563821" y="2762909"/>
                    <a:pt x="4631131" y="2647339"/>
                    <a:pt x="4674311" y="2557169"/>
                  </a:cubicBezTo>
                  <a:cubicBezTo>
                    <a:pt x="4707331" y="2486049"/>
                    <a:pt x="4731461" y="2431439"/>
                    <a:pt x="4756861" y="2365399"/>
                  </a:cubicBezTo>
                  <a:cubicBezTo>
                    <a:pt x="4783531" y="2294279"/>
                    <a:pt x="4822901" y="2211729"/>
                    <a:pt x="4830521" y="2143149"/>
                  </a:cubicBezTo>
                  <a:cubicBezTo>
                    <a:pt x="4835601" y="2088539"/>
                    <a:pt x="4836871" y="2018689"/>
                    <a:pt x="4814011" y="1990749"/>
                  </a:cubicBezTo>
                  <a:cubicBezTo>
                    <a:pt x="4794961" y="1969159"/>
                    <a:pt x="4764481" y="1970429"/>
                    <a:pt x="4727651" y="1965349"/>
                  </a:cubicBezTo>
                  <a:cubicBezTo>
                    <a:pt x="4665421" y="1955189"/>
                    <a:pt x="4549851" y="1948839"/>
                    <a:pt x="4473651" y="1958999"/>
                  </a:cubicBezTo>
                  <a:cubicBezTo>
                    <a:pt x="4406341" y="1969159"/>
                    <a:pt x="4347921" y="1992019"/>
                    <a:pt x="4289501" y="2017419"/>
                  </a:cubicBezTo>
                  <a:cubicBezTo>
                    <a:pt x="4233621" y="2041549"/>
                    <a:pt x="4192981" y="2061869"/>
                    <a:pt x="4130751" y="2107589"/>
                  </a:cubicBezTo>
                  <a:cubicBezTo>
                    <a:pt x="4026611" y="2182519"/>
                    <a:pt x="3894531" y="2333649"/>
                    <a:pt x="3743401" y="2460649"/>
                  </a:cubicBezTo>
                  <a:cubicBezTo>
                    <a:pt x="3546551" y="2625749"/>
                    <a:pt x="3251911" y="2865779"/>
                    <a:pt x="3039821" y="3004209"/>
                  </a:cubicBezTo>
                  <a:cubicBezTo>
                    <a:pt x="2881071" y="3108349"/>
                    <a:pt x="2738831" y="3184549"/>
                    <a:pt x="2600401" y="3244239"/>
                  </a:cubicBezTo>
                  <a:cubicBezTo>
                    <a:pt x="2488641" y="3292499"/>
                    <a:pt x="2371801" y="3321709"/>
                    <a:pt x="2281631" y="3348379"/>
                  </a:cubicBezTo>
                  <a:cubicBezTo>
                    <a:pt x="2216861" y="3367429"/>
                    <a:pt x="2176221" y="3378859"/>
                    <a:pt x="2110181" y="3392829"/>
                  </a:cubicBezTo>
                  <a:cubicBezTo>
                    <a:pt x="2023821" y="3410609"/>
                    <a:pt x="1917141" y="3432199"/>
                    <a:pt x="1806651" y="3443629"/>
                  </a:cubicBezTo>
                  <a:cubicBezTo>
                    <a:pt x="1673301" y="3456329"/>
                    <a:pt x="1486611" y="3470299"/>
                    <a:pt x="1367231" y="3460139"/>
                  </a:cubicBezTo>
                  <a:cubicBezTo>
                    <a:pt x="1283411" y="3452519"/>
                    <a:pt x="1221181" y="3437279"/>
                    <a:pt x="1155141" y="3416959"/>
                  </a:cubicBezTo>
                  <a:cubicBezTo>
                    <a:pt x="1091641" y="3396639"/>
                    <a:pt x="1021791" y="3367429"/>
                    <a:pt x="976071" y="3340759"/>
                  </a:cubicBezTo>
                  <a:cubicBezTo>
                    <a:pt x="946861" y="3322979"/>
                    <a:pt x="930351" y="3309009"/>
                    <a:pt x="906221" y="3284879"/>
                  </a:cubicBezTo>
                  <a:cubicBezTo>
                    <a:pt x="871931" y="3249319"/>
                    <a:pt x="827481" y="3192169"/>
                    <a:pt x="799541" y="3140099"/>
                  </a:cubicBezTo>
                  <a:cubicBezTo>
                    <a:pt x="771601" y="3088029"/>
                    <a:pt x="753821" y="3018179"/>
                    <a:pt x="741121" y="2968649"/>
                  </a:cubicBezTo>
                  <a:cubicBezTo>
                    <a:pt x="733501" y="2934359"/>
                    <a:pt x="730961" y="2917849"/>
                    <a:pt x="727151" y="2875939"/>
                  </a:cubicBezTo>
                  <a:cubicBezTo>
                    <a:pt x="722071" y="2795929"/>
                    <a:pt x="716991" y="2611779"/>
                    <a:pt x="727151" y="2513989"/>
                  </a:cubicBezTo>
                  <a:cubicBezTo>
                    <a:pt x="734771" y="2446679"/>
                    <a:pt x="747471" y="2402229"/>
                    <a:pt x="763981" y="2345079"/>
                  </a:cubicBezTo>
                  <a:cubicBezTo>
                    <a:pt x="781761" y="2284119"/>
                    <a:pt x="813511" y="2224429"/>
                    <a:pt x="832561" y="2157119"/>
                  </a:cubicBezTo>
                  <a:cubicBezTo>
                    <a:pt x="854151" y="2080919"/>
                    <a:pt x="859231" y="2009799"/>
                    <a:pt x="887171" y="1909469"/>
                  </a:cubicBezTo>
                  <a:cubicBezTo>
                    <a:pt x="932891" y="1749449"/>
                    <a:pt x="1026871" y="1468779"/>
                    <a:pt x="1101801" y="1292249"/>
                  </a:cubicBezTo>
                  <a:cubicBezTo>
                    <a:pt x="1160221" y="1151279"/>
                    <a:pt x="1217371" y="1039519"/>
                    <a:pt x="1282141" y="922679"/>
                  </a:cubicBezTo>
                  <a:cubicBezTo>
                    <a:pt x="1344371" y="813459"/>
                    <a:pt x="1428191" y="710589"/>
                    <a:pt x="1481531" y="612799"/>
                  </a:cubicBezTo>
                  <a:cubicBezTo>
                    <a:pt x="1524711" y="531519"/>
                    <a:pt x="1571701" y="452779"/>
                    <a:pt x="1584401" y="381659"/>
                  </a:cubicBezTo>
                  <a:cubicBezTo>
                    <a:pt x="1593291" y="325779"/>
                    <a:pt x="1593291" y="257199"/>
                    <a:pt x="1569161" y="224179"/>
                  </a:cubicBezTo>
                  <a:cubicBezTo>
                    <a:pt x="1550111" y="197509"/>
                    <a:pt x="1510741" y="189889"/>
                    <a:pt x="1475181" y="182269"/>
                  </a:cubicBezTo>
                  <a:cubicBezTo>
                    <a:pt x="1433271" y="173379"/>
                    <a:pt x="1367231" y="192429"/>
                    <a:pt x="1334211" y="180999"/>
                  </a:cubicBezTo>
                  <a:cubicBezTo>
                    <a:pt x="1313891" y="173379"/>
                    <a:pt x="1297381" y="161949"/>
                    <a:pt x="1288491" y="144169"/>
                  </a:cubicBezTo>
                  <a:cubicBezTo>
                    <a:pt x="1277061" y="123849"/>
                    <a:pt x="1269441" y="83209"/>
                    <a:pt x="1279601" y="59079"/>
                  </a:cubicBezTo>
                  <a:cubicBezTo>
                    <a:pt x="1288491" y="36219"/>
                    <a:pt x="1320241" y="9549"/>
                    <a:pt x="1344371" y="4469"/>
                  </a:cubicBezTo>
                  <a:cubicBezTo>
                    <a:pt x="1369771" y="-1881"/>
                    <a:pt x="1409141" y="9549"/>
                    <a:pt x="1428191" y="27329"/>
                  </a:cubicBezTo>
                  <a:cubicBezTo>
                    <a:pt x="1445971" y="45109"/>
                    <a:pt x="1458671" y="83209"/>
                    <a:pt x="1454861" y="108609"/>
                  </a:cubicBezTo>
                  <a:cubicBezTo>
                    <a:pt x="1451051" y="134009"/>
                    <a:pt x="1425651" y="167029"/>
                    <a:pt x="1402791" y="177189"/>
                  </a:cubicBezTo>
                  <a:cubicBezTo>
                    <a:pt x="1379931" y="187349"/>
                    <a:pt x="1338021" y="182269"/>
                    <a:pt x="1316431" y="172109"/>
                  </a:cubicBezTo>
                  <a:cubicBezTo>
                    <a:pt x="1298651" y="163219"/>
                    <a:pt x="1285951" y="144169"/>
                    <a:pt x="1279601" y="127659"/>
                  </a:cubicBezTo>
                  <a:cubicBezTo>
                    <a:pt x="1271981" y="109879"/>
                    <a:pt x="1269441" y="87019"/>
                    <a:pt x="1275791" y="69239"/>
                  </a:cubicBezTo>
                  <a:cubicBezTo>
                    <a:pt x="1284681" y="46379"/>
                    <a:pt x="1307541" y="17169"/>
                    <a:pt x="1335481" y="7009"/>
                  </a:cubicBezTo>
                  <a:cubicBezTo>
                    <a:pt x="1373581" y="-8231"/>
                    <a:pt x="1443431" y="4469"/>
                    <a:pt x="1495501" y="15899"/>
                  </a:cubicBezTo>
                  <a:cubicBezTo>
                    <a:pt x="1548841" y="27329"/>
                    <a:pt x="1613611" y="48919"/>
                    <a:pt x="1654251" y="74319"/>
                  </a:cubicBezTo>
                  <a:cubicBezTo>
                    <a:pt x="1686001" y="93369"/>
                    <a:pt x="1708861" y="116229"/>
                    <a:pt x="1727911" y="144169"/>
                  </a:cubicBezTo>
                  <a:cubicBezTo>
                    <a:pt x="1746961" y="172109"/>
                    <a:pt x="1759661" y="207669"/>
                    <a:pt x="1766011" y="239419"/>
                  </a:cubicBezTo>
                  <a:cubicBezTo>
                    <a:pt x="1771091" y="268629"/>
                    <a:pt x="1771091" y="291489"/>
                    <a:pt x="1766011" y="327049"/>
                  </a:cubicBezTo>
                  <a:cubicBezTo>
                    <a:pt x="1757121" y="388009"/>
                    <a:pt x="1726641" y="494689"/>
                    <a:pt x="1699971" y="567079"/>
                  </a:cubicBezTo>
                  <a:cubicBezTo>
                    <a:pt x="1675841" y="629309"/>
                    <a:pt x="1646631" y="695349"/>
                    <a:pt x="1618691" y="738529"/>
                  </a:cubicBezTo>
                  <a:cubicBezTo>
                    <a:pt x="1597101" y="769009"/>
                    <a:pt x="1575511" y="779169"/>
                    <a:pt x="1553921" y="808379"/>
                  </a:cubicBezTo>
                  <a:cubicBezTo>
                    <a:pt x="1523441" y="849019"/>
                    <a:pt x="1494231" y="898549"/>
                    <a:pt x="1458671" y="963319"/>
                  </a:cubicBezTo>
                  <a:cubicBezTo>
                    <a:pt x="1404061" y="1064919"/>
                    <a:pt x="1325321" y="1224939"/>
                    <a:pt x="1265631" y="1360829"/>
                  </a:cubicBezTo>
                  <a:cubicBezTo>
                    <a:pt x="1205941" y="1500529"/>
                    <a:pt x="1155141" y="1628799"/>
                    <a:pt x="1103071" y="1792629"/>
                  </a:cubicBezTo>
                  <a:cubicBezTo>
                    <a:pt x="1035761" y="2000909"/>
                    <a:pt x="937971" y="2313329"/>
                    <a:pt x="908761" y="2513989"/>
                  </a:cubicBezTo>
                  <a:cubicBezTo>
                    <a:pt x="889711" y="2653689"/>
                    <a:pt x="890981" y="2778149"/>
                    <a:pt x="902411" y="2875939"/>
                  </a:cubicBezTo>
                  <a:cubicBezTo>
                    <a:pt x="910031" y="2944519"/>
                    <a:pt x="926541" y="3004209"/>
                    <a:pt x="944321" y="3047389"/>
                  </a:cubicBezTo>
                  <a:cubicBezTo>
                    <a:pt x="957021" y="3076599"/>
                    <a:pt x="963371" y="3091839"/>
                    <a:pt x="984961" y="3114699"/>
                  </a:cubicBezTo>
                  <a:cubicBezTo>
                    <a:pt x="1016711" y="3150259"/>
                    <a:pt x="1085291" y="3197249"/>
                    <a:pt x="1137361" y="3223919"/>
                  </a:cubicBezTo>
                  <a:cubicBezTo>
                    <a:pt x="1184351" y="3248049"/>
                    <a:pt x="1240231" y="3263289"/>
                    <a:pt x="1282141" y="3272179"/>
                  </a:cubicBezTo>
                  <a:cubicBezTo>
                    <a:pt x="1313891" y="3279799"/>
                    <a:pt x="1327861" y="3279799"/>
                    <a:pt x="1367231" y="3281069"/>
                  </a:cubicBezTo>
                  <a:cubicBezTo>
                    <a:pt x="1456131" y="3284879"/>
                    <a:pt x="1672031" y="3279799"/>
                    <a:pt x="1800301" y="3267099"/>
                  </a:cubicBezTo>
                  <a:cubicBezTo>
                    <a:pt x="1905711" y="3255669"/>
                    <a:pt x="1980641" y="3241699"/>
                    <a:pt x="2086051" y="3217569"/>
                  </a:cubicBezTo>
                  <a:cubicBezTo>
                    <a:pt x="2216861" y="3185819"/>
                    <a:pt x="2402281" y="3129939"/>
                    <a:pt x="2522931" y="3082949"/>
                  </a:cubicBezTo>
                  <a:cubicBezTo>
                    <a:pt x="2611831" y="3047389"/>
                    <a:pt x="2667711" y="3018179"/>
                    <a:pt x="2747721" y="2974999"/>
                  </a:cubicBezTo>
                  <a:cubicBezTo>
                    <a:pt x="2844241" y="2920389"/>
                    <a:pt x="2940761" y="2860699"/>
                    <a:pt x="3057601" y="2776879"/>
                  </a:cubicBezTo>
                  <a:cubicBezTo>
                    <a:pt x="3220161" y="2661309"/>
                    <a:pt x="3448761" y="2472079"/>
                    <a:pt x="3622751" y="2326029"/>
                  </a:cubicBezTo>
                  <a:cubicBezTo>
                    <a:pt x="3777691" y="2196489"/>
                    <a:pt x="3923741" y="2036469"/>
                    <a:pt x="4052011" y="1948839"/>
                  </a:cubicBezTo>
                  <a:cubicBezTo>
                    <a:pt x="4142181" y="1886609"/>
                    <a:pt x="4222191" y="1847239"/>
                    <a:pt x="4300931" y="1819299"/>
                  </a:cubicBezTo>
                  <a:cubicBezTo>
                    <a:pt x="4365701" y="1795169"/>
                    <a:pt x="4420311" y="1783739"/>
                    <a:pt x="4490161" y="1777389"/>
                  </a:cubicBezTo>
                  <a:cubicBezTo>
                    <a:pt x="4571441" y="1771039"/>
                    <a:pt x="4694631" y="1778659"/>
                    <a:pt x="4760671" y="1791359"/>
                  </a:cubicBezTo>
                  <a:cubicBezTo>
                    <a:pt x="4800041" y="1798979"/>
                    <a:pt x="4824171" y="1806599"/>
                    <a:pt x="4852111" y="1821839"/>
                  </a:cubicBezTo>
                  <a:cubicBezTo>
                    <a:pt x="4882591" y="1838349"/>
                    <a:pt x="4911801" y="1863749"/>
                    <a:pt x="4934661" y="1886609"/>
                  </a:cubicBezTo>
                  <a:cubicBezTo>
                    <a:pt x="4956251" y="1908199"/>
                    <a:pt x="4975301" y="1925979"/>
                    <a:pt x="4986731" y="1957729"/>
                  </a:cubicBezTo>
                  <a:cubicBezTo>
                    <a:pt x="5005781" y="2008529"/>
                    <a:pt x="5007051" y="2117749"/>
                    <a:pt x="5004511" y="2172359"/>
                  </a:cubicBezTo>
                  <a:cubicBezTo>
                    <a:pt x="5001971" y="2209189"/>
                    <a:pt x="4996891" y="2226969"/>
                    <a:pt x="4988001" y="2259989"/>
                  </a:cubicBezTo>
                  <a:cubicBezTo>
                    <a:pt x="4974031" y="2306979"/>
                    <a:pt x="4954981" y="2353969"/>
                    <a:pt x="4923231" y="2426359"/>
                  </a:cubicBezTo>
                  <a:cubicBezTo>
                    <a:pt x="4863541" y="2563519"/>
                    <a:pt x="4700981" y="2875939"/>
                    <a:pt x="4638751" y="3018179"/>
                  </a:cubicBezTo>
                  <a:cubicBezTo>
                    <a:pt x="4604461" y="3096919"/>
                    <a:pt x="4585411" y="3140099"/>
                    <a:pt x="4565091" y="3203599"/>
                  </a:cubicBezTo>
                  <a:cubicBezTo>
                    <a:pt x="4544771" y="3267099"/>
                    <a:pt x="4539691" y="3336949"/>
                    <a:pt x="4514291" y="3399179"/>
                  </a:cubicBezTo>
                  <a:cubicBezTo>
                    <a:pt x="4490161" y="3463949"/>
                    <a:pt x="4458411" y="3514749"/>
                    <a:pt x="4417771" y="3584599"/>
                  </a:cubicBezTo>
                  <a:cubicBezTo>
                    <a:pt x="4360621" y="3679849"/>
                    <a:pt x="4264101" y="3836059"/>
                    <a:pt x="4195521" y="3916069"/>
                  </a:cubicBezTo>
                  <a:cubicBezTo>
                    <a:pt x="4149801" y="3968139"/>
                    <a:pt x="4111701" y="3996079"/>
                    <a:pt x="4064711" y="4031639"/>
                  </a:cubicBezTo>
                  <a:cubicBezTo>
                    <a:pt x="4017721" y="4069739"/>
                    <a:pt x="3978351" y="4101489"/>
                    <a:pt x="3911041" y="4138319"/>
                  </a:cubicBezTo>
                  <a:cubicBezTo>
                    <a:pt x="3804361" y="4195469"/>
                    <a:pt x="3613861" y="4272939"/>
                    <a:pt x="3471621" y="4317389"/>
                  </a:cubicBezTo>
                  <a:cubicBezTo>
                    <a:pt x="3345891" y="4356759"/>
                    <a:pt x="3223971" y="4385969"/>
                    <a:pt x="3102051" y="4398669"/>
                  </a:cubicBezTo>
                  <a:cubicBezTo>
                    <a:pt x="2987751" y="4411369"/>
                    <a:pt x="2910281" y="4401209"/>
                    <a:pt x="2764231" y="4398669"/>
                  </a:cubicBezTo>
                  <a:cubicBezTo>
                    <a:pt x="2494991" y="4394859"/>
                    <a:pt x="1934921" y="4398669"/>
                    <a:pt x="1622501" y="4366919"/>
                  </a:cubicBezTo>
                  <a:cubicBezTo>
                    <a:pt x="1402791" y="4345329"/>
                    <a:pt x="1227531" y="4305959"/>
                    <a:pt x="1064971" y="4272939"/>
                  </a:cubicBezTo>
                  <a:cubicBezTo>
                    <a:pt x="935431" y="4247539"/>
                    <a:pt x="817321" y="4219599"/>
                    <a:pt x="719531" y="4192929"/>
                  </a:cubicBezTo>
                  <a:cubicBezTo>
                    <a:pt x="644601" y="4171339"/>
                    <a:pt x="591261" y="4154829"/>
                    <a:pt x="526491" y="4128159"/>
                  </a:cubicBezTo>
                  <a:cubicBezTo>
                    <a:pt x="455371" y="4098949"/>
                    <a:pt x="371551" y="4060849"/>
                    <a:pt x="309321" y="4018939"/>
                  </a:cubicBezTo>
                  <a:cubicBezTo>
                    <a:pt x="254711" y="3980839"/>
                    <a:pt x="208991" y="3938929"/>
                    <a:pt x="169621" y="3890669"/>
                  </a:cubicBezTo>
                  <a:cubicBezTo>
                    <a:pt x="131521" y="3843679"/>
                    <a:pt x="103581" y="3789069"/>
                    <a:pt x="76911" y="3730649"/>
                  </a:cubicBezTo>
                  <a:cubicBezTo>
                    <a:pt x="48971" y="3667149"/>
                    <a:pt x="21031" y="3599839"/>
                    <a:pt x="8331" y="3521099"/>
                  </a:cubicBezTo>
                  <a:cubicBezTo>
                    <a:pt x="-6909" y="3423309"/>
                    <a:pt x="1981" y="3324249"/>
                    <a:pt x="9601" y="3189629"/>
                  </a:cubicBezTo>
                  <a:cubicBezTo>
                    <a:pt x="21031" y="2973729"/>
                    <a:pt x="80721" y="2591459"/>
                    <a:pt x="95961" y="2356509"/>
                  </a:cubicBezTo>
                  <a:cubicBezTo>
                    <a:pt x="107391" y="2185059"/>
                    <a:pt x="101041" y="2074569"/>
                    <a:pt x="109931" y="1909469"/>
                  </a:cubicBezTo>
                  <a:cubicBezTo>
                    <a:pt x="120091" y="1703729"/>
                    <a:pt x="144221" y="1368449"/>
                    <a:pt x="160731" y="1217319"/>
                  </a:cubicBezTo>
                  <a:cubicBezTo>
                    <a:pt x="168351" y="1142389"/>
                    <a:pt x="172161" y="1113179"/>
                    <a:pt x="184861" y="1052219"/>
                  </a:cubicBezTo>
                  <a:cubicBezTo>
                    <a:pt x="200101" y="970939"/>
                    <a:pt x="231851" y="857909"/>
                    <a:pt x="257251" y="775359"/>
                  </a:cubicBezTo>
                  <a:cubicBezTo>
                    <a:pt x="278841" y="709319"/>
                    <a:pt x="294081" y="658519"/>
                    <a:pt x="325831" y="595019"/>
                  </a:cubicBezTo>
                  <a:cubicBezTo>
                    <a:pt x="363931" y="517549"/>
                    <a:pt x="436321" y="408329"/>
                    <a:pt x="480771" y="347369"/>
                  </a:cubicBezTo>
                  <a:cubicBezTo>
                    <a:pt x="507441" y="309269"/>
                    <a:pt x="520141" y="290219"/>
                    <a:pt x="553161" y="259739"/>
                  </a:cubicBezTo>
                  <a:cubicBezTo>
                    <a:pt x="606501" y="211479"/>
                    <a:pt x="704291" y="140359"/>
                    <a:pt x="781761" y="102259"/>
                  </a:cubicBezTo>
                  <a:cubicBezTo>
                    <a:pt x="851611" y="69239"/>
                    <a:pt x="937971" y="45109"/>
                    <a:pt x="993851" y="38759"/>
                  </a:cubicBezTo>
                  <a:cubicBezTo>
                    <a:pt x="1029411" y="33679"/>
                    <a:pt x="1053541" y="45109"/>
                    <a:pt x="1081481" y="40029"/>
                  </a:cubicBezTo>
                  <a:cubicBezTo>
                    <a:pt x="1109421" y="36219"/>
                    <a:pt x="1128471" y="18439"/>
                    <a:pt x="1158951" y="13359"/>
                  </a:cubicBezTo>
                  <a:cubicBezTo>
                    <a:pt x="1202131" y="7009"/>
                    <a:pt x="1284681" y="5739"/>
                    <a:pt x="1321511" y="17169"/>
                  </a:cubicBezTo>
                  <a:cubicBezTo>
                    <a:pt x="1341831" y="24789"/>
                    <a:pt x="1357071" y="34949"/>
                    <a:pt x="1365961" y="48919"/>
                  </a:cubicBezTo>
                  <a:cubicBezTo>
                    <a:pt x="1376121" y="62889"/>
                    <a:pt x="1382471" y="85749"/>
                    <a:pt x="1379931" y="103529"/>
                  </a:cubicBezTo>
                  <a:cubicBezTo>
                    <a:pt x="1377391" y="120039"/>
                    <a:pt x="1367231" y="140359"/>
                    <a:pt x="1354531" y="151789"/>
                  </a:cubicBezTo>
                  <a:cubicBezTo>
                    <a:pt x="1340561" y="163219"/>
                    <a:pt x="1302461" y="172109"/>
                    <a:pt x="1302461" y="172109"/>
                  </a:cubicBezTo>
                </a:path>
              </a:pathLst>
            </a:custGeom>
            <a:solidFill>
              <a:srgbClr val="7ED957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33" id="33"/>
          <p:cNvSpPr/>
          <p:nvPr/>
        </p:nvSpPr>
        <p:spPr>
          <a:xfrm flipH="false" flipV="true" rot="-8368137">
            <a:off x="12267599" y="4837528"/>
            <a:ext cx="1039234" cy="271500"/>
          </a:xfrm>
          <a:custGeom>
            <a:avLst/>
            <a:gdLst/>
            <a:ahLst/>
            <a:cxnLst/>
            <a:rect r="r" b="b" t="t" l="l"/>
            <a:pathLst>
              <a:path h="271500" w="1039234">
                <a:moveTo>
                  <a:pt x="0" y="271500"/>
                </a:moveTo>
                <a:lnTo>
                  <a:pt x="1039234" y="271500"/>
                </a:lnTo>
                <a:lnTo>
                  <a:pt x="1039234" y="0"/>
                </a:lnTo>
                <a:lnTo>
                  <a:pt x="0" y="0"/>
                </a:lnTo>
                <a:lnTo>
                  <a:pt x="0" y="2715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934949" y="4144612"/>
            <a:ext cx="4208106" cy="28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b="true" sz="1687">
                <a:solidFill>
                  <a:srgbClr val="7ED9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NEL VICINATO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5962863" y="3814798"/>
            <a:ext cx="848057" cy="651639"/>
            <a:chOff x="0" y="0"/>
            <a:chExt cx="1277620" cy="9817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0445" y="49186"/>
              <a:ext cx="1180637" cy="884204"/>
            </a:xfrm>
            <a:custGeom>
              <a:avLst/>
              <a:gdLst/>
              <a:ahLst/>
              <a:cxnLst/>
              <a:rect r="r" b="b" t="t" l="l"/>
              <a:pathLst>
                <a:path h="884204" w="1180637">
                  <a:moveTo>
                    <a:pt x="649325" y="145124"/>
                  </a:moveTo>
                  <a:cubicBezTo>
                    <a:pt x="254355" y="157824"/>
                    <a:pt x="237845" y="173064"/>
                    <a:pt x="217525" y="190844"/>
                  </a:cubicBezTo>
                  <a:cubicBezTo>
                    <a:pt x="197205" y="208624"/>
                    <a:pt x="183235" y="231484"/>
                    <a:pt x="169265" y="255614"/>
                  </a:cubicBezTo>
                  <a:cubicBezTo>
                    <a:pt x="155295" y="279744"/>
                    <a:pt x="143865" y="302604"/>
                    <a:pt x="137515" y="334354"/>
                  </a:cubicBezTo>
                  <a:cubicBezTo>
                    <a:pt x="127355" y="377534"/>
                    <a:pt x="129895" y="447384"/>
                    <a:pt x="131165" y="489294"/>
                  </a:cubicBezTo>
                  <a:cubicBezTo>
                    <a:pt x="131165" y="519774"/>
                    <a:pt x="124815" y="540094"/>
                    <a:pt x="137515" y="565494"/>
                  </a:cubicBezTo>
                  <a:cubicBezTo>
                    <a:pt x="156565" y="602324"/>
                    <a:pt x="222605" y="645504"/>
                    <a:pt x="261975" y="670904"/>
                  </a:cubicBezTo>
                  <a:cubicBezTo>
                    <a:pt x="292455" y="691224"/>
                    <a:pt x="311505" y="703924"/>
                    <a:pt x="348335" y="716624"/>
                  </a:cubicBezTo>
                  <a:cubicBezTo>
                    <a:pt x="404215" y="734404"/>
                    <a:pt x="502005" y="745834"/>
                    <a:pt x="573125" y="750914"/>
                  </a:cubicBezTo>
                  <a:cubicBezTo>
                    <a:pt x="636625" y="755994"/>
                    <a:pt x="700125" y="755994"/>
                    <a:pt x="754735" y="752184"/>
                  </a:cubicBezTo>
                  <a:cubicBezTo>
                    <a:pt x="799185" y="748374"/>
                    <a:pt x="842365" y="747104"/>
                    <a:pt x="875385" y="733134"/>
                  </a:cubicBezTo>
                  <a:cubicBezTo>
                    <a:pt x="902055" y="721704"/>
                    <a:pt x="922375" y="702654"/>
                    <a:pt x="941425" y="681064"/>
                  </a:cubicBezTo>
                  <a:cubicBezTo>
                    <a:pt x="963015" y="659474"/>
                    <a:pt x="987145" y="632804"/>
                    <a:pt x="996035" y="606134"/>
                  </a:cubicBezTo>
                  <a:cubicBezTo>
                    <a:pt x="1004925" y="583274"/>
                    <a:pt x="997305" y="560414"/>
                    <a:pt x="1002385" y="533744"/>
                  </a:cubicBezTo>
                  <a:cubicBezTo>
                    <a:pt x="1008735" y="498184"/>
                    <a:pt x="1036675" y="453734"/>
                    <a:pt x="1043025" y="413094"/>
                  </a:cubicBezTo>
                  <a:cubicBezTo>
                    <a:pt x="1048105" y="373724"/>
                    <a:pt x="1046835" y="324194"/>
                    <a:pt x="1035405" y="292444"/>
                  </a:cubicBezTo>
                  <a:cubicBezTo>
                    <a:pt x="1027785" y="268314"/>
                    <a:pt x="1012545" y="251804"/>
                    <a:pt x="996035" y="234024"/>
                  </a:cubicBezTo>
                  <a:cubicBezTo>
                    <a:pt x="978255" y="217514"/>
                    <a:pt x="957935" y="206084"/>
                    <a:pt x="932535" y="192114"/>
                  </a:cubicBezTo>
                  <a:cubicBezTo>
                    <a:pt x="895705" y="173064"/>
                    <a:pt x="833475" y="143854"/>
                    <a:pt x="795375" y="137504"/>
                  </a:cubicBezTo>
                  <a:cubicBezTo>
                    <a:pt x="768705" y="133694"/>
                    <a:pt x="747115" y="145124"/>
                    <a:pt x="726795" y="141314"/>
                  </a:cubicBezTo>
                  <a:cubicBezTo>
                    <a:pt x="706475" y="137504"/>
                    <a:pt x="686155" y="129884"/>
                    <a:pt x="672185" y="118454"/>
                  </a:cubicBezTo>
                  <a:cubicBezTo>
                    <a:pt x="660755" y="109564"/>
                    <a:pt x="651865" y="96864"/>
                    <a:pt x="648055" y="82894"/>
                  </a:cubicBezTo>
                  <a:cubicBezTo>
                    <a:pt x="644245" y="70194"/>
                    <a:pt x="645515" y="53684"/>
                    <a:pt x="650595" y="40984"/>
                  </a:cubicBezTo>
                  <a:cubicBezTo>
                    <a:pt x="654405" y="28284"/>
                    <a:pt x="664565" y="14314"/>
                    <a:pt x="677265" y="7964"/>
                  </a:cubicBezTo>
                  <a:cubicBezTo>
                    <a:pt x="692505" y="344"/>
                    <a:pt x="722985" y="-3466"/>
                    <a:pt x="739495" y="4154"/>
                  </a:cubicBezTo>
                  <a:cubicBezTo>
                    <a:pt x="756005" y="11774"/>
                    <a:pt x="773785" y="37174"/>
                    <a:pt x="777595" y="53684"/>
                  </a:cubicBezTo>
                  <a:cubicBezTo>
                    <a:pt x="781405" y="67654"/>
                    <a:pt x="777595" y="84164"/>
                    <a:pt x="771245" y="95594"/>
                  </a:cubicBezTo>
                  <a:cubicBezTo>
                    <a:pt x="764895" y="107024"/>
                    <a:pt x="754735" y="119724"/>
                    <a:pt x="740765" y="124804"/>
                  </a:cubicBezTo>
                  <a:cubicBezTo>
                    <a:pt x="724255" y="131154"/>
                    <a:pt x="693775" y="129884"/>
                    <a:pt x="678535" y="122264"/>
                  </a:cubicBezTo>
                  <a:cubicBezTo>
                    <a:pt x="665835" y="115914"/>
                    <a:pt x="655675" y="103214"/>
                    <a:pt x="650595" y="90514"/>
                  </a:cubicBezTo>
                  <a:cubicBezTo>
                    <a:pt x="645515" y="77814"/>
                    <a:pt x="644245" y="61304"/>
                    <a:pt x="648055" y="47334"/>
                  </a:cubicBezTo>
                  <a:cubicBezTo>
                    <a:pt x="651865" y="34634"/>
                    <a:pt x="659485" y="20664"/>
                    <a:pt x="670915" y="11774"/>
                  </a:cubicBezTo>
                  <a:cubicBezTo>
                    <a:pt x="686155" y="2884"/>
                    <a:pt x="705205" y="344"/>
                    <a:pt x="733145" y="1614"/>
                  </a:cubicBezTo>
                  <a:cubicBezTo>
                    <a:pt x="787755" y="4154"/>
                    <a:pt x="926185" y="46064"/>
                    <a:pt x="979525" y="71464"/>
                  </a:cubicBezTo>
                  <a:cubicBezTo>
                    <a:pt x="1008735" y="85434"/>
                    <a:pt x="1021435" y="96864"/>
                    <a:pt x="1041755" y="113374"/>
                  </a:cubicBezTo>
                  <a:cubicBezTo>
                    <a:pt x="1065885" y="133694"/>
                    <a:pt x="1090015" y="155284"/>
                    <a:pt x="1110335" y="185764"/>
                  </a:cubicBezTo>
                  <a:cubicBezTo>
                    <a:pt x="1135735" y="223864"/>
                    <a:pt x="1164945" y="282284"/>
                    <a:pt x="1175105" y="330544"/>
                  </a:cubicBezTo>
                  <a:cubicBezTo>
                    <a:pt x="1183995" y="374994"/>
                    <a:pt x="1181455" y="428334"/>
                    <a:pt x="1172565" y="463894"/>
                  </a:cubicBezTo>
                  <a:cubicBezTo>
                    <a:pt x="1166215" y="489294"/>
                    <a:pt x="1149705" y="499454"/>
                    <a:pt x="1139545" y="524854"/>
                  </a:cubicBezTo>
                  <a:cubicBezTo>
                    <a:pt x="1125575" y="561684"/>
                    <a:pt x="1124305" y="618834"/>
                    <a:pt x="1103985" y="662014"/>
                  </a:cubicBezTo>
                  <a:cubicBezTo>
                    <a:pt x="1082395" y="710274"/>
                    <a:pt x="1043025" y="768694"/>
                    <a:pt x="1011275" y="799174"/>
                  </a:cubicBezTo>
                  <a:cubicBezTo>
                    <a:pt x="987145" y="820764"/>
                    <a:pt x="966825" y="827114"/>
                    <a:pt x="937615" y="839814"/>
                  </a:cubicBezTo>
                  <a:cubicBezTo>
                    <a:pt x="903325" y="856324"/>
                    <a:pt x="858875" y="874104"/>
                    <a:pt x="814425" y="880454"/>
                  </a:cubicBezTo>
                  <a:cubicBezTo>
                    <a:pt x="768705" y="888074"/>
                    <a:pt x="716635" y="881724"/>
                    <a:pt x="667105" y="881724"/>
                  </a:cubicBezTo>
                  <a:cubicBezTo>
                    <a:pt x="618845" y="881724"/>
                    <a:pt x="570585" y="884264"/>
                    <a:pt x="522325" y="879184"/>
                  </a:cubicBezTo>
                  <a:cubicBezTo>
                    <a:pt x="470255" y="875374"/>
                    <a:pt x="415645" y="867754"/>
                    <a:pt x="367385" y="855054"/>
                  </a:cubicBezTo>
                  <a:cubicBezTo>
                    <a:pt x="320395" y="843624"/>
                    <a:pt x="269595" y="825844"/>
                    <a:pt x="234035" y="809334"/>
                  </a:cubicBezTo>
                  <a:cubicBezTo>
                    <a:pt x="208635" y="796634"/>
                    <a:pt x="195935" y="786474"/>
                    <a:pt x="173075" y="767424"/>
                  </a:cubicBezTo>
                  <a:cubicBezTo>
                    <a:pt x="138785" y="739484"/>
                    <a:pt x="82905" y="681064"/>
                    <a:pt x="56235" y="650584"/>
                  </a:cubicBezTo>
                  <a:cubicBezTo>
                    <a:pt x="39725" y="631534"/>
                    <a:pt x="29565" y="622644"/>
                    <a:pt x="20675" y="603594"/>
                  </a:cubicBezTo>
                  <a:cubicBezTo>
                    <a:pt x="7975" y="578194"/>
                    <a:pt x="1625" y="546444"/>
                    <a:pt x="355" y="508344"/>
                  </a:cubicBezTo>
                  <a:cubicBezTo>
                    <a:pt x="-2185" y="455004"/>
                    <a:pt x="9245" y="373724"/>
                    <a:pt x="23215" y="315304"/>
                  </a:cubicBezTo>
                  <a:cubicBezTo>
                    <a:pt x="35915" y="263234"/>
                    <a:pt x="51155" y="213704"/>
                    <a:pt x="75285" y="171794"/>
                  </a:cubicBezTo>
                  <a:cubicBezTo>
                    <a:pt x="95605" y="133694"/>
                    <a:pt x="129895" y="98134"/>
                    <a:pt x="154025" y="74004"/>
                  </a:cubicBezTo>
                  <a:cubicBezTo>
                    <a:pt x="171805" y="56224"/>
                    <a:pt x="178155" y="43524"/>
                    <a:pt x="206095" y="33364"/>
                  </a:cubicBezTo>
                  <a:cubicBezTo>
                    <a:pt x="281025" y="6694"/>
                    <a:pt x="599795" y="9234"/>
                    <a:pt x="663295" y="28284"/>
                  </a:cubicBezTo>
                  <a:cubicBezTo>
                    <a:pt x="683615" y="34634"/>
                    <a:pt x="691235" y="42254"/>
                    <a:pt x="697585" y="52414"/>
                  </a:cubicBezTo>
                  <a:cubicBezTo>
                    <a:pt x="705205" y="62574"/>
                    <a:pt x="710285" y="80354"/>
                    <a:pt x="707745" y="93054"/>
                  </a:cubicBezTo>
                  <a:cubicBezTo>
                    <a:pt x="706475" y="105754"/>
                    <a:pt x="698855" y="120994"/>
                    <a:pt x="688695" y="129884"/>
                  </a:cubicBezTo>
                  <a:cubicBezTo>
                    <a:pt x="678535" y="138774"/>
                    <a:pt x="649325" y="145124"/>
                    <a:pt x="649325" y="14512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37" id="37"/>
          <p:cNvSpPr/>
          <p:nvPr/>
        </p:nvSpPr>
        <p:spPr>
          <a:xfrm flipH="false" flipV="false" rot="-8368137">
            <a:off x="15092070" y="3405240"/>
            <a:ext cx="1039234" cy="271500"/>
          </a:xfrm>
          <a:custGeom>
            <a:avLst/>
            <a:gdLst/>
            <a:ahLst/>
            <a:cxnLst/>
            <a:rect r="r" b="b" t="t" l="l"/>
            <a:pathLst>
              <a:path h="271500" w="1039234">
                <a:moveTo>
                  <a:pt x="0" y="0"/>
                </a:moveTo>
                <a:lnTo>
                  <a:pt x="1039233" y="0"/>
                </a:lnTo>
                <a:lnTo>
                  <a:pt x="1039233" y="271500"/>
                </a:lnTo>
                <a:lnTo>
                  <a:pt x="0" y="2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132007" y="2797942"/>
            <a:ext cx="4208106" cy="57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1687" b="true">
                <a:solidFill>
                  <a:srgbClr val="E719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NON</a:t>
            </a:r>
          </a:p>
          <a:p>
            <a:pPr algn="ctr">
              <a:lnSpc>
                <a:spcPts val="2362"/>
              </a:lnSpc>
            </a:pPr>
            <a:r>
              <a:rPr lang="en-US" sz="1687" b="true">
                <a:solidFill>
                  <a:srgbClr val="E719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NEL VICINATO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7430" y="3335651"/>
            <a:ext cx="5959709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160"/>
              </a:lnSpc>
              <a:spcBef>
                <a:spcPct val="0"/>
              </a:spcBef>
            </a:pPr>
            <a:r>
              <a:rPr lang="en-US" b="true" sz="3200" spc="6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Qualche concetto chiave...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08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52869" y="970915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086161" y="4244190"/>
            <a:ext cx="970066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2962FF"/>
                </a:solidFill>
                <a:latin typeface="Raleway Bold"/>
                <a:ea typeface="Raleway Bold"/>
                <a:cs typeface="Raleway Bold"/>
                <a:sym typeface="Raleway Bold"/>
              </a:rPr>
              <a:t>EPSILON (ε) e MINPTS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86161" y="4935705"/>
            <a:ext cx="9700661" cy="1790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Epsilon (ε)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è la massima distanza entro la quale si considerano i punti “vicini” rispetto a un punto dato p. In pratica, intorno a ogni punto si traccia un cerchio di raggio ε: tutti i punti che cadono dentro quel cerchio vengono considerati nel suo vicinato.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057430" y="6697728"/>
            <a:ext cx="9729391" cy="213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MinPts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è il numero minimo di punti che devono trovarsi all’interno del cerchio di raggio ε affinché il punto p sia considerato un core point.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Ad esempio, se scegliamo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MinPts = 5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allora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 potrà essere considerato un core point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2046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29" y="0"/>
                </a:lnTo>
                <a:lnTo>
                  <a:pt x="1127029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52869" y="970915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71550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38B6FF"/>
                </a:solidFill>
                <a:latin typeface="Raleway Bold"/>
                <a:ea typeface="Raleway Bold"/>
                <a:cs typeface="Raleway Bold"/>
                <a:sym typeface="Raleway Bold"/>
              </a:rPr>
              <a:t>CORE POINTS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428078"/>
            <a:ext cx="7547286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  <a:spcBef>
                <a:spcPct val="0"/>
              </a:spcBef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core points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sono considerabili la base su cui si costruiscono i cluster. Hanno un numero sufficiente di punti vicini (almeno MinPts in uno specifico raggio), che formano una regione densa. Sono fondamentali per definire dove un cluster ha inizio e come si estende.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777506"/>
            <a:ext cx="7547286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border points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si trovano ai margini di un cluster, delineandone il bordo: non hanno punti abbastanza vicini per essere considerabili core points, ma rientrano nel "vicinato" di uno o più core points. Si trovano abbastanza vicini da essere parte di un cluster, ma non abbastanza per essere core points.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279571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62DDA7"/>
                </a:solidFill>
                <a:latin typeface="Raleway Bold"/>
                <a:ea typeface="Raleway Bold"/>
                <a:cs typeface="Raleway Bold"/>
                <a:sym typeface="Raleway Bold"/>
              </a:rPr>
              <a:t>BORDER POINTS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752053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7ED957"/>
                </a:solidFill>
                <a:latin typeface="Raleway Bold"/>
                <a:ea typeface="Raleway Bold"/>
                <a:cs typeface="Raleway Bold"/>
                <a:sym typeface="Raleway Bold"/>
              </a:rPr>
              <a:t>NOISE POINTS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281366"/>
            <a:ext cx="7547286" cy="244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noise points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stanno fuori dai cluster in quanto non hanno abbastanza vicini per essere definiti core points, e non rientrano nel "vicinato" di nessuno di essi. Per questo sono considerati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outlier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/anomalie e spesso corrispondono a dati irregolari o molto dispersi che non si inseriscono in nessun cluster. Riconoscerli è importante filtrare le informazioni irrilevanti o inaccurate e a migliorare la qualità dei cluster.</a:t>
            </a:r>
          </a:p>
          <a:p>
            <a:pPr algn="just">
              <a:lnSpc>
                <a:spcPts val="2405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9451658" y="1927374"/>
            <a:ext cx="7807643" cy="5651182"/>
            <a:chOff x="0" y="0"/>
            <a:chExt cx="10410190" cy="75349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58673" y="524421"/>
              <a:ext cx="9641738" cy="6416138"/>
            </a:xfrm>
            <a:custGeom>
              <a:avLst/>
              <a:gdLst/>
              <a:ahLst/>
              <a:cxnLst/>
              <a:rect r="r" b="b" t="t" l="l"/>
              <a:pathLst>
                <a:path h="6416138" w="9641738">
                  <a:moveTo>
                    <a:pt x="0" y="0"/>
                  </a:moveTo>
                  <a:lnTo>
                    <a:pt x="9641738" y="0"/>
                  </a:lnTo>
                  <a:lnTo>
                    <a:pt x="9641738" y="6416138"/>
                  </a:lnTo>
                  <a:lnTo>
                    <a:pt x="0" y="6416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0" y="0"/>
              <a:ext cx="10410190" cy="7534910"/>
              <a:chOff x="0" y="0"/>
              <a:chExt cx="10410190" cy="75349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50800" y="45997"/>
                <a:ext cx="10308188" cy="7438113"/>
              </a:xfrm>
              <a:custGeom>
                <a:avLst/>
                <a:gdLst/>
                <a:ahLst/>
                <a:cxnLst/>
                <a:rect r="r" b="b" t="t" l="l"/>
                <a:pathLst>
                  <a:path h="7438113" w="10308188">
                    <a:moveTo>
                      <a:pt x="434340" y="5561053"/>
                    </a:moveTo>
                    <a:cubicBezTo>
                      <a:pt x="468630" y="5845533"/>
                      <a:pt x="467360" y="5996663"/>
                      <a:pt x="461010" y="6159223"/>
                    </a:cubicBezTo>
                    <a:cubicBezTo>
                      <a:pt x="452120" y="6378933"/>
                      <a:pt x="422910" y="6707863"/>
                      <a:pt x="401320" y="6931383"/>
                    </a:cubicBezTo>
                    <a:cubicBezTo>
                      <a:pt x="384810" y="7102833"/>
                      <a:pt x="375920" y="7318733"/>
                      <a:pt x="347980" y="7386043"/>
                    </a:cubicBezTo>
                    <a:cubicBezTo>
                      <a:pt x="337820" y="7410173"/>
                      <a:pt x="327660" y="7419063"/>
                      <a:pt x="314960" y="7427953"/>
                    </a:cubicBezTo>
                    <a:cubicBezTo>
                      <a:pt x="304800" y="7434303"/>
                      <a:pt x="293370" y="7436843"/>
                      <a:pt x="281940" y="7438113"/>
                    </a:cubicBezTo>
                    <a:cubicBezTo>
                      <a:pt x="270510" y="7438113"/>
                      <a:pt x="257810" y="7436843"/>
                      <a:pt x="247650" y="7430493"/>
                    </a:cubicBezTo>
                    <a:cubicBezTo>
                      <a:pt x="234950" y="7424143"/>
                      <a:pt x="220980" y="7411443"/>
                      <a:pt x="210820" y="7393663"/>
                    </a:cubicBezTo>
                    <a:cubicBezTo>
                      <a:pt x="195580" y="7365723"/>
                      <a:pt x="190500" y="7322543"/>
                      <a:pt x="182880" y="7267933"/>
                    </a:cubicBezTo>
                    <a:cubicBezTo>
                      <a:pt x="170180" y="7168873"/>
                      <a:pt x="166370" y="7025363"/>
                      <a:pt x="163830" y="6843753"/>
                    </a:cubicBezTo>
                    <a:cubicBezTo>
                      <a:pt x="157480" y="6512283"/>
                      <a:pt x="143510" y="5585183"/>
                      <a:pt x="176530" y="5441673"/>
                    </a:cubicBezTo>
                    <a:cubicBezTo>
                      <a:pt x="182880" y="5413733"/>
                      <a:pt x="187960" y="5406113"/>
                      <a:pt x="199390" y="5394683"/>
                    </a:cubicBezTo>
                    <a:cubicBezTo>
                      <a:pt x="210820" y="5384523"/>
                      <a:pt x="232410" y="5376903"/>
                      <a:pt x="247650" y="5374363"/>
                    </a:cubicBezTo>
                    <a:cubicBezTo>
                      <a:pt x="259080" y="5374363"/>
                      <a:pt x="270510" y="5375633"/>
                      <a:pt x="281940" y="5381983"/>
                    </a:cubicBezTo>
                    <a:cubicBezTo>
                      <a:pt x="294640" y="5389603"/>
                      <a:pt x="311150" y="5406113"/>
                      <a:pt x="317500" y="5420083"/>
                    </a:cubicBezTo>
                    <a:cubicBezTo>
                      <a:pt x="322580" y="5430243"/>
                      <a:pt x="325120" y="5453103"/>
                      <a:pt x="322580" y="5454373"/>
                    </a:cubicBezTo>
                    <a:cubicBezTo>
                      <a:pt x="318770" y="5455643"/>
                      <a:pt x="284480" y="5387063"/>
                      <a:pt x="285750" y="5387063"/>
                    </a:cubicBezTo>
                    <a:cubicBezTo>
                      <a:pt x="287020" y="5385793"/>
                      <a:pt x="334010" y="5442943"/>
                      <a:pt x="346710" y="5484853"/>
                    </a:cubicBezTo>
                    <a:cubicBezTo>
                      <a:pt x="364490" y="5543273"/>
                      <a:pt x="356870" y="5628363"/>
                      <a:pt x="353060" y="5717263"/>
                    </a:cubicBezTo>
                    <a:cubicBezTo>
                      <a:pt x="349250" y="5835373"/>
                      <a:pt x="331470" y="5995393"/>
                      <a:pt x="314960" y="6130013"/>
                    </a:cubicBezTo>
                    <a:cubicBezTo>
                      <a:pt x="298450" y="6259553"/>
                      <a:pt x="267970" y="6384013"/>
                      <a:pt x="254000" y="6508473"/>
                    </a:cubicBezTo>
                    <a:cubicBezTo>
                      <a:pt x="240030" y="6629123"/>
                      <a:pt x="250190" y="6805653"/>
                      <a:pt x="228600" y="6865343"/>
                    </a:cubicBezTo>
                    <a:cubicBezTo>
                      <a:pt x="219710" y="6886933"/>
                      <a:pt x="210820" y="6898363"/>
                      <a:pt x="198120" y="6907253"/>
                    </a:cubicBezTo>
                    <a:cubicBezTo>
                      <a:pt x="184150" y="6914873"/>
                      <a:pt x="162560" y="6919953"/>
                      <a:pt x="147320" y="6917413"/>
                    </a:cubicBezTo>
                    <a:cubicBezTo>
                      <a:pt x="130810" y="6914873"/>
                      <a:pt x="111760" y="6904713"/>
                      <a:pt x="101600" y="6892013"/>
                    </a:cubicBezTo>
                    <a:cubicBezTo>
                      <a:pt x="91440" y="6880583"/>
                      <a:pt x="88900" y="6866613"/>
                      <a:pt x="85090" y="6843753"/>
                    </a:cubicBezTo>
                    <a:cubicBezTo>
                      <a:pt x="76200" y="6796763"/>
                      <a:pt x="78740" y="6726913"/>
                      <a:pt x="82550" y="6626583"/>
                    </a:cubicBezTo>
                    <a:cubicBezTo>
                      <a:pt x="91440" y="6396713"/>
                      <a:pt x="165100" y="5842993"/>
                      <a:pt x="181610" y="5498823"/>
                    </a:cubicBezTo>
                    <a:cubicBezTo>
                      <a:pt x="195580" y="5209263"/>
                      <a:pt x="172720" y="4879063"/>
                      <a:pt x="187960" y="4698723"/>
                    </a:cubicBezTo>
                    <a:cubicBezTo>
                      <a:pt x="196850" y="4604743"/>
                      <a:pt x="231140" y="4489173"/>
                      <a:pt x="223520" y="4486633"/>
                    </a:cubicBezTo>
                    <a:cubicBezTo>
                      <a:pt x="220980" y="4485363"/>
                      <a:pt x="208280" y="4506953"/>
                      <a:pt x="208280" y="4505683"/>
                    </a:cubicBezTo>
                    <a:cubicBezTo>
                      <a:pt x="208280" y="4505683"/>
                      <a:pt x="224790" y="4475203"/>
                      <a:pt x="234950" y="4466313"/>
                    </a:cubicBezTo>
                    <a:cubicBezTo>
                      <a:pt x="243840" y="4458693"/>
                      <a:pt x="254000" y="4454883"/>
                      <a:pt x="265430" y="4454883"/>
                    </a:cubicBezTo>
                    <a:cubicBezTo>
                      <a:pt x="279400" y="4453613"/>
                      <a:pt x="299720" y="4457423"/>
                      <a:pt x="312420" y="4465043"/>
                    </a:cubicBezTo>
                    <a:cubicBezTo>
                      <a:pt x="323850" y="4473933"/>
                      <a:pt x="331470" y="4484093"/>
                      <a:pt x="340360" y="4504413"/>
                    </a:cubicBezTo>
                    <a:cubicBezTo>
                      <a:pt x="359410" y="4550133"/>
                      <a:pt x="372110" y="4658083"/>
                      <a:pt x="381000" y="4754603"/>
                    </a:cubicBezTo>
                    <a:cubicBezTo>
                      <a:pt x="392430" y="4886683"/>
                      <a:pt x="392430" y="5055593"/>
                      <a:pt x="384810" y="5221963"/>
                    </a:cubicBezTo>
                    <a:cubicBezTo>
                      <a:pt x="375920" y="5416273"/>
                      <a:pt x="342900" y="5757903"/>
                      <a:pt x="322580" y="5849343"/>
                    </a:cubicBezTo>
                    <a:cubicBezTo>
                      <a:pt x="317500" y="5876013"/>
                      <a:pt x="314960" y="5886173"/>
                      <a:pt x="306070" y="5900143"/>
                    </a:cubicBezTo>
                    <a:cubicBezTo>
                      <a:pt x="295910" y="5912843"/>
                      <a:pt x="281940" y="5928083"/>
                      <a:pt x="265430" y="5931893"/>
                    </a:cubicBezTo>
                    <a:cubicBezTo>
                      <a:pt x="247650" y="5935703"/>
                      <a:pt x="214630" y="5929353"/>
                      <a:pt x="199390" y="5920463"/>
                    </a:cubicBezTo>
                    <a:cubicBezTo>
                      <a:pt x="189230" y="5914113"/>
                      <a:pt x="185420" y="5906493"/>
                      <a:pt x="179070" y="5892523"/>
                    </a:cubicBezTo>
                    <a:cubicBezTo>
                      <a:pt x="162560" y="5862043"/>
                      <a:pt x="140970" y="5797273"/>
                      <a:pt x="128270" y="5728693"/>
                    </a:cubicBezTo>
                    <a:cubicBezTo>
                      <a:pt x="109220" y="5624553"/>
                      <a:pt x="107950" y="5469613"/>
                      <a:pt x="104140" y="5318483"/>
                    </a:cubicBezTo>
                    <a:cubicBezTo>
                      <a:pt x="99060" y="5133063"/>
                      <a:pt x="110490" y="4924783"/>
                      <a:pt x="109220" y="4699993"/>
                    </a:cubicBezTo>
                    <a:cubicBezTo>
                      <a:pt x="107950" y="4428213"/>
                      <a:pt x="68580" y="3892273"/>
                      <a:pt x="90170" y="3800833"/>
                    </a:cubicBezTo>
                    <a:cubicBezTo>
                      <a:pt x="93980" y="3783053"/>
                      <a:pt x="96520" y="3779243"/>
                      <a:pt x="105410" y="3771623"/>
                    </a:cubicBezTo>
                    <a:cubicBezTo>
                      <a:pt x="115570" y="3761463"/>
                      <a:pt x="133350" y="3750033"/>
                      <a:pt x="148590" y="3748763"/>
                    </a:cubicBezTo>
                    <a:cubicBezTo>
                      <a:pt x="165100" y="3746223"/>
                      <a:pt x="184150" y="3751303"/>
                      <a:pt x="196850" y="3760193"/>
                    </a:cubicBezTo>
                    <a:cubicBezTo>
                      <a:pt x="209550" y="3769083"/>
                      <a:pt x="217170" y="3776703"/>
                      <a:pt x="226060" y="3800833"/>
                    </a:cubicBezTo>
                    <a:cubicBezTo>
                      <a:pt x="262890" y="3915133"/>
                      <a:pt x="288290" y="4719043"/>
                      <a:pt x="256540" y="4852393"/>
                    </a:cubicBezTo>
                    <a:cubicBezTo>
                      <a:pt x="248920" y="4885413"/>
                      <a:pt x="240030" y="4900653"/>
                      <a:pt x="226060" y="4912083"/>
                    </a:cubicBezTo>
                    <a:cubicBezTo>
                      <a:pt x="212090" y="4922243"/>
                      <a:pt x="190500" y="4924783"/>
                      <a:pt x="175260" y="4924783"/>
                    </a:cubicBezTo>
                    <a:cubicBezTo>
                      <a:pt x="163830" y="4923513"/>
                      <a:pt x="152400" y="4919703"/>
                      <a:pt x="143510" y="4912083"/>
                    </a:cubicBezTo>
                    <a:cubicBezTo>
                      <a:pt x="130810" y="4903193"/>
                      <a:pt x="120650" y="4889223"/>
                      <a:pt x="114300" y="4870173"/>
                    </a:cubicBezTo>
                    <a:cubicBezTo>
                      <a:pt x="101600" y="4837153"/>
                      <a:pt x="104140" y="4799053"/>
                      <a:pt x="102870" y="4725393"/>
                    </a:cubicBezTo>
                    <a:cubicBezTo>
                      <a:pt x="96520" y="4475203"/>
                      <a:pt x="93980" y="3273783"/>
                      <a:pt x="144780" y="3092173"/>
                    </a:cubicBezTo>
                    <a:cubicBezTo>
                      <a:pt x="154940" y="3052803"/>
                      <a:pt x="163830" y="3036293"/>
                      <a:pt x="181610" y="3024863"/>
                    </a:cubicBezTo>
                    <a:cubicBezTo>
                      <a:pt x="198120" y="3014703"/>
                      <a:pt x="227330" y="3014703"/>
                      <a:pt x="243840" y="3019783"/>
                    </a:cubicBezTo>
                    <a:cubicBezTo>
                      <a:pt x="259080" y="3024863"/>
                      <a:pt x="267970" y="3036293"/>
                      <a:pt x="278130" y="3052803"/>
                    </a:cubicBezTo>
                    <a:cubicBezTo>
                      <a:pt x="295910" y="3080743"/>
                      <a:pt x="308610" y="3130273"/>
                      <a:pt x="321310" y="3181073"/>
                    </a:cubicBezTo>
                    <a:cubicBezTo>
                      <a:pt x="337820" y="3250923"/>
                      <a:pt x="351790" y="3325853"/>
                      <a:pt x="364490" y="3431263"/>
                    </a:cubicBezTo>
                    <a:cubicBezTo>
                      <a:pt x="384810" y="3610333"/>
                      <a:pt x="419100" y="4061183"/>
                      <a:pt x="403860" y="4160243"/>
                    </a:cubicBezTo>
                    <a:cubicBezTo>
                      <a:pt x="400050" y="4188183"/>
                      <a:pt x="397510" y="4198343"/>
                      <a:pt x="386080" y="4209773"/>
                    </a:cubicBezTo>
                    <a:cubicBezTo>
                      <a:pt x="375920" y="4222473"/>
                      <a:pt x="356870" y="4232633"/>
                      <a:pt x="340360" y="4235173"/>
                    </a:cubicBezTo>
                    <a:cubicBezTo>
                      <a:pt x="323850" y="4237713"/>
                      <a:pt x="302260" y="4232633"/>
                      <a:pt x="289560" y="4223743"/>
                    </a:cubicBezTo>
                    <a:cubicBezTo>
                      <a:pt x="275590" y="4214853"/>
                      <a:pt x="267970" y="4203423"/>
                      <a:pt x="259080" y="4180563"/>
                    </a:cubicBezTo>
                    <a:cubicBezTo>
                      <a:pt x="233680" y="4119603"/>
                      <a:pt x="212090" y="3943073"/>
                      <a:pt x="198120" y="3816073"/>
                    </a:cubicBezTo>
                    <a:cubicBezTo>
                      <a:pt x="182880" y="3678913"/>
                      <a:pt x="163830" y="3447773"/>
                      <a:pt x="176530" y="3385543"/>
                    </a:cubicBezTo>
                    <a:cubicBezTo>
                      <a:pt x="179070" y="3366493"/>
                      <a:pt x="182880" y="3361413"/>
                      <a:pt x="190500" y="3351253"/>
                    </a:cubicBezTo>
                    <a:cubicBezTo>
                      <a:pt x="201930" y="3339823"/>
                      <a:pt x="220980" y="3325853"/>
                      <a:pt x="237490" y="3323313"/>
                    </a:cubicBezTo>
                    <a:cubicBezTo>
                      <a:pt x="254000" y="3319503"/>
                      <a:pt x="276860" y="3323313"/>
                      <a:pt x="292100" y="3332203"/>
                    </a:cubicBezTo>
                    <a:cubicBezTo>
                      <a:pt x="306070" y="3341093"/>
                      <a:pt x="314960" y="3351253"/>
                      <a:pt x="325120" y="3375383"/>
                    </a:cubicBezTo>
                    <a:cubicBezTo>
                      <a:pt x="354330" y="3446503"/>
                      <a:pt x="364490" y="3650973"/>
                      <a:pt x="374650" y="3840203"/>
                    </a:cubicBezTo>
                    <a:cubicBezTo>
                      <a:pt x="392430" y="4131033"/>
                      <a:pt x="419100" y="4819373"/>
                      <a:pt x="387350" y="4955263"/>
                    </a:cubicBezTo>
                    <a:cubicBezTo>
                      <a:pt x="378460" y="4988283"/>
                      <a:pt x="370840" y="5000983"/>
                      <a:pt x="356870" y="5012413"/>
                    </a:cubicBezTo>
                    <a:cubicBezTo>
                      <a:pt x="344170" y="5022573"/>
                      <a:pt x="323850" y="5026383"/>
                      <a:pt x="308610" y="5023843"/>
                    </a:cubicBezTo>
                    <a:cubicBezTo>
                      <a:pt x="293370" y="5022573"/>
                      <a:pt x="275590" y="5012413"/>
                      <a:pt x="265430" y="5000983"/>
                    </a:cubicBezTo>
                    <a:cubicBezTo>
                      <a:pt x="255270" y="4989553"/>
                      <a:pt x="252730" y="4980663"/>
                      <a:pt x="247650" y="4955263"/>
                    </a:cubicBezTo>
                    <a:cubicBezTo>
                      <a:pt x="229870" y="4854933"/>
                      <a:pt x="255270" y="4477743"/>
                      <a:pt x="252730" y="4183103"/>
                    </a:cubicBezTo>
                    <a:cubicBezTo>
                      <a:pt x="251460" y="3788133"/>
                      <a:pt x="241300" y="3051533"/>
                      <a:pt x="228600" y="2801343"/>
                    </a:cubicBezTo>
                    <a:cubicBezTo>
                      <a:pt x="223520" y="2706093"/>
                      <a:pt x="204470" y="2647673"/>
                      <a:pt x="210820" y="2605763"/>
                    </a:cubicBezTo>
                    <a:cubicBezTo>
                      <a:pt x="214630" y="2585443"/>
                      <a:pt x="220980" y="2572743"/>
                      <a:pt x="231140" y="2561313"/>
                    </a:cubicBezTo>
                    <a:cubicBezTo>
                      <a:pt x="241300" y="2551153"/>
                      <a:pt x="260350" y="2542263"/>
                      <a:pt x="275590" y="2540993"/>
                    </a:cubicBezTo>
                    <a:cubicBezTo>
                      <a:pt x="290830" y="2539723"/>
                      <a:pt x="309880" y="2546073"/>
                      <a:pt x="321310" y="2554963"/>
                    </a:cubicBezTo>
                    <a:cubicBezTo>
                      <a:pt x="334010" y="2565123"/>
                      <a:pt x="340360" y="2571473"/>
                      <a:pt x="346710" y="2596873"/>
                    </a:cubicBezTo>
                    <a:cubicBezTo>
                      <a:pt x="384810" y="2728953"/>
                      <a:pt x="383540" y="3793213"/>
                      <a:pt x="359410" y="3931643"/>
                    </a:cubicBezTo>
                    <a:cubicBezTo>
                      <a:pt x="354330" y="3958313"/>
                      <a:pt x="351790" y="3965933"/>
                      <a:pt x="341630" y="3977363"/>
                    </a:cubicBezTo>
                    <a:cubicBezTo>
                      <a:pt x="331470" y="3988793"/>
                      <a:pt x="313690" y="3998953"/>
                      <a:pt x="298450" y="4000223"/>
                    </a:cubicBezTo>
                    <a:cubicBezTo>
                      <a:pt x="284480" y="4002763"/>
                      <a:pt x="264160" y="3997683"/>
                      <a:pt x="251460" y="3988793"/>
                    </a:cubicBezTo>
                    <a:cubicBezTo>
                      <a:pt x="238760" y="3979903"/>
                      <a:pt x="232410" y="3971013"/>
                      <a:pt x="223520" y="3948153"/>
                    </a:cubicBezTo>
                    <a:cubicBezTo>
                      <a:pt x="196850" y="3874493"/>
                      <a:pt x="187960" y="3640813"/>
                      <a:pt x="177800" y="3424913"/>
                    </a:cubicBezTo>
                    <a:cubicBezTo>
                      <a:pt x="162560" y="3070583"/>
                      <a:pt x="185420" y="2271753"/>
                      <a:pt x="175260" y="2024103"/>
                    </a:cubicBezTo>
                    <a:cubicBezTo>
                      <a:pt x="171450" y="1935203"/>
                      <a:pt x="170180" y="1898373"/>
                      <a:pt x="161290" y="1842493"/>
                    </a:cubicBezTo>
                    <a:cubicBezTo>
                      <a:pt x="153670" y="1794233"/>
                      <a:pt x="129540" y="1739623"/>
                      <a:pt x="132080" y="1706603"/>
                    </a:cubicBezTo>
                    <a:cubicBezTo>
                      <a:pt x="133350" y="1687553"/>
                      <a:pt x="138430" y="1672313"/>
                      <a:pt x="148590" y="1660883"/>
                    </a:cubicBezTo>
                    <a:cubicBezTo>
                      <a:pt x="158750" y="1649453"/>
                      <a:pt x="177800" y="1640563"/>
                      <a:pt x="191770" y="1636753"/>
                    </a:cubicBezTo>
                    <a:cubicBezTo>
                      <a:pt x="203200" y="1635483"/>
                      <a:pt x="213360" y="1636753"/>
                      <a:pt x="224790" y="1640563"/>
                    </a:cubicBezTo>
                    <a:cubicBezTo>
                      <a:pt x="237490" y="1645643"/>
                      <a:pt x="251460" y="1653263"/>
                      <a:pt x="261620" y="1672313"/>
                    </a:cubicBezTo>
                    <a:cubicBezTo>
                      <a:pt x="284480" y="1715493"/>
                      <a:pt x="287020" y="1822173"/>
                      <a:pt x="293370" y="1935203"/>
                    </a:cubicBezTo>
                    <a:cubicBezTo>
                      <a:pt x="304800" y="2135863"/>
                      <a:pt x="284480" y="2627353"/>
                      <a:pt x="293370" y="2778483"/>
                    </a:cubicBezTo>
                    <a:cubicBezTo>
                      <a:pt x="297180" y="2835633"/>
                      <a:pt x="311150" y="2864843"/>
                      <a:pt x="307340" y="2894053"/>
                    </a:cubicBezTo>
                    <a:cubicBezTo>
                      <a:pt x="303530" y="2913103"/>
                      <a:pt x="297180" y="2929613"/>
                      <a:pt x="285750" y="2941043"/>
                    </a:cubicBezTo>
                    <a:cubicBezTo>
                      <a:pt x="274320" y="2952473"/>
                      <a:pt x="255270" y="2961363"/>
                      <a:pt x="240030" y="2961363"/>
                    </a:cubicBezTo>
                    <a:cubicBezTo>
                      <a:pt x="223520" y="2962633"/>
                      <a:pt x="203200" y="2956283"/>
                      <a:pt x="190500" y="2947393"/>
                    </a:cubicBezTo>
                    <a:cubicBezTo>
                      <a:pt x="177800" y="2937233"/>
                      <a:pt x="171450" y="2924533"/>
                      <a:pt x="163830" y="2902943"/>
                    </a:cubicBezTo>
                    <a:cubicBezTo>
                      <a:pt x="149860" y="2857223"/>
                      <a:pt x="154940" y="2759433"/>
                      <a:pt x="152400" y="2667993"/>
                    </a:cubicBezTo>
                    <a:cubicBezTo>
                      <a:pt x="149860" y="2540993"/>
                      <a:pt x="149860" y="2377163"/>
                      <a:pt x="154940" y="2210793"/>
                    </a:cubicBezTo>
                    <a:cubicBezTo>
                      <a:pt x="161290" y="2010133"/>
                      <a:pt x="162560" y="1635483"/>
                      <a:pt x="190500" y="1545313"/>
                    </a:cubicBezTo>
                    <a:cubicBezTo>
                      <a:pt x="198120" y="1521183"/>
                      <a:pt x="205740" y="1512293"/>
                      <a:pt x="217170" y="1502133"/>
                    </a:cubicBezTo>
                    <a:cubicBezTo>
                      <a:pt x="226060" y="1494513"/>
                      <a:pt x="236220" y="1488163"/>
                      <a:pt x="248920" y="1488163"/>
                    </a:cubicBezTo>
                    <a:cubicBezTo>
                      <a:pt x="266700" y="1486893"/>
                      <a:pt x="299720" y="1497053"/>
                      <a:pt x="312420" y="1508483"/>
                    </a:cubicBezTo>
                    <a:cubicBezTo>
                      <a:pt x="322580" y="1516103"/>
                      <a:pt x="325120" y="1522453"/>
                      <a:pt x="330200" y="1537693"/>
                    </a:cubicBezTo>
                    <a:cubicBezTo>
                      <a:pt x="347980" y="1580873"/>
                      <a:pt x="370840" y="1688823"/>
                      <a:pt x="387350" y="1794233"/>
                    </a:cubicBezTo>
                    <a:cubicBezTo>
                      <a:pt x="414020" y="1960603"/>
                      <a:pt x="463550" y="2341603"/>
                      <a:pt x="444500" y="2443203"/>
                    </a:cubicBezTo>
                    <a:cubicBezTo>
                      <a:pt x="438150" y="2476223"/>
                      <a:pt x="429260" y="2492733"/>
                      <a:pt x="414020" y="2505433"/>
                    </a:cubicBezTo>
                    <a:cubicBezTo>
                      <a:pt x="401320" y="2516863"/>
                      <a:pt x="378460" y="2520673"/>
                      <a:pt x="363220" y="2519403"/>
                    </a:cubicBezTo>
                    <a:cubicBezTo>
                      <a:pt x="350520" y="2519403"/>
                      <a:pt x="339090" y="2516863"/>
                      <a:pt x="330200" y="2507973"/>
                    </a:cubicBezTo>
                    <a:cubicBezTo>
                      <a:pt x="316230" y="2496543"/>
                      <a:pt x="303530" y="2481303"/>
                      <a:pt x="295910" y="2448283"/>
                    </a:cubicBezTo>
                    <a:cubicBezTo>
                      <a:pt x="265430" y="2336523"/>
                      <a:pt x="264160" y="1766293"/>
                      <a:pt x="295910" y="1667233"/>
                    </a:cubicBezTo>
                    <a:cubicBezTo>
                      <a:pt x="303530" y="1640563"/>
                      <a:pt x="312420" y="1631673"/>
                      <a:pt x="326390" y="1621513"/>
                    </a:cubicBezTo>
                    <a:cubicBezTo>
                      <a:pt x="340360" y="1612623"/>
                      <a:pt x="363220" y="1606273"/>
                      <a:pt x="379730" y="1608813"/>
                    </a:cubicBezTo>
                    <a:cubicBezTo>
                      <a:pt x="396240" y="1611353"/>
                      <a:pt x="416560" y="1621513"/>
                      <a:pt x="427990" y="1634213"/>
                    </a:cubicBezTo>
                    <a:cubicBezTo>
                      <a:pt x="439420" y="1646913"/>
                      <a:pt x="443230" y="1657073"/>
                      <a:pt x="448310" y="1685013"/>
                    </a:cubicBezTo>
                    <a:cubicBezTo>
                      <a:pt x="471170" y="1814553"/>
                      <a:pt x="486410" y="2645133"/>
                      <a:pt x="439420" y="2769593"/>
                    </a:cubicBezTo>
                    <a:cubicBezTo>
                      <a:pt x="426720" y="2800073"/>
                      <a:pt x="414020" y="2811503"/>
                      <a:pt x="394970" y="2819123"/>
                    </a:cubicBezTo>
                    <a:cubicBezTo>
                      <a:pt x="377190" y="2825473"/>
                      <a:pt x="345440" y="2819123"/>
                      <a:pt x="330200" y="2811503"/>
                    </a:cubicBezTo>
                    <a:cubicBezTo>
                      <a:pt x="320040" y="2805153"/>
                      <a:pt x="314960" y="2798803"/>
                      <a:pt x="308610" y="2786103"/>
                    </a:cubicBezTo>
                    <a:cubicBezTo>
                      <a:pt x="294640" y="2763243"/>
                      <a:pt x="283210" y="2728953"/>
                      <a:pt x="274320" y="2674343"/>
                    </a:cubicBezTo>
                    <a:cubicBezTo>
                      <a:pt x="254000" y="2539723"/>
                      <a:pt x="237490" y="2045693"/>
                      <a:pt x="266700" y="1949173"/>
                    </a:cubicBezTo>
                    <a:cubicBezTo>
                      <a:pt x="274320" y="1921233"/>
                      <a:pt x="284480" y="1912343"/>
                      <a:pt x="298450" y="1902183"/>
                    </a:cubicBezTo>
                    <a:cubicBezTo>
                      <a:pt x="312420" y="1892023"/>
                      <a:pt x="336550" y="1886943"/>
                      <a:pt x="353060" y="1888213"/>
                    </a:cubicBezTo>
                    <a:cubicBezTo>
                      <a:pt x="370840" y="1890753"/>
                      <a:pt x="392430" y="1902183"/>
                      <a:pt x="403860" y="1914883"/>
                    </a:cubicBezTo>
                    <a:cubicBezTo>
                      <a:pt x="415290" y="1927583"/>
                      <a:pt x="419100" y="1940283"/>
                      <a:pt x="424180" y="1968223"/>
                    </a:cubicBezTo>
                    <a:cubicBezTo>
                      <a:pt x="440690" y="2060933"/>
                      <a:pt x="458470" y="2501623"/>
                      <a:pt x="422910" y="2595603"/>
                    </a:cubicBezTo>
                    <a:cubicBezTo>
                      <a:pt x="410210" y="2628623"/>
                      <a:pt x="393700" y="2643863"/>
                      <a:pt x="372110" y="2652753"/>
                    </a:cubicBezTo>
                    <a:cubicBezTo>
                      <a:pt x="351790" y="2660373"/>
                      <a:pt x="316230" y="2654023"/>
                      <a:pt x="298450" y="2642593"/>
                    </a:cubicBezTo>
                    <a:cubicBezTo>
                      <a:pt x="281940" y="2633703"/>
                      <a:pt x="274320" y="2615923"/>
                      <a:pt x="265430" y="2595603"/>
                    </a:cubicBezTo>
                    <a:cubicBezTo>
                      <a:pt x="251460" y="2565123"/>
                      <a:pt x="245110" y="2534643"/>
                      <a:pt x="234950" y="2473683"/>
                    </a:cubicBezTo>
                    <a:cubicBezTo>
                      <a:pt x="208280" y="2294613"/>
                      <a:pt x="198120" y="1776453"/>
                      <a:pt x="166370" y="1413233"/>
                    </a:cubicBezTo>
                    <a:cubicBezTo>
                      <a:pt x="130810" y="1028423"/>
                      <a:pt x="10160" y="348973"/>
                      <a:pt x="30480" y="225783"/>
                    </a:cubicBezTo>
                    <a:cubicBezTo>
                      <a:pt x="34290" y="201653"/>
                      <a:pt x="39370" y="194033"/>
                      <a:pt x="49530" y="183873"/>
                    </a:cubicBezTo>
                    <a:cubicBezTo>
                      <a:pt x="59690" y="173713"/>
                      <a:pt x="77470" y="166093"/>
                      <a:pt x="91440" y="166093"/>
                    </a:cubicBezTo>
                    <a:cubicBezTo>
                      <a:pt x="105410" y="164823"/>
                      <a:pt x="124460" y="171173"/>
                      <a:pt x="134620" y="180063"/>
                    </a:cubicBezTo>
                    <a:cubicBezTo>
                      <a:pt x="146050" y="188953"/>
                      <a:pt x="149860" y="195303"/>
                      <a:pt x="158750" y="219433"/>
                    </a:cubicBezTo>
                    <a:cubicBezTo>
                      <a:pt x="207010" y="356593"/>
                      <a:pt x="332740" y="1370053"/>
                      <a:pt x="397510" y="1696443"/>
                    </a:cubicBezTo>
                    <a:cubicBezTo>
                      <a:pt x="430530" y="1861543"/>
                      <a:pt x="486410" y="2002513"/>
                      <a:pt x="483870" y="2066013"/>
                    </a:cubicBezTo>
                    <a:cubicBezTo>
                      <a:pt x="483870" y="2087603"/>
                      <a:pt x="478790" y="2097763"/>
                      <a:pt x="469900" y="2109193"/>
                    </a:cubicBezTo>
                    <a:cubicBezTo>
                      <a:pt x="461010" y="2120623"/>
                      <a:pt x="444500" y="2130783"/>
                      <a:pt x="430530" y="2133323"/>
                    </a:cubicBezTo>
                    <a:cubicBezTo>
                      <a:pt x="416560" y="2135863"/>
                      <a:pt x="397510" y="2132053"/>
                      <a:pt x="384810" y="2124433"/>
                    </a:cubicBezTo>
                    <a:cubicBezTo>
                      <a:pt x="373380" y="2116813"/>
                      <a:pt x="365760" y="2107923"/>
                      <a:pt x="356870" y="2087603"/>
                    </a:cubicBezTo>
                    <a:cubicBezTo>
                      <a:pt x="334010" y="2034263"/>
                      <a:pt x="322580" y="1883133"/>
                      <a:pt x="311150" y="1763753"/>
                    </a:cubicBezTo>
                    <a:cubicBezTo>
                      <a:pt x="295910" y="1617703"/>
                      <a:pt x="295910" y="1437363"/>
                      <a:pt x="280670" y="1276073"/>
                    </a:cubicBezTo>
                    <a:cubicBezTo>
                      <a:pt x="266700" y="1118593"/>
                      <a:pt x="210820" y="883643"/>
                      <a:pt x="220980" y="808713"/>
                    </a:cubicBezTo>
                    <a:cubicBezTo>
                      <a:pt x="224790" y="784583"/>
                      <a:pt x="232410" y="773153"/>
                      <a:pt x="241300" y="761723"/>
                    </a:cubicBezTo>
                    <a:cubicBezTo>
                      <a:pt x="248920" y="752833"/>
                      <a:pt x="257810" y="745213"/>
                      <a:pt x="270510" y="742673"/>
                    </a:cubicBezTo>
                    <a:cubicBezTo>
                      <a:pt x="288290" y="740133"/>
                      <a:pt x="321310" y="745213"/>
                      <a:pt x="336550" y="754103"/>
                    </a:cubicBezTo>
                    <a:cubicBezTo>
                      <a:pt x="347980" y="760453"/>
                      <a:pt x="351790" y="768073"/>
                      <a:pt x="359410" y="780773"/>
                    </a:cubicBezTo>
                    <a:cubicBezTo>
                      <a:pt x="370840" y="804903"/>
                      <a:pt x="375920" y="873483"/>
                      <a:pt x="388620" y="897613"/>
                    </a:cubicBezTo>
                    <a:cubicBezTo>
                      <a:pt x="394970" y="909043"/>
                      <a:pt x="406400" y="910313"/>
                      <a:pt x="408940" y="920473"/>
                    </a:cubicBezTo>
                    <a:cubicBezTo>
                      <a:pt x="414020" y="933173"/>
                      <a:pt x="408940" y="958573"/>
                      <a:pt x="401320" y="972543"/>
                    </a:cubicBezTo>
                    <a:cubicBezTo>
                      <a:pt x="392430" y="987783"/>
                      <a:pt x="375920" y="1001753"/>
                      <a:pt x="359410" y="1006833"/>
                    </a:cubicBezTo>
                    <a:cubicBezTo>
                      <a:pt x="344170" y="1013183"/>
                      <a:pt x="321310" y="1011913"/>
                      <a:pt x="306070" y="1005563"/>
                    </a:cubicBezTo>
                    <a:cubicBezTo>
                      <a:pt x="290830" y="999213"/>
                      <a:pt x="279400" y="992863"/>
                      <a:pt x="266700" y="968733"/>
                    </a:cubicBezTo>
                    <a:cubicBezTo>
                      <a:pt x="215900" y="869673"/>
                      <a:pt x="133350" y="185143"/>
                      <a:pt x="128270" y="86083"/>
                    </a:cubicBezTo>
                    <a:cubicBezTo>
                      <a:pt x="127000" y="67033"/>
                      <a:pt x="125730" y="63223"/>
                      <a:pt x="129540" y="50523"/>
                    </a:cubicBezTo>
                    <a:cubicBezTo>
                      <a:pt x="134620" y="36553"/>
                      <a:pt x="147320" y="17503"/>
                      <a:pt x="161290" y="9883"/>
                    </a:cubicBezTo>
                    <a:cubicBezTo>
                      <a:pt x="179070" y="-277"/>
                      <a:pt x="212090" y="-2817"/>
                      <a:pt x="229870" y="4803"/>
                    </a:cubicBezTo>
                    <a:cubicBezTo>
                      <a:pt x="248920" y="12423"/>
                      <a:pt x="262890" y="35283"/>
                      <a:pt x="273050" y="58143"/>
                    </a:cubicBezTo>
                    <a:cubicBezTo>
                      <a:pt x="287020" y="91163"/>
                      <a:pt x="280670" y="136883"/>
                      <a:pt x="290830" y="188953"/>
                    </a:cubicBezTo>
                    <a:cubicBezTo>
                      <a:pt x="306070" y="271503"/>
                      <a:pt x="335280" y="398503"/>
                      <a:pt x="364490" y="503913"/>
                    </a:cubicBezTo>
                    <a:cubicBezTo>
                      <a:pt x="394970" y="613133"/>
                      <a:pt x="495300" y="787123"/>
                      <a:pt x="471170" y="834113"/>
                    </a:cubicBezTo>
                    <a:cubicBezTo>
                      <a:pt x="459740" y="855703"/>
                      <a:pt x="424180" y="863323"/>
                      <a:pt x="397510" y="858243"/>
                    </a:cubicBezTo>
                    <a:cubicBezTo>
                      <a:pt x="355600" y="848083"/>
                      <a:pt x="292100" y="770613"/>
                      <a:pt x="257810" y="722353"/>
                    </a:cubicBezTo>
                    <a:cubicBezTo>
                      <a:pt x="227330" y="679173"/>
                      <a:pt x="185420" y="616943"/>
                      <a:pt x="194310" y="585193"/>
                    </a:cubicBezTo>
                    <a:cubicBezTo>
                      <a:pt x="200660" y="559793"/>
                      <a:pt x="228600" y="545823"/>
                      <a:pt x="267970" y="531853"/>
                    </a:cubicBezTo>
                    <a:cubicBezTo>
                      <a:pt x="374650" y="495023"/>
                      <a:pt x="739140" y="511533"/>
                      <a:pt x="920750" y="496293"/>
                    </a:cubicBezTo>
                    <a:cubicBezTo>
                      <a:pt x="1051560" y="484863"/>
                      <a:pt x="1149350" y="473433"/>
                      <a:pt x="1256030" y="458193"/>
                    </a:cubicBezTo>
                    <a:cubicBezTo>
                      <a:pt x="1353820" y="444223"/>
                      <a:pt x="1440180" y="430253"/>
                      <a:pt x="1537970" y="408663"/>
                    </a:cubicBezTo>
                    <a:cubicBezTo>
                      <a:pt x="1644650" y="384533"/>
                      <a:pt x="1818640" y="324843"/>
                      <a:pt x="1871980" y="321033"/>
                    </a:cubicBezTo>
                    <a:cubicBezTo>
                      <a:pt x="1888490" y="319763"/>
                      <a:pt x="1893570" y="319763"/>
                      <a:pt x="1903730" y="324843"/>
                    </a:cubicBezTo>
                    <a:cubicBezTo>
                      <a:pt x="1916430" y="331193"/>
                      <a:pt x="1932940" y="343893"/>
                      <a:pt x="1940560" y="357863"/>
                    </a:cubicBezTo>
                    <a:cubicBezTo>
                      <a:pt x="1946910" y="371833"/>
                      <a:pt x="1948180" y="392153"/>
                      <a:pt x="1945640" y="406123"/>
                    </a:cubicBezTo>
                    <a:cubicBezTo>
                      <a:pt x="1944370" y="417553"/>
                      <a:pt x="1939290" y="427713"/>
                      <a:pt x="1930400" y="435333"/>
                    </a:cubicBezTo>
                    <a:cubicBezTo>
                      <a:pt x="1920240" y="445493"/>
                      <a:pt x="1906270" y="455653"/>
                      <a:pt x="1887220" y="458193"/>
                    </a:cubicBezTo>
                    <a:cubicBezTo>
                      <a:pt x="1850390" y="462003"/>
                      <a:pt x="1791970" y="421363"/>
                      <a:pt x="1720850" y="409933"/>
                    </a:cubicBezTo>
                    <a:cubicBezTo>
                      <a:pt x="1596390" y="390883"/>
                      <a:pt x="1337310" y="390883"/>
                      <a:pt x="1201420" y="397233"/>
                    </a:cubicBezTo>
                    <a:cubicBezTo>
                      <a:pt x="1113790" y="402313"/>
                      <a:pt x="1054100" y="413743"/>
                      <a:pt x="985520" y="426443"/>
                    </a:cubicBezTo>
                    <a:cubicBezTo>
                      <a:pt x="920750" y="437873"/>
                      <a:pt x="840740" y="475973"/>
                      <a:pt x="800100" y="470893"/>
                    </a:cubicBezTo>
                    <a:cubicBezTo>
                      <a:pt x="779780" y="469623"/>
                      <a:pt x="765810" y="462003"/>
                      <a:pt x="754380" y="450573"/>
                    </a:cubicBezTo>
                    <a:cubicBezTo>
                      <a:pt x="744220" y="439143"/>
                      <a:pt x="735330" y="420093"/>
                      <a:pt x="734060" y="404853"/>
                    </a:cubicBezTo>
                    <a:cubicBezTo>
                      <a:pt x="734060" y="388343"/>
                      <a:pt x="740410" y="369293"/>
                      <a:pt x="750570" y="356593"/>
                    </a:cubicBezTo>
                    <a:cubicBezTo>
                      <a:pt x="759460" y="343893"/>
                      <a:pt x="777240" y="331193"/>
                      <a:pt x="793750" y="331193"/>
                    </a:cubicBezTo>
                    <a:cubicBezTo>
                      <a:pt x="812800" y="331193"/>
                      <a:pt x="836930" y="361673"/>
                      <a:pt x="861060" y="365483"/>
                    </a:cubicBezTo>
                    <a:cubicBezTo>
                      <a:pt x="886460" y="370563"/>
                      <a:pt x="901700" y="359133"/>
                      <a:pt x="939800" y="357863"/>
                    </a:cubicBezTo>
                    <a:cubicBezTo>
                      <a:pt x="1047750" y="354053"/>
                      <a:pt x="1390650" y="380723"/>
                      <a:pt x="1545590" y="380723"/>
                    </a:cubicBezTo>
                    <a:cubicBezTo>
                      <a:pt x="1639570" y="380723"/>
                      <a:pt x="1699260" y="378183"/>
                      <a:pt x="1775460" y="370563"/>
                    </a:cubicBezTo>
                    <a:cubicBezTo>
                      <a:pt x="1851660" y="364213"/>
                      <a:pt x="1954530" y="332463"/>
                      <a:pt x="2000250" y="341353"/>
                    </a:cubicBezTo>
                    <a:cubicBezTo>
                      <a:pt x="2021840" y="345163"/>
                      <a:pt x="2034540" y="354053"/>
                      <a:pt x="2044700" y="364213"/>
                    </a:cubicBezTo>
                    <a:cubicBezTo>
                      <a:pt x="2052320" y="373103"/>
                      <a:pt x="2057400" y="383263"/>
                      <a:pt x="2059940" y="394693"/>
                    </a:cubicBezTo>
                    <a:cubicBezTo>
                      <a:pt x="2062480" y="408663"/>
                      <a:pt x="2059940" y="431523"/>
                      <a:pt x="2052320" y="444223"/>
                    </a:cubicBezTo>
                    <a:cubicBezTo>
                      <a:pt x="2044700" y="458193"/>
                      <a:pt x="2035810" y="470893"/>
                      <a:pt x="2014220" y="477243"/>
                    </a:cubicBezTo>
                    <a:cubicBezTo>
                      <a:pt x="1964690" y="492483"/>
                      <a:pt x="1850390" y="453113"/>
                      <a:pt x="1724660" y="445493"/>
                    </a:cubicBezTo>
                    <a:cubicBezTo>
                      <a:pt x="1488440" y="430253"/>
                      <a:pt x="956310" y="418823"/>
                      <a:pt x="708660" y="428983"/>
                    </a:cubicBezTo>
                    <a:cubicBezTo>
                      <a:pt x="565150" y="435333"/>
                      <a:pt x="472440" y="448033"/>
                      <a:pt x="369570" y="464543"/>
                    </a:cubicBezTo>
                    <a:cubicBezTo>
                      <a:pt x="281940" y="478513"/>
                      <a:pt x="176530" y="520423"/>
                      <a:pt x="130810" y="516613"/>
                    </a:cubicBezTo>
                    <a:cubicBezTo>
                      <a:pt x="110490" y="514073"/>
                      <a:pt x="99060" y="507723"/>
                      <a:pt x="88900" y="498833"/>
                    </a:cubicBezTo>
                    <a:cubicBezTo>
                      <a:pt x="78740" y="488673"/>
                      <a:pt x="69850" y="472163"/>
                      <a:pt x="68580" y="456923"/>
                    </a:cubicBezTo>
                    <a:cubicBezTo>
                      <a:pt x="68580" y="442953"/>
                      <a:pt x="73660" y="425173"/>
                      <a:pt x="81280" y="413743"/>
                    </a:cubicBezTo>
                    <a:cubicBezTo>
                      <a:pt x="90170" y="402313"/>
                      <a:pt x="97790" y="395963"/>
                      <a:pt x="120650" y="389613"/>
                    </a:cubicBezTo>
                    <a:cubicBezTo>
                      <a:pt x="212090" y="365483"/>
                      <a:pt x="680720" y="427713"/>
                      <a:pt x="885190" y="436603"/>
                    </a:cubicBezTo>
                    <a:cubicBezTo>
                      <a:pt x="1022350" y="441683"/>
                      <a:pt x="1102360" y="440413"/>
                      <a:pt x="1228090" y="441683"/>
                    </a:cubicBezTo>
                    <a:cubicBezTo>
                      <a:pt x="1381760" y="442953"/>
                      <a:pt x="1578610" y="451843"/>
                      <a:pt x="1743710" y="444223"/>
                    </a:cubicBezTo>
                    <a:cubicBezTo>
                      <a:pt x="1899920" y="437873"/>
                      <a:pt x="2133600" y="381993"/>
                      <a:pt x="2195830" y="403583"/>
                    </a:cubicBezTo>
                    <a:cubicBezTo>
                      <a:pt x="2216150" y="411203"/>
                      <a:pt x="2223770" y="423903"/>
                      <a:pt x="2230120" y="435333"/>
                    </a:cubicBezTo>
                    <a:cubicBezTo>
                      <a:pt x="2235200" y="445493"/>
                      <a:pt x="2237740" y="455653"/>
                      <a:pt x="2236470" y="465813"/>
                    </a:cubicBezTo>
                    <a:cubicBezTo>
                      <a:pt x="2235200" y="479783"/>
                      <a:pt x="2228850" y="498833"/>
                      <a:pt x="2218690" y="508993"/>
                    </a:cubicBezTo>
                    <a:cubicBezTo>
                      <a:pt x="2208530" y="519153"/>
                      <a:pt x="2198370" y="525503"/>
                      <a:pt x="2176780" y="529313"/>
                    </a:cubicBezTo>
                    <a:cubicBezTo>
                      <a:pt x="2114550" y="539473"/>
                      <a:pt x="1951990" y="496293"/>
                      <a:pt x="1804670" y="486133"/>
                    </a:cubicBezTo>
                    <a:cubicBezTo>
                      <a:pt x="1595120" y="472163"/>
                      <a:pt x="1258570" y="463273"/>
                      <a:pt x="1037590" y="469623"/>
                    </a:cubicBezTo>
                    <a:cubicBezTo>
                      <a:pt x="867410" y="475973"/>
                      <a:pt x="656590" y="491213"/>
                      <a:pt x="589280" y="508993"/>
                    </a:cubicBezTo>
                    <a:cubicBezTo>
                      <a:pt x="568960" y="514073"/>
                      <a:pt x="563880" y="526773"/>
                      <a:pt x="551180" y="526773"/>
                    </a:cubicBezTo>
                    <a:cubicBezTo>
                      <a:pt x="537210" y="526773"/>
                      <a:pt x="519430" y="516613"/>
                      <a:pt x="509270" y="505183"/>
                    </a:cubicBezTo>
                    <a:cubicBezTo>
                      <a:pt x="499110" y="495023"/>
                      <a:pt x="491490" y="477243"/>
                      <a:pt x="491490" y="462003"/>
                    </a:cubicBezTo>
                    <a:cubicBezTo>
                      <a:pt x="491490" y="448033"/>
                      <a:pt x="497840" y="428983"/>
                      <a:pt x="506730" y="417553"/>
                    </a:cubicBezTo>
                    <a:cubicBezTo>
                      <a:pt x="516890" y="407393"/>
                      <a:pt x="528320" y="401043"/>
                      <a:pt x="548640" y="395963"/>
                    </a:cubicBezTo>
                    <a:cubicBezTo>
                      <a:pt x="596900" y="383263"/>
                      <a:pt x="693420" y="390883"/>
                      <a:pt x="805180" y="393423"/>
                    </a:cubicBezTo>
                    <a:cubicBezTo>
                      <a:pt x="1013460" y="399773"/>
                      <a:pt x="1440180" y="440413"/>
                      <a:pt x="1703070" y="450573"/>
                    </a:cubicBezTo>
                    <a:cubicBezTo>
                      <a:pt x="1910080" y="458193"/>
                      <a:pt x="2095500" y="458193"/>
                      <a:pt x="2256790" y="456923"/>
                    </a:cubicBezTo>
                    <a:cubicBezTo>
                      <a:pt x="2383790" y="456923"/>
                      <a:pt x="2484120" y="459463"/>
                      <a:pt x="2594610" y="450573"/>
                    </a:cubicBezTo>
                    <a:cubicBezTo>
                      <a:pt x="2700020" y="441683"/>
                      <a:pt x="2857500" y="399773"/>
                      <a:pt x="2905760" y="403583"/>
                    </a:cubicBezTo>
                    <a:cubicBezTo>
                      <a:pt x="2921000" y="403583"/>
                      <a:pt x="2926080" y="406123"/>
                      <a:pt x="2934970" y="411203"/>
                    </a:cubicBezTo>
                    <a:cubicBezTo>
                      <a:pt x="2945130" y="418823"/>
                      <a:pt x="2959100" y="432793"/>
                      <a:pt x="2962910" y="446763"/>
                    </a:cubicBezTo>
                    <a:cubicBezTo>
                      <a:pt x="2967990" y="459463"/>
                      <a:pt x="2966720" y="478513"/>
                      <a:pt x="2961640" y="491213"/>
                    </a:cubicBezTo>
                    <a:cubicBezTo>
                      <a:pt x="2955290" y="505183"/>
                      <a:pt x="2945130" y="516613"/>
                      <a:pt x="2929890" y="524233"/>
                    </a:cubicBezTo>
                    <a:cubicBezTo>
                      <a:pt x="2905760" y="535663"/>
                      <a:pt x="2871470" y="529313"/>
                      <a:pt x="2819400" y="529313"/>
                    </a:cubicBezTo>
                    <a:cubicBezTo>
                      <a:pt x="2697480" y="528043"/>
                      <a:pt x="2419350" y="496293"/>
                      <a:pt x="2204720" y="488673"/>
                    </a:cubicBezTo>
                    <a:cubicBezTo>
                      <a:pt x="1971040" y="479783"/>
                      <a:pt x="1709420" y="472163"/>
                      <a:pt x="1468120" y="482323"/>
                    </a:cubicBezTo>
                    <a:cubicBezTo>
                      <a:pt x="1234440" y="491213"/>
                      <a:pt x="1010920" y="517883"/>
                      <a:pt x="777240" y="542013"/>
                    </a:cubicBezTo>
                    <a:cubicBezTo>
                      <a:pt x="539750" y="566143"/>
                      <a:pt x="144780" y="646153"/>
                      <a:pt x="54610" y="629643"/>
                    </a:cubicBezTo>
                    <a:cubicBezTo>
                      <a:pt x="31750" y="625833"/>
                      <a:pt x="24130" y="618213"/>
                      <a:pt x="15240" y="608053"/>
                    </a:cubicBezTo>
                    <a:cubicBezTo>
                      <a:pt x="6350" y="597893"/>
                      <a:pt x="0" y="580113"/>
                      <a:pt x="0" y="566143"/>
                    </a:cubicBezTo>
                    <a:cubicBezTo>
                      <a:pt x="0" y="552173"/>
                      <a:pt x="7620" y="535663"/>
                      <a:pt x="16510" y="525503"/>
                    </a:cubicBezTo>
                    <a:cubicBezTo>
                      <a:pt x="25400" y="514073"/>
                      <a:pt x="31750" y="510263"/>
                      <a:pt x="55880" y="505183"/>
                    </a:cubicBezTo>
                    <a:cubicBezTo>
                      <a:pt x="210820" y="468353"/>
                      <a:pt x="1220470" y="530583"/>
                      <a:pt x="1855470" y="524233"/>
                    </a:cubicBezTo>
                    <a:cubicBezTo>
                      <a:pt x="2571750" y="516613"/>
                      <a:pt x="3956050" y="422633"/>
                      <a:pt x="4137660" y="453113"/>
                    </a:cubicBezTo>
                    <a:cubicBezTo>
                      <a:pt x="4163060" y="456923"/>
                      <a:pt x="4169410" y="459463"/>
                      <a:pt x="4179570" y="468353"/>
                    </a:cubicBezTo>
                    <a:cubicBezTo>
                      <a:pt x="4189730" y="477243"/>
                      <a:pt x="4198620" y="493753"/>
                      <a:pt x="4199890" y="507723"/>
                    </a:cubicBezTo>
                    <a:cubicBezTo>
                      <a:pt x="4202430" y="521693"/>
                      <a:pt x="4198620" y="540743"/>
                      <a:pt x="4189730" y="552173"/>
                    </a:cubicBezTo>
                    <a:cubicBezTo>
                      <a:pt x="4179570" y="564873"/>
                      <a:pt x="4163060" y="573763"/>
                      <a:pt x="4137660" y="578843"/>
                    </a:cubicBezTo>
                    <a:cubicBezTo>
                      <a:pt x="4080510" y="590273"/>
                      <a:pt x="3962400" y="558523"/>
                      <a:pt x="3841750" y="550903"/>
                    </a:cubicBezTo>
                    <a:cubicBezTo>
                      <a:pt x="3656330" y="538203"/>
                      <a:pt x="3382010" y="520423"/>
                      <a:pt x="3129280" y="524233"/>
                    </a:cubicBezTo>
                    <a:cubicBezTo>
                      <a:pt x="2840990" y="529313"/>
                      <a:pt x="2438400" y="567413"/>
                      <a:pt x="2204720" y="590273"/>
                    </a:cubicBezTo>
                    <a:cubicBezTo>
                      <a:pt x="2062480" y="602973"/>
                      <a:pt x="1918970" y="642343"/>
                      <a:pt x="1861820" y="630913"/>
                    </a:cubicBezTo>
                    <a:cubicBezTo>
                      <a:pt x="1841500" y="627103"/>
                      <a:pt x="1831340" y="619483"/>
                      <a:pt x="1822450" y="609323"/>
                    </a:cubicBezTo>
                    <a:cubicBezTo>
                      <a:pt x="1813560" y="597893"/>
                      <a:pt x="1807210" y="578843"/>
                      <a:pt x="1807210" y="566143"/>
                    </a:cubicBezTo>
                    <a:cubicBezTo>
                      <a:pt x="1807210" y="554713"/>
                      <a:pt x="1809750" y="544553"/>
                      <a:pt x="1814830" y="535663"/>
                    </a:cubicBezTo>
                    <a:cubicBezTo>
                      <a:pt x="1822450" y="525503"/>
                      <a:pt x="1827530" y="515343"/>
                      <a:pt x="1850390" y="506453"/>
                    </a:cubicBezTo>
                    <a:cubicBezTo>
                      <a:pt x="1978660" y="460733"/>
                      <a:pt x="3009900" y="529313"/>
                      <a:pt x="3304540" y="522963"/>
                    </a:cubicBezTo>
                    <a:cubicBezTo>
                      <a:pt x="3432810" y="520423"/>
                      <a:pt x="3462020" y="517883"/>
                      <a:pt x="3580130" y="508993"/>
                    </a:cubicBezTo>
                    <a:cubicBezTo>
                      <a:pt x="3796030" y="492483"/>
                      <a:pt x="4210050" y="449303"/>
                      <a:pt x="4495800" y="417553"/>
                    </a:cubicBezTo>
                    <a:cubicBezTo>
                      <a:pt x="4747260" y="389613"/>
                      <a:pt x="5020310" y="357863"/>
                      <a:pt x="5204460" y="328653"/>
                    </a:cubicBezTo>
                    <a:cubicBezTo>
                      <a:pt x="5323840" y="308333"/>
                      <a:pt x="5443220" y="265153"/>
                      <a:pt x="5496560" y="270233"/>
                    </a:cubicBezTo>
                    <a:cubicBezTo>
                      <a:pt x="5516880" y="271503"/>
                      <a:pt x="5527040" y="276583"/>
                      <a:pt x="5538470" y="286743"/>
                    </a:cubicBezTo>
                    <a:cubicBezTo>
                      <a:pt x="5548630" y="295633"/>
                      <a:pt x="5556250" y="312143"/>
                      <a:pt x="5558790" y="326113"/>
                    </a:cubicBezTo>
                    <a:cubicBezTo>
                      <a:pt x="5560060" y="340083"/>
                      <a:pt x="5554980" y="359133"/>
                      <a:pt x="5547360" y="370563"/>
                    </a:cubicBezTo>
                    <a:cubicBezTo>
                      <a:pt x="5538470" y="381993"/>
                      <a:pt x="5529580" y="388343"/>
                      <a:pt x="5509260" y="395963"/>
                    </a:cubicBezTo>
                    <a:cubicBezTo>
                      <a:pt x="5453380" y="415013"/>
                      <a:pt x="5299710" y="401043"/>
                      <a:pt x="5160010" y="418823"/>
                    </a:cubicBezTo>
                    <a:cubicBezTo>
                      <a:pt x="4949190" y="446763"/>
                      <a:pt x="4470400" y="585193"/>
                      <a:pt x="4370070" y="571223"/>
                    </a:cubicBezTo>
                    <a:cubicBezTo>
                      <a:pt x="4344670" y="567413"/>
                      <a:pt x="4335780" y="559793"/>
                      <a:pt x="4325620" y="548363"/>
                    </a:cubicBezTo>
                    <a:cubicBezTo>
                      <a:pt x="4315460" y="536933"/>
                      <a:pt x="4306570" y="517883"/>
                      <a:pt x="4306570" y="501373"/>
                    </a:cubicBezTo>
                    <a:cubicBezTo>
                      <a:pt x="4306570" y="486133"/>
                      <a:pt x="4314190" y="465813"/>
                      <a:pt x="4324350" y="454383"/>
                    </a:cubicBezTo>
                    <a:cubicBezTo>
                      <a:pt x="4334510" y="442953"/>
                      <a:pt x="4343400" y="436603"/>
                      <a:pt x="4368800" y="430253"/>
                    </a:cubicBezTo>
                    <a:cubicBezTo>
                      <a:pt x="4461510" y="407393"/>
                      <a:pt x="4817110" y="436603"/>
                      <a:pt x="5068570" y="434063"/>
                    </a:cubicBezTo>
                    <a:cubicBezTo>
                      <a:pt x="5364480" y="430253"/>
                      <a:pt x="5919470" y="387073"/>
                      <a:pt x="6033770" y="406123"/>
                    </a:cubicBezTo>
                    <a:cubicBezTo>
                      <a:pt x="6060440" y="411203"/>
                      <a:pt x="6069330" y="413743"/>
                      <a:pt x="6080760" y="423903"/>
                    </a:cubicBezTo>
                    <a:cubicBezTo>
                      <a:pt x="6092190" y="434063"/>
                      <a:pt x="6101080" y="451843"/>
                      <a:pt x="6103620" y="467083"/>
                    </a:cubicBezTo>
                    <a:cubicBezTo>
                      <a:pt x="6104890" y="482323"/>
                      <a:pt x="6099810" y="502643"/>
                      <a:pt x="6090920" y="515343"/>
                    </a:cubicBezTo>
                    <a:cubicBezTo>
                      <a:pt x="6083300" y="528043"/>
                      <a:pt x="6070600" y="538203"/>
                      <a:pt x="6050280" y="543283"/>
                    </a:cubicBezTo>
                    <a:cubicBezTo>
                      <a:pt x="6009640" y="553443"/>
                      <a:pt x="5925820" y="521693"/>
                      <a:pt x="5843270" y="515343"/>
                    </a:cubicBezTo>
                    <a:cubicBezTo>
                      <a:pt x="5725160" y="506453"/>
                      <a:pt x="5529580" y="506453"/>
                      <a:pt x="5410200" y="505183"/>
                    </a:cubicBezTo>
                    <a:cubicBezTo>
                      <a:pt x="5326380" y="503913"/>
                      <a:pt x="5267960" y="501373"/>
                      <a:pt x="5195570" y="505183"/>
                    </a:cubicBezTo>
                    <a:cubicBezTo>
                      <a:pt x="5120640" y="508993"/>
                      <a:pt x="5012690" y="542013"/>
                      <a:pt x="4968240" y="531853"/>
                    </a:cubicBezTo>
                    <a:cubicBezTo>
                      <a:pt x="4946650" y="528043"/>
                      <a:pt x="4933950" y="519153"/>
                      <a:pt x="4923790" y="507723"/>
                    </a:cubicBezTo>
                    <a:cubicBezTo>
                      <a:pt x="4913630" y="495023"/>
                      <a:pt x="4906010" y="474703"/>
                      <a:pt x="4906010" y="459463"/>
                    </a:cubicBezTo>
                    <a:cubicBezTo>
                      <a:pt x="4907280" y="442953"/>
                      <a:pt x="4914900" y="423903"/>
                      <a:pt x="4926330" y="411203"/>
                    </a:cubicBezTo>
                    <a:cubicBezTo>
                      <a:pt x="4937760" y="399773"/>
                      <a:pt x="4949190" y="393423"/>
                      <a:pt x="4972050" y="389613"/>
                    </a:cubicBezTo>
                    <a:cubicBezTo>
                      <a:pt x="5034280" y="379453"/>
                      <a:pt x="5201920" y="422633"/>
                      <a:pt x="5323840" y="432793"/>
                    </a:cubicBezTo>
                    <a:cubicBezTo>
                      <a:pt x="5457190" y="444223"/>
                      <a:pt x="5593080" y="446763"/>
                      <a:pt x="5740400" y="450573"/>
                    </a:cubicBezTo>
                    <a:cubicBezTo>
                      <a:pt x="5906770" y="454383"/>
                      <a:pt x="6074410" y="458193"/>
                      <a:pt x="6271260" y="455653"/>
                    </a:cubicBezTo>
                    <a:cubicBezTo>
                      <a:pt x="6516370" y="451843"/>
                      <a:pt x="7001510" y="397233"/>
                      <a:pt x="7098030" y="425173"/>
                    </a:cubicBezTo>
                    <a:cubicBezTo>
                      <a:pt x="7120890" y="431523"/>
                      <a:pt x="7128510" y="439143"/>
                      <a:pt x="7137400" y="450573"/>
                    </a:cubicBezTo>
                    <a:cubicBezTo>
                      <a:pt x="7145020" y="463273"/>
                      <a:pt x="7150100" y="483593"/>
                      <a:pt x="7148830" y="496293"/>
                    </a:cubicBezTo>
                    <a:cubicBezTo>
                      <a:pt x="7148830" y="507723"/>
                      <a:pt x="7145020" y="517883"/>
                      <a:pt x="7137400" y="526773"/>
                    </a:cubicBezTo>
                    <a:cubicBezTo>
                      <a:pt x="7129780" y="536933"/>
                      <a:pt x="7122160" y="547093"/>
                      <a:pt x="7099300" y="553443"/>
                    </a:cubicBezTo>
                    <a:cubicBezTo>
                      <a:pt x="7023100" y="577573"/>
                      <a:pt x="6672580" y="539473"/>
                      <a:pt x="6532880" y="545823"/>
                    </a:cubicBezTo>
                    <a:cubicBezTo>
                      <a:pt x="6451600" y="549633"/>
                      <a:pt x="6403340" y="557253"/>
                      <a:pt x="6339840" y="567413"/>
                    </a:cubicBezTo>
                    <a:cubicBezTo>
                      <a:pt x="6277610" y="577573"/>
                      <a:pt x="6197600" y="614403"/>
                      <a:pt x="6156960" y="608053"/>
                    </a:cubicBezTo>
                    <a:cubicBezTo>
                      <a:pt x="6136640" y="605513"/>
                      <a:pt x="6121400" y="596623"/>
                      <a:pt x="6111240" y="583923"/>
                    </a:cubicBezTo>
                    <a:cubicBezTo>
                      <a:pt x="6101080" y="572493"/>
                      <a:pt x="6093460" y="550903"/>
                      <a:pt x="6093460" y="535663"/>
                    </a:cubicBezTo>
                    <a:cubicBezTo>
                      <a:pt x="6093460" y="519153"/>
                      <a:pt x="6101080" y="498833"/>
                      <a:pt x="6112510" y="487403"/>
                    </a:cubicBezTo>
                    <a:cubicBezTo>
                      <a:pt x="6122670" y="474703"/>
                      <a:pt x="6135370" y="467083"/>
                      <a:pt x="6158230" y="463273"/>
                    </a:cubicBezTo>
                    <a:cubicBezTo>
                      <a:pt x="6216650" y="451843"/>
                      <a:pt x="6375400" y="492483"/>
                      <a:pt x="6483350" y="500103"/>
                    </a:cubicBezTo>
                    <a:cubicBezTo>
                      <a:pt x="6587490" y="507723"/>
                      <a:pt x="6658610" y="507723"/>
                      <a:pt x="6794500" y="510263"/>
                    </a:cubicBezTo>
                    <a:cubicBezTo>
                      <a:pt x="7053580" y="515343"/>
                      <a:pt x="7696200" y="529313"/>
                      <a:pt x="7923530" y="522963"/>
                    </a:cubicBezTo>
                    <a:cubicBezTo>
                      <a:pt x="8022590" y="520423"/>
                      <a:pt x="8088630" y="493753"/>
                      <a:pt x="8136890" y="508993"/>
                    </a:cubicBezTo>
                    <a:cubicBezTo>
                      <a:pt x="8166100" y="517883"/>
                      <a:pt x="8202930" y="547093"/>
                      <a:pt x="8200390" y="559793"/>
                    </a:cubicBezTo>
                    <a:cubicBezTo>
                      <a:pt x="8195310" y="576303"/>
                      <a:pt x="8108950" y="578843"/>
                      <a:pt x="8047990" y="581383"/>
                    </a:cubicBezTo>
                    <a:cubicBezTo>
                      <a:pt x="7957820" y="583923"/>
                      <a:pt x="7828280" y="561063"/>
                      <a:pt x="7712710" y="558523"/>
                    </a:cubicBezTo>
                    <a:cubicBezTo>
                      <a:pt x="7589520" y="557253"/>
                      <a:pt x="7391400" y="590273"/>
                      <a:pt x="7327900" y="572493"/>
                    </a:cubicBezTo>
                    <a:cubicBezTo>
                      <a:pt x="7305040" y="566143"/>
                      <a:pt x="7294880" y="555983"/>
                      <a:pt x="7285990" y="544553"/>
                    </a:cubicBezTo>
                    <a:cubicBezTo>
                      <a:pt x="7278370" y="534393"/>
                      <a:pt x="7273290" y="524233"/>
                      <a:pt x="7273290" y="511533"/>
                    </a:cubicBezTo>
                    <a:cubicBezTo>
                      <a:pt x="7272020" y="497563"/>
                      <a:pt x="7277100" y="474703"/>
                      <a:pt x="7284720" y="462003"/>
                    </a:cubicBezTo>
                    <a:cubicBezTo>
                      <a:pt x="7291070" y="451843"/>
                      <a:pt x="7294880" y="445493"/>
                      <a:pt x="7310120" y="439143"/>
                    </a:cubicBezTo>
                    <a:cubicBezTo>
                      <a:pt x="7357110" y="418823"/>
                      <a:pt x="7501890" y="428983"/>
                      <a:pt x="7641590" y="417553"/>
                    </a:cubicBezTo>
                    <a:cubicBezTo>
                      <a:pt x="7884160" y="397233"/>
                      <a:pt x="8506460" y="293093"/>
                      <a:pt x="8636000" y="313413"/>
                    </a:cubicBezTo>
                    <a:cubicBezTo>
                      <a:pt x="8670290" y="318493"/>
                      <a:pt x="8684260" y="326113"/>
                      <a:pt x="8696960" y="338813"/>
                    </a:cubicBezTo>
                    <a:cubicBezTo>
                      <a:pt x="8707120" y="351513"/>
                      <a:pt x="8712200" y="371833"/>
                      <a:pt x="8712200" y="387073"/>
                    </a:cubicBezTo>
                    <a:cubicBezTo>
                      <a:pt x="8710930" y="402313"/>
                      <a:pt x="8703310" y="421363"/>
                      <a:pt x="8691880" y="432793"/>
                    </a:cubicBezTo>
                    <a:cubicBezTo>
                      <a:pt x="8680450" y="444223"/>
                      <a:pt x="8672830" y="448033"/>
                      <a:pt x="8646160" y="454383"/>
                    </a:cubicBezTo>
                    <a:cubicBezTo>
                      <a:pt x="8524240" y="479783"/>
                      <a:pt x="7805420" y="426443"/>
                      <a:pt x="7556500" y="430253"/>
                    </a:cubicBezTo>
                    <a:cubicBezTo>
                      <a:pt x="7426960" y="432793"/>
                      <a:pt x="7357110" y="436603"/>
                      <a:pt x="7261860" y="448033"/>
                    </a:cubicBezTo>
                    <a:cubicBezTo>
                      <a:pt x="7171690" y="459463"/>
                      <a:pt x="7047230" y="505183"/>
                      <a:pt x="6997700" y="498833"/>
                    </a:cubicBezTo>
                    <a:cubicBezTo>
                      <a:pt x="6977380" y="496293"/>
                      <a:pt x="6965950" y="488673"/>
                      <a:pt x="6955790" y="479783"/>
                    </a:cubicBezTo>
                    <a:cubicBezTo>
                      <a:pt x="6948170" y="472163"/>
                      <a:pt x="6943090" y="463273"/>
                      <a:pt x="6940550" y="451843"/>
                    </a:cubicBezTo>
                    <a:cubicBezTo>
                      <a:pt x="6938010" y="439143"/>
                      <a:pt x="6938010" y="418823"/>
                      <a:pt x="6944360" y="406123"/>
                    </a:cubicBezTo>
                    <a:cubicBezTo>
                      <a:pt x="6950710" y="393423"/>
                      <a:pt x="6958330" y="381993"/>
                      <a:pt x="6977380" y="374373"/>
                    </a:cubicBezTo>
                    <a:cubicBezTo>
                      <a:pt x="7026910" y="352783"/>
                      <a:pt x="7169150" y="361673"/>
                      <a:pt x="7283450" y="364213"/>
                    </a:cubicBezTo>
                    <a:cubicBezTo>
                      <a:pt x="7430770" y="368023"/>
                      <a:pt x="7604760" y="394693"/>
                      <a:pt x="7788910" y="403583"/>
                    </a:cubicBezTo>
                    <a:cubicBezTo>
                      <a:pt x="8009890" y="413743"/>
                      <a:pt x="8323580" y="417553"/>
                      <a:pt x="8519160" y="416283"/>
                    </a:cubicBezTo>
                    <a:cubicBezTo>
                      <a:pt x="8652510" y="415013"/>
                      <a:pt x="8740140" y="415013"/>
                      <a:pt x="8853170" y="406123"/>
                    </a:cubicBezTo>
                    <a:cubicBezTo>
                      <a:pt x="8973820" y="397233"/>
                      <a:pt x="9164320" y="345163"/>
                      <a:pt x="9221470" y="362943"/>
                    </a:cubicBezTo>
                    <a:cubicBezTo>
                      <a:pt x="9240520" y="369293"/>
                      <a:pt x="9248140" y="383263"/>
                      <a:pt x="9255760" y="394693"/>
                    </a:cubicBezTo>
                    <a:cubicBezTo>
                      <a:pt x="9260840" y="403583"/>
                      <a:pt x="9263380" y="413743"/>
                      <a:pt x="9262110" y="425173"/>
                    </a:cubicBezTo>
                    <a:cubicBezTo>
                      <a:pt x="9262110" y="437873"/>
                      <a:pt x="9255760" y="456923"/>
                      <a:pt x="9245600" y="468353"/>
                    </a:cubicBezTo>
                    <a:cubicBezTo>
                      <a:pt x="9235440" y="478513"/>
                      <a:pt x="9227820" y="483593"/>
                      <a:pt x="9204960" y="488673"/>
                    </a:cubicBezTo>
                    <a:cubicBezTo>
                      <a:pt x="9110980" y="512803"/>
                      <a:pt x="8657590" y="500103"/>
                      <a:pt x="8456930" y="511533"/>
                    </a:cubicBezTo>
                    <a:cubicBezTo>
                      <a:pt x="8321040" y="519153"/>
                      <a:pt x="8234680" y="524233"/>
                      <a:pt x="8116570" y="539473"/>
                    </a:cubicBezTo>
                    <a:cubicBezTo>
                      <a:pt x="7988300" y="557253"/>
                      <a:pt x="7782560" y="633453"/>
                      <a:pt x="7716520" y="616943"/>
                    </a:cubicBezTo>
                    <a:cubicBezTo>
                      <a:pt x="7689850" y="610593"/>
                      <a:pt x="7675880" y="594083"/>
                      <a:pt x="7668260" y="577573"/>
                    </a:cubicBezTo>
                    <a:cubicBezTo>
                      <a:pt x="7661910" y="561063"/>
                      <a:pt x="7665720" y="531853"/>
                      <a:pt x="7673340" y="516613"/>
                    </a:cubicBezTo>
                    <a:cubicBezTo>
                      <a:pt x="7680960" y="503913"/>
                      <a:pt x="7694930" y="493753"/>
                      <a:pt x="7710170" y="488673"/>
                    </a:cubicBezTo>
                    <a:cubicBezTo>
                      <a:pt x="7731760" y="482323"/>
                      <a:pt x="7745730" y="487403"/>
                      <a:pt x="7788910" y="487403"/>
                    </a:cubicBezTo>
                    <a:cubicBezTo>
                      <a:pt x="7998460" y="487403"/>
                      <a:pt x="9173210" y="533123"/>
                      <a:pt x="9612630" y="522963"/>
                    </a:cubicBezTo>
                    <a:cubicBezTo>
                      <a:pt x="9861550" y="517883"/>
                      <a:pt x="10125710" y="435333"/>
                      <a:pt x="10196830" y="484863"/>
                    </a:cubicBezTo>
                    <a:cubicBezTo>
                      <a:pt x="10226040" y="505183"/>
                      <a:pt x="10234930" y="559793"/>
                      <a:pt x="10224770" y="576303"/>
                    </a:cubicBezTo>
                    <a:cubicBezTo>
                      <a:pt x="10213340" y="592813"/>
                      <a:pt x="10175240" y="585193"/>
                      <a:pt x="10129520" y="585193"/>
                    </a:cubicBezTo>
                    <a:cubicBezTo>
                      <a:pt x="10015220" y="585193"/>
                      <a:pt x="9685020" y="538203"/>
                      <a:pt x="9521190" y="526773"/>
                    </a:cubicBezTo>
                    <a:cubicBezTo>
                      <a:pt x="9410700" y="519153"/>
                      <a:pt x="9343390" y="514073"/>
                      <a:pt x="9243060" y="515343"/>
                    </a:cubicBezTo>
                    <a:cubicBezTo>
                      <a:pt x="9123680" y="517883"/>
                      <a:pt x="8917940" y="558523"/>
                      <a:pt x="8854440" y="544553"/>
                    </a:cubicBezTo>
                    <a:cubicBezTo>
                      <a:pt x="8831580" y="539473"/>
                      <a:pt x="8820150" y="533123"/>
                      <a:pt x="8809990" y="520423"/>
                    </a:cubicBezTo>
                    <a:cubicBezTo>
                      <a:pt x="8799830" y="508993"/>
                      <a:pt x="8792210" y="489943"/>
                      <a:pt x="8792210" y="474703"/>
                    </a:cubicBezTo>
                    <a:cubicBezTo>
                      <a:pt x="8793480" y="458193"/>
                      <a:pt x="8799830" y="439143"/>
                      <a:pt x="8811260" y="427713"/>
                    </a:cubicBezTo>
                    <a:cubicBezTo>
                      <a:pt x="8821420" y="416283"/>
                      <a:pt x="8829040" y="411203"/>
                      <a:pt x="8855710" y="404853"/>
                    </a:cubicBezTo>
                    <a:cubicBezTo>
                      <a:pt x="8967470" y="378183"/>
                      <a:pt x="9652000" y="397233"/>
                      <a:pt x="9813290" y="402313"/>
                    </a:cubicBezTo>
                    <a:cubicBezTo>
                      <a:pt x="9867900" y="403583"/>
                      <a:pt x="9888220" y="395963"/>
                      <a:pt x="9921240" y="409933"/>
                    </a:cubicBezTo>
                    <a:cubicBezTo>
                      <a:pt x="9959340" y="423903"/>
                      <a:pt x="10024110" y="465813"/>
                      <a:pt x="10025380" y="493753"/>
                    </a:cubicBezTo>
                    <a:cubicBezTo>
                      <a:pt x="10026650" y="515343"/>
                      <a:pt x="9993630" y="543283"/>
                      <a:pt x="9959340" y="558523"/>
                    </a:cubicBezTo>
                    <a:cubicBezTo>
                      <a:pt x="9898380" y="583923"/>
                      <a:pt x="9688830" y="599163"/>
                      <a:pt x="9663430" y="568683"/>
                    </a:cubicBezTo>
                    <a:cubicBezTo>
                      <a:pt x="9650730" y="552173"/>
                      <a:pt x="9674860" y="495023"/>
                      <a:pt x="9681210" y="495023"/>
                    </a:cubicBezTo>
                    <a:cubicBezTo>
                      <a:pt x="9686290" y="495023"/>
                      <a:pt x="9697720" y="528043"/>
                      <a:pt x="9696450" y="543283"/>
                    </a:cubicBezTo>
                    <a:cubicBezTo>
                      <a:pt x="9696450" y="559793"/>
                      <a:pt x="9690100" y="580113"/>
                      <a:pt x="9679940" y="592813"/>
                    </a:cubicBezTo>
                    <a:cubicBezTo>
                      <a:pt x="9669780" y="605513"/>
                      <a:pt x="9652000" y="616943"/>
                      <a:pt x="9636760" y="620753"/>
                    </a:cubicBezTo>
                    <a:cubicBezTo>
                      <a:pt x="9621520" y="624563"/>
                      <a:pt x="9599930" y="623293"/>
                      <a:pt x="9585960" y="616943"/>
                    </a:cubicBezTo>
                    <a:cubicBezTo>
                      <a:pt x="9570720" y="610593"/>
                      <a:pt x="9555480" y="596623"/>
                      <a:pt x="9546590" y="582653"/>
                    </a:cubicBezTo>
                    <a:cubicBezTo>
                      <a:pt x="9538970" y="568683"/>
                      <a:pt x="9535160" y="548363"/>
                      <a:pt x="9536430" y="531853"/>
                    </a:cubicBezTo>
                    <a:cubicBezTo>
                      <a:pt x="9538970" y="516613"/>
                      <a:pt x="9547860" y="497563"/>
                      <a:pt x="9559290" y="486133"/>
                    </a:cubicBezTo>
                    <a:cubicBezTo>
                      <a:pt x="9570720" y="474703"/>
                      <a:pt x="9587230" y="464543"/>
                      <a:pt x="9605010" y="463273"/>
                    </a:cubicBezTo>
                    <a:cubicBezTo>
                      <a:pt x="9625330" y="462003"/>
                      <a:pt x="9660890" y="472163"/>
                      <a:pt x="9676130" y="488673"/>
                    </a:cubicBezTo>
                    <a:cubicBezTo>
                      <a:pt x="9691370" y="505183"/>
                      <a:pt x="9700260" y="539473"/>
                      <a:pt x="9695180" y="561063"/>
                    </a:cubicBezTo>
                    <a:cubicBezTo>
                      <a:pt x="9690100" y="582653"/>
                      <a:pt x="9663430" y="609323"/>
                      <a:pt x="9645650" y="618213"/>
                    </a:cubicBezTo>
                    <a:cubicBezTo>
                      <a:pt x="9629140" y="624563"/>
                      <a:pt x="9608820" y="624563"/>
                      <a:pt x="9593580" y="619483"/>
                    </a:cubicBezTo>
                    <a:cubicBezTo>
                      <a:pt x="9578340" y="615673"/>
                      <a:pt x="9561830" y="605513"/>
                      <a:pt x="9551670" y="590273"/>
                    </a:cubicBezTo>
                    <a:cubicBezTo>
                      <a:pt x="9537700" y="568683"/>
                      <a:pt x="9521190" y="524233"/>
                      <a:pt x="9530080" y="497563"/>
                    </a:cubicBezTo>
                    <a:cubicBezTo>
                      <a:pt x="9538970" y="467083"/>
                      <a:pt x="9573260" y="435333"/>
                      <a:pt x="9611360" y="418823"/>
                    </a:cubicBezTo>
                    <a:cubicBezTo>
                      <a:pt x="9664700" y="397233"/>
                      <a:pt x="9772650" y="409933"/>
                      <a:pt x="9832340" y="411203"/>
                    </a:cubicBezTo>
                    <a:cubicBezTo>
                      <a:pt x="9874250" y="411203"/>
                      <a:pt x="9933940" y="406123"/>
                      <a:pt x="9939020" y="420093"/>
                    </a:cubicBezTo>
                    <a:cubicBezTo>
                      <a:pt x="9942830" y="431523"/>
                      <a:pt x="9880600" y="459463"/>
                      <a:pt x="9872980" y="483593"/>
                    </a:cubicBezTo>
                    <a:cubicBezTo>
                      <a:pt x="9866630" y="505183"/>
                      <a:pt x="9907270" y="538203"/>
                      <a:pt x="9892030" y="557253"/>
                    </a:cubicBezTo>
                    <a:cubicBezTo>
                      <a:pt x="9837420" y="628373"/>
                      <a:pt x="8956040" y="563603"/>
                      <a:pt x="8854440" y="544553"/>
                    </a:cubicBezTo>
                    <a:cubicBezTo>
                      <a:pt x="8835390" y="540743"/>
                      <a:pt x="8831580" y="539473"/>
                      <a:pt x="8822690" y="531853"/>
                    </a:cubicBezTo>
                    <a:cubicBezTo>
                      <a:pt x="8811260" y="522963"/>
                      <a:pt x="8798560" y="505183"/>
                      <a:pt x="8794750" y="491213"/>
                    </a:cubicBezTo>
                    <a:cubicBezTo>
                      <a:pt x="8790940" y="479783"/>
                      <a:pt x="8790940" y="468353"/>
                      <a:pt x="8794750" y="456923"/>
                    </a:cubicBezTo>
                    <a:cubicBezTo>
                      <a:pt x="8799830" y="444223"/>
                      <a:pt x="8804910" y="427713"/>
                      <a:pt x="8823960" y="416283"/>
                    </a:cubicBezTo>
                    <a:cubicBezTo>
                      <a:pt x="8869680" y="389613"/>
                      <a:pt x="9020810" y="389613"/>
                      <a:pt x="9130030" y="385803"/>
                    </a:cubicBezTo>
                    <a:cubicBezTo>
                      <a:pt x="9255760" y="379453"/>
                      <a:pt x="9381490" y="381993"/>
                      <a:pt x="9535160" y="390883"/>
                    </a:cubicBezTo>
                    <a:cubicBezTo>
                      <a:pt x="9738360" y="402313"/>
                      <a:pt x="10137140" y="399773"/>
                      <a:pt x="10243820" y="460733"/>
                    </a:cubicBezTo>
                    <a:cubicBezTo>
                      <a:pt x="10284460" y="484863"/>
                      <a:pt x="10313670" y="526773"/>
                      <a:pt x="10307320" y="550903"/>
                    </a:cubicBezTo>
                    <a:cubicBezTo>
                      <a:pt x="10302240" y="575033"/>
                      <a:pt x="10255250" y="592813"/>
                      <a:pt x="10204450" y="608053"/>
                    </a:cubicBezTo>
                    <a:cubicBezTo>
                      <a:pt x="10090150" y="639803"/>
                      <a:pt x="9865360" y="634723"/>
                      <a:pt x="9612630" y="639803"/>
                    </a:cubicBezTo>
                    <a:cubicBezTo>
                      <a:pt x="9159240" y="649963"/>
                      <a:pt x="7853680" y="648693"/>
                      <a:pt x="7716520" y="616943"/>
                    </a:cubicBezTo>
                    <a:cubicBezTo>
                      <a:pt x="7698740" y="611863"/>
                      <a:pt x="7696200" y="610593"/>
                      <a:pt x="7687310" y="602973"/>
                    </a:cubicBezTo>
                    <a:cubicBezTo>
                      <a:pt x="7677150" y="594083"/>
                      <a:pt x="7666990" y="577573"/>
                      <a:pt x="7664450" y="562333"/>
                    </a:cubicBezTo>
                    <a:cubicBezTo>
                      <a:pt x="7661910" y="548363"/>
                      <a:pt x="7665720" y="529313"/>
                      <a:pt x="7673340" y="516613"/>
                    </a:cubicBezTo>
                    <a:cubicBezTo>
                      <a:pt x="7680960" y="505183"/>
                      <a:pt x="7689850" y="497563"/>
                      <a:pt x="7710170" y="488673"/>
                    </a:cubicBezTo>
                    <a:cubicBezTo>
                      <a:pt x="7771130" y="462003"/>
                      <a:pt x="7978140" y="435333"/>
                      <a:pt x="8106410" y="416283"/>
                    </a:cubicBezTo>
                    <a:cubicBezTo>
                      <a:pt x="8225790" y="399773"/>
                      <a:pt x="8333740" y="390883"/>
                      <a:pt x="8453120" y="380723"/>
                    </a:cubicBezTo>
                    <a:cubicBezTo>
                      <a:pt x="8580120" y="369293"/>
                      <a:pt x="8718550" y="354053"/>
                      <a:pt x="8846820" y="351513"/>
                    </a:cubicBezTo>
                    <a:cubicBezTo>
                      <a:pt x="8968740" y="347703"/>
                      <a:pt x="9152890" y="348973"/>
                      <a:pt x="9204960" y="359133"/>
                    </a:cubicBezTo>
                    <a:cubicBezTo>
                      <a:pt x="9221470" y="362943"/>
                      <a:pt x="9226550" y="364213"/>
                      <a:pt x="9234170" y="370563"/>
                    </a:cubicBezTo>
                    <a:cubicBezTo>
                      <a:pt x="9245600" y="379453"/>
                      <a:pt x="9257030" y="394693"/>
                      <a:pt x="9260840" y="408663"/>
                    </a:cubicBezTo>
                    <a:cubicBezTo>
                      <a:pt x="9264650" y="422633"/>
                      <a:pt x="9260840" y="442953"/>
                      <a:pt x="9254490" y="455653"/>
                    </a:cubicBezTo>
                    <a:cubicBezTo>
                      <a:pt x="9250680" y="464543"/>
                      <a:pt x="9246870" y="470893"/>
                      <a:pt x="9234170" y="478513"/>
                    </a:cubicBezTo>
                    <a:cubicBezTo>
                      <a:pt x="9187180" y="502643"/>
                      <a:pt x="8978900" y="514073"/>
                      <a:pt x="8855710" y="524233"/>
                    </a:cubicBezTo>
                    <a:cubicBezTo>
                      <a:pt x="8741410" y="533123"/>
                      <a:pt x="8653780" y="533123"/>
                      <a:pt x="8519160" y="535663"/>
                    </a:cubicBezTo>
                    <a:cubicBezTo>
                      <a:pt x="8321040" y="538203"/>
                      <a:pt x="8030210" y="539473"/>
                      <a:pt x="7781290" y="534393"/>
                    </a:cubicBezTo>
                    <a:cubicBezTo>
                      <a:pt x="7523480" y="528043"/>
                      <a:pt x="7082790" y="515343"/>
                      <a:pt x="6997700" y="498833"/>
                    </a:cubicBezTo>
                    <a:cubicBezTo>
                      <a:pt x="6981190" y="496293"/>
                      <a:pt x="6977380" y="495023"/>
                      <a:pt x="6968490" y="488673"/>
                    </a:cubicBezTo>
                    <a:cubicBezTo>
                      <a:pt x="6957060" y="481053"/>
                      <a:pt x="6945630" y="464543"/>
                      <a:pt x="6940550" y="451843"/>
                    </a:cubicBezTo>
                    <a:cubicBezTo>
                      <a:pt x="6936740" y="441683"/>
                      <a:pt x="6936740" y="431523"/>
                      <a:pt x="6939280" y="421363"/>
                    </a:cubicBezTo>
                    <a:cubicBezTo>
                      <a:pt x="6943090" y="407393"/>
                      <a:pt x="6946900" y="393423"/>
                      <a:pt x="6964680" y="381993"/>
                    </a:cubicBezTo>
                    <a:cubicBezTo>
                      <a:pt x="7006590" y="352783"/>
                      <a:pt x="7155180" y="340083"/>
                      <a:pt x="7251700" y="328653"/>
                    </a:cubicBezTo>
                    <a:cubicBezTo>
                      <a:pt x="7352030" y="315953"/>
                      <a:pt x="7432040" y="313413"/>
                      <a:pt x="7556500" y="308333"/>
                    </a:cubicBezTo>
                    <a:cubicBezTo>
                      <a:pt x="7753350" y="300713"/>
                      <a:pt x="8153400" y="298173"/>
                      <a:pt x="8323580" y="296903"/>
                    </a:cubicBezTo>
                    <a:cubicBezTo>
                      <a:pt x="8407400" y="296903"/>
                      <a:pt x="8451850" y="295633"/>
                      <a:pt x="8511540" y="299443"/>
                    </a:cubicBezTo>
                    <a:cubicBezTo>
                      <a:pt x="8566150" y="303253"/>
                      <a:pt x="8637270" y="303253"/>
                      <a:pt x="8670290" y="318493"/>
                    </a:cubicBezTo>
                    <a:cubicBezTo>
                      <a:pt x="8688070" y="327383"/>
                      <a:pt x="8699500" y="340083"/>
                      <a:pt x="8705850" y="354053"/>
                    </a:cubicBezTo>
                    <a:cubicBezTo>
                      <a:pt x="8712200" y="368023"/>
                      <a:pt x="8713470" y="388343"/>
                      <a:pt x="8709660" y="403583"/>
                    </a:cubicBezTo>
                    <a:cubicBezTo>
                      <a:pt x="8704580" y="418823"/>
                      <a:pt x="8690610" y="435333"/>
                      <a:pt x="8679180" y="444223"/>
                    </a:cubicBezTo>
                    <a:cubicBezTo>
                      <a:pt x="8669020" y="450573"/>
                      <a:pt x="8665210" y="450573"/>
                      <a:pt x="8646160" y="454383"/>
                    </a:cubicBezTo>
                    <a:cubicBezTo>
                      <a:pt x="8535670" y="477243"/>
                      <a:pt x="7678420" y="572493"/>
                      <a:pt x="7467600" y="577573"/>
                    </a:cubicBezTo>
                    <a:cubicBezTo>
                      <a:pt x="7391400" y="578843"/>
                      <a:pt x="7343140" y="582653"/>
                      <a:pt x="7311390" y="567413"/>
                    </a:cubicBezTo>
                    <a:cubicBezTo>
                      <a:pt x="7293610" y="558523"/>
                      <a:pt x="7282180" y="544553"/>
                      <a:pt x="7277100" y="529313"/>
                    </a:cubicBezTo>
                    <a:cubicBezTo>
                      <a:pt x="7272020" y="510263"/>
                      <a:pt x="7273290" y="478513"/>
                      <a:pt x="7284720" y="462003"/>
                    </a:cubicBezTo>
                    <a:cubicBezTo>
                      <a:pt x="7296150" y="445493"/>
                      <a:pt x="7313930" y="437873"/>
                      <a:pt x="7344410" y="430253"/>
                    </a:cubicBezTo>
                    <a:cubicBezTo>
                      <a:pt x="7412990" y="411203"/>
                      <a:pt x="7607300" y="422633"/>
                      <a:pt x="7716520" y="422633"/>
                    </a:cubicBezTo>
                    <a:cubicBezTo>
                      <a:pt x="7801610" y="423903"/>
                      <a:pt x="7862570" y="423903"/>
                      <a:pt x="7943850" y="431523"/>
                    </a:cubicBezTo>
                    <a:cubicBezTo>
                      <a:pt x="8036560" y="439143"/>
                      <a:pt x="8177530" y="439143"/>
                      <a:pt x="8242300" y="473433"/>
                    </a:cubicBezTo>
                    <a:cubicBezTo>
                      <a:pt x="8282940" y="496293"/>
                      <a:pt x="8327390" y="539473"/>
                      <a:pt x="8321040" y="564873"/>
                    </a:cubicBezTo>
                    <a:cubicBezTo>
                      <a:pt x="8313420" y="595353"/>
                      <a:pt x="8233410" y="615673"/>
                      <a:pt x="8140700" y="633453"/>
                    </a:cubicBezTo>
                    <a:cubicBezTo>
                      <a:pt x="7876540" y="684253"/>
                      <a:pt x="6908800" y="672823"/>
                      <a:pt x="6555740" y="655043"/>
                    </a:cubicBezTo>
                    <a:cubicBezTo>
                      <a:pt x="6379210" y="646153"/>
                      <a:pt x="6216650" y="623293"/>
                      <a:pt x="6156960" y="608053"/>
                    </a:cubicBezTo>
                    <a:cubicBezTo>
                      <a:pt x="6139180" y="604243"/>
                      <a:pt x="6134100" y="602973"/>
                      <a:pt x="6123940" y="595353"/>
                    </a:cubicBezTo>
                    <a:cubicBezTo>
                      <a:pt x="6112510" y="586463"/>
                      <a:pt x="6098540" y="568683"/>
                      <a:pt x="6094730" y="553443"/>
                    </a:cubicBezTo>
                    <a:cubicBezTo>
                      <a:pt x="6090920" y="536933"/>
                      <a:pt x="6094730" y="515343"/>
                      <a:pt x="6102350" y="501373"/>
                    </a:cubicBezTo>
                    <a:cubicBezTo>
                      <a:pt x="6109970" y="487403"/>
                      <a:pt x="6121400" y="477243"/>
                      <a:pt x="6140450" y="467083"/>
                    </a:cubicBezTo>
                    <a:cubicBezTo>
                      <a:pt x="6178550" y="448033"/>
                      <a:pt x="6266180" y="437873"/>
                      <a:pt x="6330950" y="427713"/>
                    </a:cubicBezTo>
                    <a:cubicBezTo>
                      <a:pt x="6396990" y="417553"/>
                      <a:pt x="6457950" y="409933"/>
                      <a:pt x="6532880" y="406123"/>
                    </a:cubicBezTo>
                    <a:cubicBezTo>
                      <a:pt x="6625590" y="401043"/>
                      <a:pt x="6758940" y="404853"/>
                      <a:pt x="6842760" y="404853"/>
                    </a:cubicBezTo>
                    <a:cubicBezTo>
                      <a:pt x="6902450" y="406123"/>
                      <a:pt x="6946900" y="404853"/>
                      <a:pt x="6993890" y="409933"/>
                    </a:cubicBezTo>
                    <a:cubicBezTo>
                      <a:pt x="7035800" y="413743"/>
                      <a:pt x="7087870" y="416283"/>
                      <a:pt x="7113270" y="430253"/>
                    </a:cubicBezTo>
                    <a:cubicBezTo>
                      <a:pt x="7128510" y="439143"/>
                      <a:pt x="7138670" y="451843"/>
                      <a:pt x="7145020" y="465813"/>
                    </a:cubicBezTo>
                    <a:cubicBezTo>
                      <a:pt x="7150100" y="478513"/>
                      <a:pt x="7150100" y="498833"/>
                      <a:pt x="7145020" y="512803"/>
                    </a:cubicBezTo>
                    <a:cubicBezTo>
                      <a:pt x="7139940" y="525503"/>
                      <a:pt x="7125970" y="540743"/>
                      <a:pt x="7114540" y="548363"/>
                    </a:cubicBezTo>
                    <a:cubicBezTo>
                      <a:pt x="7104380" y="553443"/>
                      <a:pt x="7100570" y="553443"/>
                      <a:pt x="7084060" y="555983"/>
                    </a:cubicBezTo>
                    <a:cubicBezTo>
                      <a:pt x="6995160" y="568683"/>
                      <a:pt x="6554470" y="572493"/>
                      <a:pt x="6271260" y="576303"/>
                    </a:cubicBezTo>
                    <a:cubicBezTo>
                      <a:pt x="5963920" y="580113"/>
                      <a:pt x="5548630" y="592813"/>
                      <a:pt x="5306060" y="576303"/>
                    </a:cubicBezTo>
                    <a:cubicBezTo>
                      <a:pt x="5157470" y="566143"/>
                      <a:pt x="5001260" y="548363"/>
                      <a:pt x="4950460" y="528043"/>
                    </a:cubicBezTo>
                    <a:cubicBezTo>
                      <a:pt x="4935220" y="521693"/>
                      <a:pt x="4930140" y="516613"/>
                      <a:pt x="4923790" y="507723"/>
                    </a:cubicBezTo>
                    <a:cubicBezTo>
                      <a:pt x="4914900" y="495023"/>
                      <a:pt x="4906010" y="474703"/>
                      <a:pt x="4906010" y="459463"/>
                    </a:cubicBezTo>
                    <a:cubicBezTo>
                      <a:pt x="4907280" y="442953"/>
                      <a:pt x="4917440" y="422633"/>
                      <a:pt x="4926330" y="411203"/>
                    </a:cubicBezTo>
                    <a:cubicBezTo>
                      <a:pt x="4933950" y="402313"/>
                      <a:pt x="4940300" y="398503"/>
                      <a:pt x="4955540" y="393423"/>
                    </a:cubicBezTo>
                    <a:cubicBezTo>
                      <a:pt x="4996180" y="378183"/>
                      <a:pt x="5097780" y="371833"/>
                      <a:pt x="5195570" y="366753"/>
                    </a:cubicBezTo>
                    <a:cubicBezTo>
                      <a:pt x="5344160" y="359133"/>
                      <a:pt x="5629910" y="360403"/>
                      <a:pt x="5763260" y="366753"/>
                    </a:cubicBezTo>
                    <a:cubicBezTo>
                      <a:pt x="5836920" y="369293"/>
                      <a:pt x="5880100" y="371833"/>
                      <a:pt x="5933440" y="380723"/>
                    </a:cubicBezTo>
                    <a:cubicBezTo>
                      <a:pt x="5980430" y="388343"/>
                      <a:pt x="6040120" y="401043"/>
                      <a:pt x="6066790" y="413743"/>
                    </a:cubicBezTo>
                    <a:cubicBezTo>
                      <a:pt x="6079490" y="421363"/>
                      <a:pt x="6085840" y="426443"/>
                      <a:pt x="6090920" y="436603"/>
                    </a:cubicBezTo>
                    <a:cubicBezTo>
                      <a:pt x="6098540" y="448033"/>
                      <a:pt x="6103620" y="469623"/>
                      <a:pt x="6103620" y="484863"/>
                    </a:cubicBezTo>
                    <a:cubicBezTo>
                      <a:pt x="6102350" y="496293"/>
                      <a:pt x="6098540" y="506453"/>
                      <a:pt x="6090920" y="515343"/>
                    </a:cubicBezTo>
                    <a:cubicBezTo>
                      <a:pt x="6083300" y="526773"/>
                      <a:pt x="6073140" y="536933"/>
                      <a:pt x="6050280" y="543283"/>
                    </a:cubicBezTo>
                    <a:cubicBezTo>
                      <a:pt x="5982970" y="564873"/>
                      <a:pt x="5754370" y="539473"/>
                      <a:pt x="5596890" y="543283"/>
                    </a:cubicBezTo>
                    <a:cubicBezTo>
                      <a:pt x="5427980" y="547093"/>
                      <a:pt x="5257800" y="566143"/>
                      <a:pt x="5068570" y="571223"/>
                    </a:cubicBezTo>
                    <a:cubicBezTo>
                      <a:pt x="4852670" y="576303"/>
                      <a:pt x="4462780" y="592813"/>
                      <a:pt x="4370070" y="571223"/>
                    </a:cubicBezTo>
                    <a:cubicBezTo>
                      <a:pt x="4344670" y="564873"/>
                      <a:pt x="4335780" y="559793"/>
                      <a:pt x="4325620" y="548363"/>
                    </a:cubicBezTo>
                    <a:cubicBezTo>
                      <a:pt x="4315460" y="536933"/>
                      <a:pt x="4306570" y="517883"/>
                      <a:pt x="4306570" y="501373"/>
                    </a:cubicBezTo>
                    <a:cubicBezTo>
                      <a:pt x="4306570" y="486133"/>
                      <a:pt x="4314190" y="467083"/>
                      <a:pt x="4324350" y="454383"/>
                    </a:cubicBezTo>
                    <a:cubicBezTo>
                      <a:pt x="4334510" y="441683"/>
                      <a:pt x="4343400" y="439143"/>
                      <a:pt x="4368800" y="428983"/>
                    </a:cubicBezTo>
                    <a:cubicBezTo>
                      <a:pt x="4467860" y="393423"/>
                      <a:pt x="4960620" y="304523"/>
                      <a:pt x="5147310" y="280393"/>
                    </a:cubicBezTo>
                    <a:cubicBezTo>
                      <a:pt x="5251450" y="266423"/>
                      <a:pt x="5325110" y="262613"/>
                      <a:pt x="5391150" y="262613"/>
                    </a:cubicBezTo>
                    <a:cubicBezTo>
                      <a:pt x="5438140" y="262613"/>
                      <a:pt x="5482590" y="260073"/>
                      <a:pt x="5510530" y="271503"/>
                    </a:cubicBezTo>
                    <a:cubicBezTo>
                      <a:pt x="5530850" y="280393"/>
                      <a:pt x="5548630" y="296903"/>
                      <a:pt x="5554980" y="312143"/>
                    </a:cubicBezTo>
                    <a:cubicBezTo>
                      <a:pt x="5560060" y="324843"/>
                      <a:pt x="5558790" y="343893"/>
                      <a:pt x="5553710" y="356593"/>
                    </a:cubicBezTo>
                    <a:cubicBezTo>
                      <a:pt x="5551170" y="366753"/>
                      <a:pt x="5546090" y="374373"/>
                      <a:pt x="5535930" y="381993"/>
                    </a:cubicBezTo>
                    <a:cubicBezTo>
                      <a:pt x="5518150" y="394693"/>
                      <a:pt x="5488940" y="399773"/>
                      <a:pt x="5435600" y="411203"/>
                    </a:cubicBezTo>
                    <a:cubicBezTo>
                      <a:pt x="5253990" y="448033"/>
                      <a:pt x="4552950" y="530583"/>
                      <a:pt x="4212590" y="567413"/>
                    </a:cubicBezTo>
                    <a:cubicBezTo>
                      <a:pt x="3970020" y="594083"/>
                      <a:pt x="3754120" y="613133"/>
                      <a:pt x="3586480" y="625833"/>
                    </a:cubicBezTo>
                    <a:cubicBezTo>
                      <a:pt x="3473450" y="634723"/>
                      <a:pt x="3429000" y="637263"/>
                      <a:pt x="3304540" y="641073"/>
                    </a:cubicBezTo>
                    <a:cubicBezTo>
                      <a:pt x="3061970" y="648693"/>
                      <a:pt x="2503170" y="653773"/>
                      <a:pt x="2235200" y="647423"/>
                    </a:cubicBezTo>
                    <a:cubicBezTo>
                      <a:pt x="2073910" y="643613"/>
                      <a:pt x="1903730" y="651233"/>
                      <a:pt x="1846580" y="627103"/>
                    </a:cubicBezTo>
                    <a:cubicBezTo>
                      <a:pt x="1827530" y="618213"/>
                      <a:pt x="1819910" y="608053"/>
                      <a:pt x="1813560" y="595353"/>
                    </a:cubicBezTo>
                    <a:cubicBezTo>
                      <a:pt x="1807210" y="582653"/>
                      <a:pt x="1807210" y="563603"/>
                      <a:pt x="1809750" y="550903"/>
                    </a:cubicBezTo>
                    <a:cubicBezTo>
                      <a:pt x="1811020" y="539473"/>
                      <a:pt x="1816100" y="530583"/>
                      <a:pt x="1824990" y="522963"/>
                    </a:cubicBezTo>
                    <a:cubicBezTo>
                      <a:pt x="1833880" y="514073"/>
                      <a:pt x="1841500" y="510263"/>
                      <a:pt x="1865630" y="503913"/>
                    </a:cubicBezTo>
                    <a:cubicBezTo>
                      <a:pt x="1992630" y="468353"/>
                      <a:pt x="2781300" y="413743"/>
                      <a:pt x="3130550" y="403583"/>
                    </a:cubicBezTo>
                    <a:cubicBezTo>
                      <a:pt x="3375660" y="395963"/>
                      <a:pt x="3572510" y="402313"/>
                      <a:pt x="3756660" y="412473"/>
                    </a:cubicBezTo>
                    <a:cubicBezTo>
                      <a:pt x="3903980" y="421363"/>
                      <a:pt x="4091940" y="431523"/>
                      <a:pt x="4152900" y="454383"/>
                    </a:cubicBezTo>
                    <a:cubicBezTo>
                      <a:pt x="4173220" y="462003"/>
                      <a:pt x="4180840" y="468353"/>
                      <a:pt x="4189730" y="479783"/>
                    </a:cubicBezTo>
                    <a:cubicBezTo>
                      <a:pt x="4197350" y="491213"/>
                      <a:pt x="4202430" y="508993"/>
                      <a:pt x="4199890" y="522963"/>
                    </a:cubicBezTo>
                    <a:cubicBezTo>
                      <a:pt x="4198620" y="536933"/>
                      <a:pt x="4189730" y="553443"/>
                      <a:pt x="4179570" y="563603"/>
                    </a:cubicBezTo>
                    <a:cubicBezTo>
                      <a:pt x="4169410" y="572493"/>
                      <a:pt x="4160520" y="575033"/>
                      <a:pt x="4137660" y="578843"/>
                    </a:cubicBezTo>
                    <a:cubicBezTo>
                      <a:pt x="4046220" y="596623"/>
                      <a:pt x="3710940" y="575033"/>
                      <a:pt x="3427730" y="580113"/>
                    </a:cubicBezTo>
                    <a:cubicBezTo>
                      <a:pt x="3006090" y="589003"/>
                      <a:pt x="2388870" y="632183"/>
                      <a:pt x="1855470" y="641073"/>
                    </a:cubicBezTo>
                    <a:cubicBezTo>
                      <a:pt x="1303020" y="649963"/>
                      <a:pt x="396240" y="641073"/>
                      <a:pt x="166370" y="634723"/>
                    </a:cubicBezTo>
                    <a:cubicBezTo>
                      <a:pt x="106680" y="633453"/>
                      <a:pt x="81280" y="637263"/>
                      <a:pt x="54610" y="629643"/>
                    </a:cubicBezTo>
                    <a:cubicBezTo>
                      <a:pt x="38100" y="624563"/>
                      <a:pt x="24130" y="619483"/>
                      <a:pt x="15240" y="608053"/>
                    </a:cubicBezTo>
                    <a:cubicBezTo>
                      <a:pt x="5080" y="595353"/>
                      <a:pt x="0" y="566143"/>
                      <a:pt x="2540" y="550903"/>
                    </a:cubicBezTo>
                    <a:cubicBezTo>
                      <a:pt x="3810" y="540743"/>
                      <a:pt x="8890" y="531853"/>
                      <a:pt x="16510" y="525503"/>
                    </a:cubicBezTo>
                    <a:cubicBezTo>
                      <a:pt x="25400" y="516613"/>
                      <a:pt x="31750" y="511533"/>
                      <a:pt x="55880" y="505183"/>
                    </a:cubicBezTo>
                    <a:cubicBezTo>
                      <a:pt x="190500" y="465813"/>
                      <a:pt x="1045210" y="384533"/>
                      <a:pt x="1468120" y="364213"/>
                    </a:cubicBezTo>
                    <a:cubicBezTo>
                      <a:pt x="1813560" y="347703"/>
                      <a:pt x="2146300" y="359133"/>
                      <a:pt x="2410460" y="369293"/>
                    </a:cubicBezTo>
                    <a:cubicBezTo>
                      <a:pt x="2600960" y="375643"/>
                      <a:pt x="2832100" y="385803"/>
                      <a:pt x="2905760" y="403583"/>
                    </a:cubicBezTo>
                    <a:cubicBezTo>
                      <a:pt x="2927350" y="408663"/>
                      <a:pt x="2936240" y="411203"/>
                      <a:pt x="2946400" y="421363"/>
                    </a:cubicBezTo>
                    <a:cubicBezTo>
                      <a:pt x="2956560" y="430253"/>
                      <a:pt x="2964180" y="449303"/>
                      <a:pt x="2966720" y="462003"/>
                    </a:cubicBezTo>
                    <a:cubicBezTo>
                      <a:pt x="2967990" y="472163"/>
                      <a:pt x="2965450" y="482323"/>
                      <a:pt x="2961640" y="491213"/>
                    </a:cubicBezTo>
                    <a:cubicBezTo>
                      <a:pt x="2955290" y="503913"/>
                      <a:pt x="2947670" y="515343"/>
                      <a:pt x="2929890" y="524233"/>
                    </a:cubicBezTo>
                    <a:cubicBezTo>
                      <a:pt x="2894330" y="543283"/>
                      <a:pt x="2807970" y="548363"/>
                      <a:pt x="2736850" y="555983"/>
                    </a:cubicBezTo>
                    <a:cubicBezTo>
                      <a:pt x="2649220" y="564873"/>
                      <a:pt x="2562860" y="569953"/>
                      <a:pt x="2442210" y="573763"/>
                    </a:cubicBezTo>
                    <a:cubicBezTo>
                      <a:pt x="2250440" y="578843"/>
                      <a:pt x="1931670" y="576303"/>
                      <a:pt x="1697990" y="569953"/>
                    </a:cubicBezTo>
                    <a:cubicBezTo>
                      <a:pt x="1490980" y="563603"/>
                      <a:pt x="1304290" y="544553"/>
                      <a:pt x="1111250" y="538203"/>
                    </a:cubicBezTo>
                    <a:cubicBezTo>
                      <a:pt x="922020" y="530583"/>
                      <a:pt x="629920" y="545823"/>
                      <a:pt x="551180" y="526773"/>
                    </a:cubicBezTo>
                    <a:cubicBezTo>
                      <a:pt x="528320" y="521693"/>
                      <a:pt x="519430" y="516613"/>
                      <a:pt x="509270" y="505183"/>
                    </a:cubicBezTo>
                    <a:cubicBezTo>
                      <a:pt x="499110" y="495023"/>
                      <a:pt x="491490" y="477243"/>
                      <a:pt x="491490" y="462003"/>
                    </a:cubicBezTo>
                    <a:cubicBezTo>
                      <a:pt x="491490" y="448033"/>
                      <a:pt x="497840" y="428983"/>
                      <a:pt x="506730" y="417553"/>
                    </a:cubicBezTo>
                    <a:cubicBezTo>
                      <a:pt x="516890" y="407393"/>
                      <a:pt x="525780" y="402313"/>
                      <a:pt x="548640" y="395963"/>
                    </a:cubicBezTo>
                    <a:cubicBezTo>
                      <a:pt x="621030" y="373103"/>
                      <a:pt x="862330" y="357863"/>
                      <a:pt x="1037590" y="348973"/>
                    </a:cubicBezTo>
                    <a:cubicBezTo>
                      <a:pt x="1236980" y="338813"/>
                      <a:pt x="1516380" y="341353"/>
                      <a:pt x="1681480" y="346433"/>
                    </a:cubicBezTo>
                    <a:cubicBezTo>
                      <a:pt x="1785620" y="348973"/>
                      <a:pt x="1849120" y="351513"/>
                      <a:pt x="1934210" y="360403"/>
                    </a:cubicBezTo>
                    <a:cubicBezTo>
                      <a:pt x="2020570" y="370563"/>
                      <a:pt x="2156460" y="387073"/>
                      <a:pt x="2195830" y="403583"/>
                    </a:cubicBezTo>
                    <a:cubicBezTo>
                      <a:pt x="2209800" y="409933"/>
                      <a:pt x="2214880" y="413743"/>
                      <a:pt x="2221230" y="422633"/>
                    </a:cubicBezTo>
                    <a:cubicBezTo>
                      <a:pt x="2228850" y="432793"/>
                      <a:pt x="2236470" y="451843"/>
                      <a:pt x="2236470" y="465813"/>
                    </a:cubicBezTo>
                    <a:cubicBezTo>
                      <a:pt x="2236470" y="481053"/>
                      <a:pt x="2228850" y="498833"/>
                      <a:pt x="2218690" y="508993"/>
                    </a:cubicBezTo>
                    <a:cubicBezTo>
                      <a:pt x="2208530" y="519153"/>
                      <a:pt x="2198370" y="522963"/>
                      <a:pt x="2176780" y="529313"/>
                    </a:cubicBezTo>
                    <a:cubicBezTo>
                      <a:pt x="2109470" y="547093"/>
                      <a:pt x="1912620" y="554713"/>
                      <a:pt x="1744980" y="561063"/>
                    </a:cubicBezTo>
                    <a:cubicBezTo>
                      <a:pt x="1506220" y="569953"/>
                      <a:pt x="1159510" y="569953"/>
                      <a:pt x="881380" y="561063"/>
                    </a:cubicBezTo>
                    <a:cubicBezTo>
                      <a:pt x="622300" y="553443"/>
                      <a:pt x="224790" y="538203"/>
                      <a:pt x="130810" y="516613"/>
                    </a:cubicBezTo>
                    <a:cubicBezTo>
                      <a:pt x="106680" y="510263"/>
                      <a:pt x="99060" y="507723"/>
                      <a:pt x="88900" y="498833"/>
                    </a:cubicBezTo>
                    <a:cubicBezTo>
                      <a:pt x="78740" y="488673"/>
                      <a:pt x="69850" y="472163"/>
                      <a:pt x="68580" y="456923"/>
                    </a:cubicBezTo>
                    <a:cubicBezTo>
                      <a:pt x="68580" y="442953"/>
                      <a:pt x="74930" y="425173"/>
                      <a:pt x="81280" y="413743"/>
                    </a:cubicBezTo>
                    <a:cubicBezTo>
                      <a:pt x="87630" y="404853"/>
                      <a:pt x="93980" y="401043"/>
                      <a:pt x="105410" y="394693"/>
                    </a:cubicBezTo>
                    <a:cubicBezTo>
                      <a:pt x="130810" y="381993"/>
                      <a:pt x="177800" y="374373"/>
                      <a:pt x="236220" y="364213"/>
                    </a:cubicBezTo>
                    <a:cubicBezTo>
                      <a:pt x="344170" y="345163"/>
                      <a:pt x="516890" y="321033"/>
                      <a:pt x="708660" y="309603"/>
                    </a:cubicBezTo>
                    <a:cubicBezTo>
                      <a:pt x="1005840" y="291823"/>
                      <a:pt x="1638300" y="282933"/>
                      <a:pt x="1847850" y="307063"/>
                    </a:cubicBezTo>
                    <a:cubicBezTo>
                      <a:pt x="1930400" y="315953"/>
                      <a:pt x="1985010" y="331193"/>
                      <a:pt x="2016760" y="345163"/>
                    </a:cubicBezTo>
                    <a:cubicBezTo>
                      <a:pt x="2030730" y="351513"/>
                      <a:pt x="2037080" y="356593"/>
                      <a:pt x="2044700" y="364213"/>
                    </a:cubicBezTo>
                    <a:cubicBezTo>
                      <a:pt x="2051050" y="373103"/>
                      <a:pt x="2057400" y="383263"/>
                      <a:pt x="2059940" y="394693"/>
                    </a:cubicBezTo>
                    <a:cubicBezTo>
                      <a:pt x="2062480" y="408663"/>
                      <a:pt x="2061210" y="430253"/>
                      <a:pt x="2052320" y="444223"/>
                    </a:cubicBezTo>
                    <a:cubicBezTo>
                      <a:pt x="2042160" y="460733"/>
                      <a:pt x="2023110" y="473433"/>
                      <a:pt x="1996440" y="482323"/>
                    </a:cubicBezTo>
                    <a:cubicBezTo>
                      <a:pt x="1948180" y="500103"/>
                      <a:pt x="1866900" y="500103"/>
                      <a:pt x="1779270" y="505183"/>
                    </a:cubicBezTo>
                    <a:cubicBezTo>
                      <a:pt x="1647190" y="514073"/>
                      <a:pt x="1433830" y="520423"/>
                      <a:pt x="1280160" y="519153"/>
                    </a:cubicBezTo>
                    <a:cubicBezTo>
                      <a:pt x="1149350" y="516613"/>
                      <a:pt x="1007110" y="514073"/>
                      <a:pt x="915670" y="501373"/>
                    </a:cubicBezTo>
                    <a:cubicBezTo>
                      <a:pt x="859790" y="492483"/>
                      <a:pt x="810260" y="479783"/>
                      <a:pt x="783590" y="468353"/>
                    </a:cubicBezTo>
                    <a:cubicBezTo>
                      <a:pt x="769620" y="462003"/>
                      <a:pt x="762000" y="459463"/>
                      <a:pt x="754380" y="450573"/>
                    </a:cubicBezTo>
                    <a:cubicBezTo>
                      <a:pt x="745490" y="439143"/>
                      <a:pt x="736600" y="418823"/>
                      <a:pt x="734060" y="404853"/>
                    </a:cubicBezTo>
                    <a:cubicBezTo>
                      <a:pt x="732790" y="392153"/>
                      <a:pt x="735330" y="381993"/>
                      <a:pt x="740410" y="371833"/>
                    </a:cubicBezTo>
                    <a:cubicBezTo>
                      <a:pt x="748030" y="359133"/>
                      <a:pt x="758190" y="346433"/>
                      <a:pt x="777240" y="336273"/>
                    </a:cubicBezTo>
                    <a:cubicBezTo>
                      <a:pt x="814070" y="315953"/>
                      <a:pt x="899160" y="304523"/>
                      <a:pt x="966470" y="291823"/>
                    </a:cubicBezTo>
                    <a:cubicBezTo>
                      <a:pt x="1040130" y="279123"/>
                      <a:pt x="1106170" y="267693"/>
                      <a:pt x="1201420" y="261343"/>
                    </a:cubicBezTo>
                    <a:cubicBezTo>
                      <a:pt x="1346200" y="253723"/>
                      <a:pt x="1617980" y="242293"/>
                      <a:pt x="1748790" y="268963"/>
                    </a:cubicBezTo>
                    <a:cubicBezTo>
                      <a:pt x="1828800" y="285473"/>
                      <a:pt x="1903730" y="314683"/>
                      <a:pt x="1931670" y="343893"/>
                    </a:cubicBezTo>
                    <a:cubicBezTo>
                      <a:pt x="1945640" y="357863"/>
                      <a:pt x="1948180" y="374373"/>
                      <a:pt x="1948180" y="389613"/>
                    </a:cubicBezTo>
                    <a:cubicBezTo>
                      <a:pt x="1948180" y="404853"/>
                      <a:pt x="1941830" y="423903"/>
                      <a:pt x="1930400" y="435333"/>
                    </a:cubicBezTo>
                    <a:cubicBezTo>
                      <a:pt x="1915160" y="451843"/>
                      <a:pt x="1892300" y="455653"/>
                      <a:pt x="1855470" y="467083"/>
                    </a:cubicBezTo>
                    <a:cubicBezTo>
                      <a:pt x="1752600" y="498833"/>
                      <a:pt x="1485900" y="548363"/>
                      <a:pt x="1273810" y="582653"/>
                    </a:cubicBezTo>
                    <a:cubicBezTo>
                      <a:pt x="1016000" y="623293"/>
                      <a:pt x="558800" y="681713"/>
                      <a:pt x="419100" y="684253"/>
                    </a:cubicBezTo>
                    <a:cubicBezTo>
                      <a:pt x="374650" y="684253"/>
                      <a:pt x="347980" y="693143"/>
                      <a:pt x="330200" y="676633"/>
                    </a:cubicBezTo>
                    <a:cubicBezTo>
                      <a:pt x="309880" y="657583"/>
                      <a:pt x="299720" y="573763"/>
                      <a:pt x="312420" y="567413"/>
                    </a:cubicBezTo>
                    <a:cubicBezTo>
                      <a:pt x="330200" y="557253"/>
                      <a:pt x="445770" y="677903"/>
                      <a:pt x="483870" y="726163"/>
                    </a:cubicBezTo>
                    <a:cubicBezTo>
                      <a:pt x="508000" y="757913"/>
                      <a:pt x="523240" y="783313"/>
                      <a:pt x="533400" y="815063"/>
                    </a:cubicBezTo>
                    <a:cubicBezTo>
                      <a:pt x="542290" y="846813"/>
                      <a:pt x="549910" y="886183"/>
                      <a:pt x="539750" y="914123"/>
                    </a:cubicBezTo>
                    <a:cubicBezTo>
                      <a:pt x="529590" y="940793"/>
                      <a:pt x="502920" y="971273"/>
                      <a:pt x="476250" y="977623"/>
                    </a:cubicBezTo>
                    <a:cubicBezTo>
                      <a:pt x="443230" y="985243"/>
                      <a:pt x="378460" y="957303"/>
                      <a:pt x="347980" y="930633"/>
                    </a:cubicBezTo>
                    <a:cubicBezTo>
                      <a:pt x="322580" y="906503"/>
                      <a:pt x="318770" y="881103"/>
                      <a:pt x="300990" y="832843"/>
                    </a:cubicBezTo>
                    <a:cubicBezTo>
                      <a:pt x="259080" y="716003"/>
                      <a:pt x="166370" y="348973"/>
                      <a:pt x="142240" y="213083"/>
                    </a:cubicBezTo>
                    <a:cubicBezTo>
                      <a:pt x="130810" y="149583"/>
                      <a:pt x="119380" y="105133"/>
                      <a:pt x="127000" y="68303"/>
                    </a:cubicBezTo>
                    <a:cubicBezTo>
                      <a:pt x="132080" y="42903"/>
                      <a:pt x="144780" y="20043"/>
                      <a:pt x="161290" y="9883"/>
                    </a:cubicBezTo>
                    <a:cubicBezTo>
                      <a:pt x="179070" y="-1547"/>
                      <a:pt x="212090" y="-2817"/>
                      <a:pt x="229870" y="4803"/>
                    </a:cubicBezTo>
                    <a:cubicBezTo>
                      <a:pt x="248920" y="12423"/>
                      <a:pt x="260350" y="28933"/>
                      <a:pt x="273050" y="58143"/>
                    </a:cubicBezTo>
                    <a:cubicBezTo>
                      <a:pt x="306070" y="134343"/>
                      <a:pt x="314960" y="383263"/>
                      <a:pt x="339090" y="520423"/>
                    </a:cubicBezTo>
                    <a:cubicBezTo>
                      <a:pt x="358140" y="632183"/>
                      <a:pt x="388620" y="741403"/>
                      <a:pt x="400050" y="822683"/>
                    </a:cubicBezTo>
                    <a:cubicBezTo>
                      <a:pt x="406400" y="876023"/>
                      <a:pt x="417830" y="925553"/>
                      <a:pt x="407670" y="956033"/>
                    </a:cubicBezTo>
                    <a:cubicBezTo>
                      <a:pt x="402590" y="976353"/>
                      <a:pt x="389890" y="990323"/>
                      <a:pt x="375920" y="999213"/>
                    </a:cubicBezTo>
                    <a:cubicBezTo>
                      <a:pt x="361950" y="1008103"/>
                      <a:pt x="340360" y="1014453"/>
                      <a:pt x="323850" y="1010643"/>
                    </a:cubicBezTo>
                    <a:cubicBezTo>
                      <a:pt x="303530" y="1006833"/>
                      <a:pt x="281940" y="990323"/>
                      <a:pt x="266700" y="968733"/>
                    </a:cubicBezTo>
                    <a:cubicBezTo>
                      <a:pt x="243840" y="934443"/>
                      <a:pt x="219710" y="845543"/>
                      <a:pt x="220980" y="808713"/>
                    </a:cubicBezTo>
                    <a:cubicBezTo>
                      <a:pt x="222250" y="788393"/>
                      <a:pt x="229870" y="773153"/>
                      <a:pt x="241300" y="761723"/>
                    </a:cubicBezTo>
                    <a:cubicBezTo>
                      <a:pt x="252730" y="750293"/>
                      <a:pt x="271780" y="741403"/>
                      <a:pt x="288290" y="740133"/>
                    </a:cubicBezTo>
                    <a:cubicBezTo>
                      <a:pt x="303530" y="738863"/>
                      <a:pt x="323850" y="743943"/>
                      <a:pt x="336550" y="754103"/>
                    </a:cubicBezTo>
                    <a:cubicBezTo>
                      <a:pt x="350520" y="762993"/>
                      <a:pt x="356870" y="770613"/>
                      <a:pt x="365760" y="796013"/>
                    </a:cubicBezTo>
                    <a:cubicBezTo>
                      <a:pt x="411480" y="925553"/>
                      <a:pt x="509270" y="1921233"/>
                      <a:pt x="483870" y="2066013"/>
                    </a:cubicBezTo>
                    <a:cubicBezTo>
                      <a:pt x="478790" y="2096493"/>
                      <a:pt x="472440" y="2109193"/>
                      <a:pt x="458470" y="2120623"/>
                    </a:cubicBezTo>
                    <a:cubicBezTo>
                      <a:pt x="444500" y="2132053"/>
                      <a:pt x="416560" y="2134593"/>
                      <a:pt x="398780" y="2130783"/>
                    </a:cubicBezTo>
                    <a:cubicBezTo>
                      <a:pt x="384810" y="2126973"/>
                      <a:pt x="373380" y="2115543"/>
                      <a:pt x="363220" y="2101573"/>
                    </a:cubicBezTo>
                    <a:cubicBezTo>
                      <a:pt x="350520" y="2085063"/>
                      <a:pt x="347980" y="2071093"/>
                      <a:pt x="337820" y="2030453"/>
                    </a:cubicBezTo>
                    <a:cubicBezTo>
                      <a:pt x="284480" y="1831063"/>
                      <a:pt x="8890" y="383263"/>
                      <a:pt x="30480" y="225783"/>
                    </a:cubicBezTo>
                    <a:cubicBezTo>
                      <a:pt x="34290" y="200383"/>
                      <a:pt x="39370" y="194033"/>
                      <a:pt x="49530" y="183873"/>
                    </a:cubicBezTo>
                    <a:cubicBezTo>
                      <a:pt x="59690" y="173713"/>
                      <a:pt x="77470" y="166093"/>
                      <a:pt x="91440" y="166093"/>
                    </a:cubicBezTo>
                    <a:cubicBezTo>
                      <a:pt x="105410" y="164823"/>
                      <a:pt x="124460" y="171173"/>
                      <a:pt x="134620" y="180063"/>
                    </a:cubicBezTo>
                    <a:cubicBezTo>
                      <a:pt x="146050" y="188953"/>
                      <a:pt x="149860" y="195303"/>
                      <a:pt x="158750" y="219433"/>
                    </a:cubicBezTo>
                    <a:cubicBezTo>
                      <a:pt x="198120" y="340083"/>
                      <a:pt x="256540" y="1052553"/>
                      <a:pt x="290830" y="1403073"/>
                    </a:cubicBezTo>
                    <a:cubicBezTo>
                      <a:pt x="317500" y="1682473"/>
                      <a:pt x="322580" y="1942823"/>
                      <a:pt x="350520" y="2156183"/>
                    </a:cubicBezTo>
                    <a:cubicBezTo>
                      <a:pt x="370840" y="2317473"/>
                      <a:pt x="431800" y="2502893"/>
                      <a:pt x="424180" y="2576553"/>
                    </a:cubicBezTo>
                    <a:cubicBezTo>
                      <a:pt x="421640" y="2603223"/>
                      <a:pt x="416560" y="2617193"/>
                      <a:pt x="403860" y="2629893"/>
                    </a:cubicBezTo>
                    <a:cubicBezTo>
                      <a:pt x="392430" y="2643863"/>
                      <a:pt x="370840" y="2655293"/>
                      <a:pt x="353060" y="2656563"/>
                    </a:cubicBezTo>
                    <a:cubicBezTo>
                      <a:pt x="335280" y="2659103"/>
                      <a:pt x="312420" y="2652753"/>
                      <a:pt x="298450" y="2642593"/>
                    </a:cubicBezTo>
                    <a:cubicBezTo>
                      <a:pt x="283210" y="2632433"/>
                      <a:pt x="274320" y="2622273"/>
                      <a:pt x="265430" y="2595603"/>
                    </a:cubicBezTo>
                    <a:cubicBezTo>
                      <a:pt x="237490" y="2505433"/>
                      <a:pt x="238760" y="2038073"/>
                      <a:pt x="266700" y="1949173"/>
                    </a:cubicBezTo>
                    <a:cubicBezTo>
                      <a:pt x="274320" y="1922503"/>
                      <a:pt x="284480" y="1912343"/>
                      <a:pt x="298450" y="1902183"/>
                    </a:cubicBezTo>
                    <a:cubicBezTo>
                      <a:pt x="312420" y="1892023"/>
                      <a:pt x="336550" y="1886943"/>
                      <a:pt x="353060" y="1888213"/>
                    </a:cubicBezTo>
                    <a:cubicBezTo>
                      <a:pt x="370840" y="1890753"/>
                      <a:pt x="392430" y="1902183"/>
                      <a:pt x="403860" y="1914883"/>
                    </a:cubicBezTo>
                    <a:cubicBezTo>
                      <a:pt x="415290" y="1927583"/>
                      <a:pt x="419100" y="1939013"/>
                      <a:pt x="424180" y="1968223"/>
                    </a:cubicBezTo>
                    <a:cubicBezTo>
                      <a:pt x="441960" y="2067283"/>
                      <a:pt x="406400" y="2539723"/>
                      <a:pt x="419100" y="2667993"/>
                    </a:cubicBezTo>
                    <a:cubicBezTo>
                      <a:pt x="424180" y="2717523"/>
                      <a:pt x="444500" y="2744193"/>
                      <a:pt x="439420" y="2769593"/>
                    </a:cubicBezTo>
                    <a:cubicBezTo>
                      <a:pt x="435610" y="2787373"/>
                      <a:pt x="422910" y="2802613"/>
                      <a:pt x="410210" y="2811503"/>
                    </a:cubicBezTo>
                    <a:cubicBezTo>
                      <a:pt x="397510" y="2820393"/>
                      <a:pt x="375920" y="2824203"/>
                      <a:pt x="361950" y="2822933"/>
                    </a:cubicBezTo>
                    <a:cubicBezTo>
                      <a:pt x="350520" y="2822933"/>
                      <a:pt x="339090" y="2817853"/>
                      <a:pt x="330200" y="2811503"/>
                    </a:cubicBezTo>
                    <a:cubicBezTo>
                      <a:pt x="318770" y="2802613"/>
                      <a:pt x="309880" y="2794993"/>
                      <a:pt x="302260" y="2769593"/>
                    </a:cubicBezTo>
                    <a:cubicBezTo>
                      <a:pt x="265430" y="2652753"/>
                      <a:pt x="257810" y="1789153"/>
                      <a:pt x="295910" y="1667233"/>
                    </a:cubicBezTo>
                    <a:cubicBezTo>
                      <a:pt x="303530" y="1639293"/>
                      <a:pt x="312420" y="1631673"/>
                      <a:pt x="326390" y="1621513"/>
                    </a:cubicBezTo>
                    <a:cubicBezTo>
                      <a:pt x="340360" y="1612623"/>
                      <a:pt x="363220" y="1606273"/>
                      <a:pt x="379730" y="1608813"/>
                    </a:cubicBezTo>
                    <a:cubicBezTo>
                      <a:pt x="396240" y="1611353"/>
                      <a:pt x="416560" y="1621513"/>
                      <a:pt x="427990" y="1634213"/>
                    </a:cubicBezTo>
                    <a:cubicBezTo>
                      <a:pt x="439420" y="1646913"/>
                      <a:pt x="443230" y="1657073"/>
                      <a:pt x="448310" y="1685013"/>
                    </a:cubicBezTo>
                    <a:cubicBezTo>
                      <a:pt x="467360" y="1790423"/>
                      <a:pt x="481330" y="2355572"/>
                      <a:pt x="443230" y="2460983"/>
                    </a:cubicBezTo>
                    <a:cubicBezTo>
                      <a:pt x="431800" y="2492733"/>
                      <a:pt x="417830" y="2506703"/>
                      <a:pt x="398780" y="2514322"/>
                    </a:cubicBezTo>
                    <a:cubicBezTo>
                      <a:pt x="379730" y="2521943"/>
                      <a:pt x="346710" y="2519403"/>
                      <a:pt x="330200" y="2507972"/>
                    </a:cubicBezTo>
                    <a:cubicBezTo>
                      <a:pt x="312420" y="2496543"/>
                      <a:pt x="304800" y="2478763"/>
                      <a:pt x="295910" y="2448283"/>
                    </a:cubicBezTo>
                    <a:cubicBezTo>
                      <a:pt x="273050" y="2374622"/>
                      <a:pt x="288290" y="2185393"/>
                      <a:pt x="273050" y="2044422"/>
                    </a:cubicBezTo>
                    <a:cubicBezTo>
                      <a:pt x="255270" y="1886943"/>
                      <a:pt x="175260" y="1620243"/>
                      <a:pt x="190500" y="1545313"/>
                    </a:cubicBezTo>
                    <a:cubicBezTo>
                      <a:pt x="195580" y="1522453"/>
                      <a:pt x="204470" y="1512293"/>
                      <a:pt x="217170" y="1502133"/>
                    </a:cubicBezTo>
                    <a:cubicBezTo>
                      <a:pt x="229870" y="1491973"/>
                      <a:pt x="250190" y="1485623"/>
                      <a:pt x="266700" y="1486893"/>
                    </a:cubicBezTo>
                    <a:cubicBezTo>
                      <a:pt x="281940" y="1488163"/>
                      <a:pt x="302260" y="1497053"/>
                      <a:pt x="312420" y="1508483"/>
                    </a:cubicBezTo>
                    <a:cubicBezTo>
                      <a:pt x="323850" y="1519913"/>
                      <a:pt x="328930" y="1530073"/>
                      <a:pt x="334010" y="1555473"/>
                    </a:cubicBezTo>
                    <a:cubicBezTo>
                      <a:pt x="350520" y="1646913"/>
                      <a:pt x="297180" y="1989813"/>
                      <a:pt x="293370" y="2210793"/>
                    </a:cubicBezTo>
                    <a:cubicBezTo>
                      <a:pt x="288290" y="2435583"/>
                      <a:pt x="326390" y="2800073"/>
                      <a:pt x="307340" y="2894053"/>
                    </a:cubicBezTo>
                    <a:cubicBezTo>
                      <a:pt x="302260" y="2919453"/>
                      <a:pt x="297180" y="2929613"/>
                      <a:pt x="285750" y="2941043"/>
                    </a:cubicBezTo>
                    <a:cubicBezTo>
                      <a:pt x="274320" y="2952472"/>
                      <a:pt x="255270" y="2961363"/>
                      <a:pt x="240030" y="2961363"/>
                    </a:cubicBezTo>
                    <a:cubicBezTo>
                      <a:pt x="223520" y="2962633"/>
                      <a:pt x="203200" y="2957553"/>
                      <a:pt x="190500" y="2947393"/>
                    </a:cubicBezTo>
                    <a:cubicBezTo>
                      <a:pt x="176530" y="2935963"/>
                      <a:pt x="168910" y="2923263"/>
                      <a:pt x="161290" y="2894053"/>
                    </a:cubicBezTo>
                    <a:cubicBezTo>
                      <a:pt x="129540" y="2773403"/>
                      <a:pt x="157480" y="2154913"/>
                      <a:pt x="148590" y="1944093"/>
                    </a:cubicBezTo>
                    <a:cubicBezTo>
                      <a:pt x="143510" y="1838683"/>
                      <a:pt x="125730" y="1754862"/>
                      <a:pt x="132080" y="1706603"/>
                    </a:cubicBezTo>
                    <a:cubicBezTo>
                      <a:pt x="134620" y="1685012"/>
                      <a:pt x="138430" y="1672312"/>
                      <a:pt x="148590" y="1660883"/>
                    </a:cubicBezTo>
                    <a:cubicBezTo>
                      <a:pt x="158750" y="1649453"/>
                      <a:pt x="177800" y="1640562"/>
                      <a:pt x="191770" y="1636753"/>
                    </a:cubicBezTo>
                    <a:cubicBezTo>
                      <a:pt x="203200" y="1635483"/>
                      <a:pt x="213360" y="1636753"/>
                      <a:pt x="224790" y="1640562"/>
                    </a:cubicBezTo>
                    <a:cubicBezTo>
                      <a:pt x="237490" y="1645643"/>
                      <a:pt x="251460" y="1655803"/>
                      <a:pt x="261620" y="1672312"/>
                    </a:cubicBezTo>
                    <a:cubicBezTo>
                      <a:pt x="280670" y="1704062"/>
                      <a:pt x="285750" y="1780262"/>
                      <a:pt x="292100" y="1837412"/>
                    </a:cubicBezTo>
                    <a:cubicBezTo>
                      <a:pt x="298450" y="1898372"/>
                      <a:pt x="297180" y="1935203"/>
                      <a:pt x="299720" y="2024103"/>
                    </a:cubicBezTo>
                    <a:cubicBezTo>
                      <a:pt x="304800" y="2257783"/>
                      <a:pt x="293370" y="2925803"/>
                      <a:pt x="307340" y="3276323"/>
                    </a:cubicBezTo>
                    <a:cubicBezTo>
                      <a:pt x="318770" y="3530323"/>
                      <a:pt x="372110" y="3841473"/>
                      <a:pt x="359410" y="3931642"/>
                    </a:cubicBezTo>
                    <a:cubicBezTo>
                      <a:pt x="355600" y="3957042"/>
                      <a:pt x="351790" y="3965933"/>
                      <a:pt x="341630" y="3977362"/>
                    </a:cubicBezTo>
                    <a:cubicBezTo>
                      <a:pt x="331470" y="3988792"/>
                      <a:pt x="313690" y="3998953"/>
                      <a:pt x="298450" y="4000222"/>
                    </a:cubicBezTo>
                    <a:cubicBezTo>
                      <a:pt x="284480" y="4002762"/>
                      <a:pt x="264160" y="3997683"/>
                      <a:pt x="251460" y="3988792"/>
                    </a:cubicBezTo>
                    <a:cubicBezTo>
                      <a:pt x="238760" y="3979903"/>
                      <a:pt x="231140" y="3973553"/>
                      <a:pt x="223520" y="3948153"/>
                    </a:cubicBezTo>
                    <a:cubicBezTo>
                      <a:pt x="182880" y="3817342"/>
                      <a:pt x="171450" y="2754352"/>
                      <a:pt x="210820" y="2605762"/>
                    </a:cubicBezTo>
                    <a:cubicBezTo>
                      <a:pt x="219710" y="2574012"/>
                      <a:pt x="228600" y="2561312"/>
                      <a:pt x="243840" y="2551153"/>
                    </a:cubicBezTo>
                    <a:cubicBezTo>
                      <a:pt x="260350" y="2540993"/>
                      <a:pt x="290830" y="2540993"/>
                      <a:pt x="307340" y="2547343"/>
                    </a:cubicBezTo>
                    <a:cubicBezTo>
                      <a:pt x="322580" y="2552422"/>
                      <a:pt x="334010" y="2565122"/>
                      <a:pt x="341630" y="2581633"/>
                    </a:cubicBezTo>
                    <a:cubicBezTo>
                      <a:pt x="353060" y="2603222"/>
                      <a:pt x="353060" y="2627353"/>
                      <a:pt x="356870" y="2674343"/>
                    </a:cubicBezTo>
                    <a:cubicBezTo>
                      <a:pt x="367030" y="2810233"/>
                      <a:pt x="346710" y="3211553"/>
                      <a:pt x="350520" y="3469362"/>
                    </a:cubicBezTo>
                    <a:cubicBezTo>
                      <a:pt x="355600" y="3713203"/>
                      <a:pt x="374650" y="3940533"/>
                      <a:pt x="381000" y="4183103"/>
                    </a:cubicBezTo>
                    <a:cubicBezTo>
                      <a:pt x="387350" y="4434562"/>
                      <a:pt x="405130" y="4854933"/>
                      <a:pt x="387350" y="4955262"/>
                    </a:cubicBezTo>
                    <a:cubicBezTo>
                      <a:pt x="382270" y="4980662"/>
                      <a:pt x="381000" y="4989553"/>
                      <a:pt x="369570" y="5000983"/>
                    </a:cubicBezTo>
                    <a:cubicBezTo>
                      <a:pt x="356870" y="5013683"/>
                      <a:pt x="327660" y="5025112"/>
                      <a:pt x="308610" y="5023842"/>
                    </a:cubicBezTo>
                    <a:cubicBezTo>
                      <a:pt x="293370" y="5023842"/>
                      <a:pt x="275590" y="5012412"/>
                      <a:pt x="265430" y="5000983"/>
                    </a:cubicBezTo>
                    <a:cubicBezTo>
                      <a:pt x="255270" y="4989553"/>
                      <a:pt x="252730" y="4980662"/>
                      <a:pt x="247650" y="4955262"/>
                    </a:cubicBezTo>
                    <a:cubicBezTo>
                      <a:pt x="226060" y="4839692"/>
                      <a:pt x="260350" y="4263112"/>
                      <a:pt x="243840" y="3978633"/>
                    </a:cubicBezTo>
                    <a:cubicBezTo>
                      <a:pt x="231140" y="3755112"/>
                      <a:pt x="157480" y="3470633"/>
                      <a:pt x="176530" y="3385542"/>
                    </a:cubicBezTo>
                    <a:cubicBezTo>
                      <a:pt x="181610" y="3358872"/>
                      <a:pt x="190500" y="3348712"/>
                      <a:pt x="204470" y="3338553"/>
                    </a:cubicBezTo>
                    <a:cubicBezTo>
                      <a:pt x="217170" y="3327122"/>
                      <a:pt x="238760" y="3320772"/>
                      <a:pt x="256540" y="3322042"/>
                    </a:cubicBezTo>
                    <a:cubicBezTo>
                      <a:pt x="273050" y="3323312"/>
                      <a:pt x="294640" y="3333472"/>
                      <a:pt x="306070" y="3343633"/>
                    </a:cubicBezTo>
                    <a:cubicBezTo>
                      <a:pt x="316230" y="3352522"/>
                      <a:pt x="320040" y="3357603"/>
                      <a:pt x="325120" y="3375383"/>
                    </a:cubicBezTo>
                    <a:cubicBezTo>
                      <a:pt x="344170" y="3435072"/>
                      <a:pt x="335280" y="3656053"/>
                      <a:pt x="349250" y="3790672"/>
                    </a:cubicBezTo>
                    <a:cubicBezTo>
                      <a:pt x="361950" y="3917672"/>
                      <a:pt x="411480" y="4095472"/>
                      <a:pt x="403860" y="4160242"/>
                    </a:cubicBezTo>
                    <a:cubicBezTo>
                      <a:pt x="402590" y="4185642"/>
                      <a:pt x="397510" y="4198342"/>
                      <a:pt x="386080" y="4209772"/>
                    </a:cubicBezTo>
                    <a:cubicBezTo>
                      <a:pt x="375920" y="4222472"/>
                      <a:pt x="356870" y="4232633"/>
                      <a:pt x="340360" y="4235172"/>
                    </a:cubicBezTo>
                    <a:cubicBezTo>
                      <a:pt x="323850" y="4237712"/>
                      <a:pt x="302260" y="4232633"/>
                      <a:pt x="289560" y="4223742"/>
                    </a:cubicBezTo>
                    <a:cubicBezTo>
                      <a:pt x="275590" y="4214853"/>
                      <a:pt x="266700" y="4205962"/>
                      <a:pt x="259080" y="4180562"/>
                    </a:cubicBezTo>
                    <a:cubicBezTo>
                      <a:pt x="226060" y="4087853"/>
                      <a:pt x="247650" y="3653512"/>
                      <a:pt x="223520" y="3451583"/>
                    </a:cubicBezTo>
                    <a:cubicBezTo>
                      <a:pt x="205740" y="3306803"/>
                      <a:pt x="139700" y="3146783"/>
                      <a:pt x="151130" y="3079472"/>
                    </a:cubicBezTo>
                    <a:cubicBezTo>
                      <a:pt x="156210" y="3051533"/>
                      <a:pt x="167640" y="3035022"/>
                      <a:pt x="181610" y="3024862"/>
                    </a:cubicBezTo>
                    <a:cubicBezTo>
                      <a:pt x="194310" y="3015972"/>
                      <a:pt x="214630" y="3013433"/>
                      <a:pt x="228600" y="3015972"/>
                    </a:cubicBezTo>
                    <a:cubicBezTo>
                      <a:pt x="243840" y="3018512"/>
                      <a:pt x="260350" y="3027402"/>
                      <a:pt x="269240" y="3038833"/>
                    </a:cubicBezTo>
                    <a:cubicBezTo>
                      <a:pt x="279400" y="3050262"/>
                      <a:pt x="283210" y="3062962"/>
                      <a:pt x="284480" y="3084552"/>
                    </a:cubicBezTo>
                    <a:cubicBezTo>
                      <a:pt x="289560" y="3127733"/>
                      <a:pt x="265430" y="3195042"/>
                      <a:pt x="257810" y="3291562"/>
                    </a:cubicBezTo>
                    <a:cubicBezTo>
                      <a:pt x="242570" y="3506192"/>
                      <a:pt x="236220" y="4051022"/>
                      <a:pt x="238760" y="4338042"/>
                    </a:cubicBezTo>
                    <a:cubicBezTo>
                      <a:pt x="240030" y="4539972"/>
                      <a:pt x="270510" y="4772383"/>
                      <a:pt x="256540" y="4852392"/>
                    </a:cubicBezTo>
                    <a:cubicBezTo>
                      <a:pt x="252730" y="4877792"/>
                      <a:pt x="248920" y="4887953"/>
                      <a:pt x="238760" y="4900653"/>
                    </a:cubicBezTo>
                    <a:cubicBezTo>
                      <a:pt x="228600" y="4912083"/>
                      <a:pt x="209550" y="4922242"/>
                      <a:pt x="193040" y="4924783"/>
                    </a:cubicBezTo>
                    <a:cubicBezTo>
                      <a:pt x="176530" y="4926053"/>
                      <a:pt x="156210" y="4922242"/>
                      <a:pt x="143510" y="4912083"/>
                    </a:cubicBezTo>
                    <a:cubicBezTo>
                      <a:pt x="128270" y="4900653"/>
                      <a:pt x="119380" y="4882872"/>
                      <a:pt x="111760" y="4852392"/>
                    </a:cubicBezTo>
                    <a:cubicBezTo>
                      <a:pt x="91440" y="4772383"/>
                      <a:pt x="115570" y="4555212"/>
                      <a:pt x="113030" y="4393923"/>
                    </a:cubicBezTo>
                    <a:cubicBezTo>
                      <a:pt x="109220" y="4212312"/>
                      <a:pt x="73660" y="3902433"/>
                      <a:pt x="87630" y="3817342"/>
                    </a:cubicBezTo>
                    <a:cubicBezTo>
                      <a:pt x="91440" y="3793212"/>
                      <a:pt x="95250" y="3783053"/>
                      <a:pt x="105410" y="3771622"/>
                    </a:cubicBezTo>
                    <a:cubicBezTo>
                      <a:pt x="115570" y="3760192"/>
                      <a:pt x="133350" y="3750033"/>
                      <a:pt x="148590" y="3748762"/>
                    </a:cubicBezTo>
                    <a:cubicBezTo>
                      <a:pt x="165100" y="3746222"/>
                      <a:pt x="184150" y="3751303"/>
                      <a:pt x="196850" y="3760192"/>
                    </a:cubicBezTo>
                    <a:cubicBezTo>
                      <a:pt x="209550" y="3769083"/>
                      <a:pt x="218440" y="3777972"/>
                      <a:pt x="226060" y="3800833"/>
                    </a:cubicBezTo>
                    <a:cubicBezTo>
                      <a:pt x="250190" y="3882112"/>
                      <a:pt x="218440" y="4175483"/>
                      <a:pt x="219710" y="4395192"/>
                    </a:cubicBezTo>
                    <a:cubicBezTo>
                      <a:pt x="222250" y="4668242"/>
                      <a:pt x="229870" y="5058133"/>
                      <a:pt x="243840" y="5313403"/>
                    </a:cubicBezTo>
                    <a:cubicBezTo>
                      <a:pt x="254000" y="5498823"/>
                      <a:pt x="262890" y="5702023"/>
                      <a:pt x="284480" y="5790922"/>
                    </a:cubicBezTo>
                    <a:cubicBezTo>
                      <a:pt x="293370" y="5829022"/>
                      <a:pt x="316230" y="5844262"/>
                      <a:pt x="314960" y="5867122"/>
                    </a:cubicBezTo>
                    <a:cubicBezTo>
                      <a:pt x="314960" y="5884903"/>
                      <a:pt x="306070" y="5902683"/>
                      <a:pt x="294640" y="5914112"/>
                    </a:cubicBezTo>
                    <a:cubicBezTo>
                      <a:pt x="284480" y="5924272"/>
                      <a:pt x="264160" y="5933162"/>
                      <a:pt x="248920" y="5934433"/>
                    </a:cubicBezTo>
                    <a:cubicBezTo>
                      <a:pt x="232410" y="5935703"/>
                      <a:pt x="212090" y="5929353"/>
                      <a:pt x="199390" y="5920462"/>
                    </a:cubicBezTo>
                    <a:cubicBezTo>
                      <a:pt x="187960" y="5910303"/>
                      <a:pt x="177800" y="5898872"/>
                      <a:pt x="172720" y="5877283"/>
                    </a:cubicBezTo>
                    <a:cubicBezTo>
                      <a:pt x="161290" y="5821403"/>
                      <a:pt x="207010" y="5669003"/>
                      <a:pt x="219710" y="5562323"/>
                    </a:cubicBezTo>
                    <a:cubicBezTo>
                      <a:pt x="232410" y="5451833"/>
                      <a:pt x="245110" y="5343883"/>
                      <a:pt x="248920" y="5223233"/>
                    </a:cubicBezTo>
                    <a:cubicBezTo>
                      <a:pt x="254000" y="5083533"/>
                      <a:pt x="248920" y="4901923"/>
                      <a:pt x="238760" y="4771112"/>
                    </a:cubicBezTo>
                    <a:cubicBezTo>
                      <a:pt x="232410" y="4670783"/>
                      <a:pt x="196850" y="4555212"/>
                      <a:pt x="208280" y="4505683"/>
                    </a:cubicBezTo>
                    <a:cubicBezTo>
                      <a:pt x="213360" y="4485362"/>
                      <a:pt x="223520" y="4475203"/>
                      <a:pt x="234950" y="4466312"/>
                    </a:cubicBezTo>
                    <a:cubicBezTo>
                      <a:pt x="247650" y="4457423"/>
                      <a:pt x="266700" y="4452342"/>
                      <a:pt x="281940" y="4453612"/>
                    </a:cubicBezTo>
                    <a:cubicBezTo>
                      <a:pt x="295910" y="4456153"/>
                      <a:pt x="313690" y="4465042"/>
                      <a:pt x="323850" y="4475203"/>
                    </a:cubicBezTo>
                    <a:cubicBezTo>
                      <a:pt x="334010" y="4486633"/>
                      <a:pt x="340360" y="4500603"/>
                      <a:pt x="341630" y="4519653"/>
                    </a:cubicBezTo>
                    <a:cubicBezTo>
                      <a:pt x="346710" y="4559023"/>
                      <a:pt x="320040" y="4617442"/>
                      <a:pt x="313690" y="4698723"/>
                    </a:cubicBezTo>
                    <a:cubicBezTo>
                      <a:pt x="298450" y="4870173"/>
                      <a:pt x="312420" y="5216883"/>
                      <a:pt x="302260" y="5508983"/>
                    </a:cubicBezTo>
                    <a:cubicBezTo>
                      <a:pt x="288290" y="5851883"/>
                      <a:pt x="241300" y="6396712"/>
                      <a:pt x="232410" y="6626583"/>
                    </a:cubicBezTo>
                    <a:cubicBezTo>
                      <a:pt x="228600" y="6728183"/>
                      <a:pt x="240030" y="6800573"/>
                      <a:pt x="231140" y="6847563"/>
                    </a:cubicBezTo>
                    <a:cubicBezTo>
                      <a:pt x="226060" y="6869152"/>
                      <a:pt x="222250" y="6883123"/>
                      <a:pt x="210820" y="6895823"/>
                    </a:cubicBezTo>
                    <a:cubicBezTo>
                      <a:pt x="200660" y="6907252"/>
                      <a:pt x="180340" y="6916142"/>
                      <a:pt x="165100" y="6918683"/>
                    </a:cubicBezTo>
                    <a:cubicBezTo>
                      <a:pt x="148590" y="6919952"/>
                      <a:pt x="128270" y="6914873"/>
                      <a:pt x="114300" y="6904713"/>
                    </a:cubicBezTo>
                    <a:cubicBezTo>
                      <a:pt x="100330" y="6892013"/>
                      <a:pt x="90170" y="6876773"/>
                      <a:pt x="85090" y="6843752"/>
                    </a:cubicBezTo>
                    <a:cubicBezTo>
                      <a:pt x="63500" y="6718023"/>
                      <a:pt x="175260" y="6135092"/>
                      <a:pt x="191770" y="5903953"/>
                    </a:cubicBezTo>
                    <a:cubicBezTo>
                      <a:pt x="201930" y="5770603"/>
                      <a:pt x="186690" y="5653762"/>
                      <a:pt x="200660" y="5586453"/>
                    </a:cubicBezTo>
                    <a:cubicBezTo>
                      <a:pt x="208280" y="5552162"/>
                      <a:pt x="233680" y="5536923"/>
                      <a:pt x="229870" y="5512792"/>
                    </a:cubicBezTo>
                    <a:cubicBezTo>
                      <a:pt x="227330" y="5488662"/>
                      <a:pt x="180340" y="5461992"/>
                      <a:pt x="176530" y="5441673"/>
                    </a:cubicBezTo>
                    <a:cubicBezTo>
                      <a:pt x="175260" y="5428973"/>
                      <a:pt x="180340" y="5418812"/>
                      <a:pt x="187960" y="5408653"/>
                    </a:cubicBezTo>
                    <a:cubicBezTo>
                      <a:pt x="196850" y="5397223"/>
                      <a:pt x="214630" y="5381983"/>
                      <a:pt x="229870" y="5378173"/>
                    </a:cubicBezTo>
                    <a:cubicBezTo>
                      <a:pt x="245110" y="5373092"/>
                      <a:pt x="266700" y="5375633"/>
                      <a:pt x="281940" y="5381983"/>
                    </a:cubicBezTo>
                    <a:cubicBezTo>
                      <a:pt x="295910" y="5389603"/>
                      <a:pt x="308610" y="5397223"/>
                      <a:pt x="317500" y="5420083"/>
                    </a:cubicBezTo>
                    <a:cubicBezTo>
                      <a:pt x="340360" y="5479773"/>
                      <a:pt x="307340" y="5661383"/>
                      <a:pt x="304800" y="5816323"/>
                    </a:cubicBezTo>
                    <a:cubicBezTo>
                      <a:pt x="302260" y="6036033"/>
                      <a:pt x="304800" y="6363692"/>
                      <a:pt x="309880" y="6612613"/>
                    </a:cubicBezTo>
                    <a:cubicBezTo>
                      <a:pt x="314960" y="6834863"/>
                      <a:pt x="320040" y="7104102"/>
                      <a:pt x="330200" y="7241263"/>
                    </a:cubicBezTo>
                    <a:cubicBezTo>
                      <a:pt x="335280" y="7306033"/>
                      <a:pt x="356870" y="7354292"/>
                      <a:pt x="347980" y="7386042"/>
                    </a:cubicBezTo>
                    <a:cubicBezTo>
                      <a:pt x="342900" y="7406363"/>
                      <a:pt x="328930" y="7419063"/>
                      <a:pt x="314960" y="7427952"/>
                    </a:cubicBezTo>
                    <a:cubicBezTo>
                      <a:pt x="302260" y="7435573"/>
                      <a:pt x="280670" y="7439383"/>
                      <a:pt x="264160" y="7436842"/>
                    </a:cubicBezTo>
                    <a:cubicBezTo>
                      <a:pt x="248920" y="7433033"/>
                      <a:pt x="229870" y="7421602"/>
                      <a:pt x="219710" y="7408902"/>
                    </a:cubicBezTo>
                    <a:cubicBezTo>
                      <a:pt x="210820" y="7396202"/>
                      <a:pt x="207010" y="7384773"/>
                      <a:pt x="204470" y="7359373"/>
                    </a:cubicBezTo>
                    <a:cubicBezTo>
                      <a:pt x="199390" y="7286983"/>
                      <a:pt x="250190" y="7085052"/>
                      <a:pt x="266700" y="6926302"/>
                    </a:cubicBezTo>
                    <a:cubicBezTo>
                      <a:pt x="285750" y="6730723"/>
                      <a:pt x="295910" y="6483073"/>
                      <a:pt x="302260" y="6276062"/>
                    </a:cubicBezTo>
                    <a:cubicBezTo>
                      <a:pt x="307340" y="6085562"/>
                      <a:pt x="308610" y="5856962"/>
                      <a:pt x="300990" y="5727423"/>
                    </a:cubicBezTo>
                    <a:cubicBezTo>
                      <a:pt x="295910" y="5656303"/>
                      <a:pt x="273050" y="5600423"/>
                      <a:pt x="280670" y="5562323"/>
                    </a:cubicBezTo>
                    <a:cubicBezTo>
                      <a:pt x="284480" y="5540733"/>
                      <a:pt x="292100" y="5524223"/>
                      <a:pt x="306070" y="5512792"/>
                    </a:cubicBezTo>
                    <a:cubicBezTo>
                      <a:pt x="318770" y="5501362"/>
                      <a:pt x="340360" y="5493742"/>
                      <a:pt x="356870" y="5493742"/>
                    </a:cubicBezTo>
                    <a:cubicBezTo>
                      <a:pt x="374650" y="5493742"/>
                      <a:pt x="394970" y="5501362"/>
                      <a:pt x="408940" y="5512792"/>
                    </a:cubicBezTo>
                    <a:cubicBezTo>
                      <a:pt x="421640" y="5524223"/>
                      <a:pt x="434340" y="5561053"/>
                      <a:pt x="434340" y="5561053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18" id="18"/>
          <p:cNvGrpSpPr/>
          <p:nvPr/>
        </p:nvGrpSpPr>
        <p:grpSpPr>
          <a:xfrm rot="0">
            <a:off x="16755427" y="2122170"/>
            <a:ext cx="462915" cy="5053012"/>
            <a:chOff x="0" y="0"/>
            <a:chExt cx="617220" cy="6737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698" y="48200"/>
              <a:ext cx="520055" cy="6637243"/>
            </a:xfrm>
            <a:custGeom>
              <a:avLst/>
              <a:gdLst/>
              <a:ahLst/>
              <a:cxnLst/>
              <a:rect r="r" b="b" t="t" l="l"/>
              <a:pathLst>
                <a:path h="6637243" w="520055">
                  <a:moveTo>
                    <a:pt x="152502" y="214690"/>
                  </a:moveTo>
                  <a:cubicBezTo>
                    <a:pt x="363322" y="971610"/>
                    <a:pt x="355702" y="983040"/>
                    <a:pt x="344272" y="995740"/>
                  </a:cubicBezTo>
                  <a:cubicBezTo>
                    <a:pt x="331572" y="1009710"/>
                    <a:pt x="309982" y="1021140"/>
                    <a:pt x="292202" y="1022410"/>
                  </a:cubicBezTo>
                  <a:cubicBezTo>
                    <a:pt x="274422" y="1024950"/>
                    <a:pt x="251562" y="1018600"/>
                    <a:pt x="236322" y="1008440"/>
                  </a:cubicBezTo>
                  <a:cubicBezTo>
                    <a:pt x="221082" y="997010"/>
                    <a:pt x="212192" y="986850"/>
                    <a:pt x="204572" y="960180"/>
                  </a:cubicBezTo>
                  <a:cubicBezTo>
                    <a:pt x="174092" y="861120"/>
                    <a:pt x="221082" y="360740"/>
                    <a:pt x="199492" y="214690"/>
                  </a:cubicBezTo>
                  <a:cubicBezTo>
                    <a:pt x="190602" y="152460"/>
                    <a:pt x="161392" y="119440"/>
                    <a:pt x="161392" y="85150"/>
                  </a:cubicBezTo>
                  <a:cubicBezTo>
                    <a:pt x="161392" y="63560"/>
                    <a:pt x="167742" y="44510"/>
                    <a:pt x="177902" y="31810"/>
                  </a:cubicBezTo>
                  <a:cubicBezTo>
                    <a:pt x="189332" y="17840"/>
                    <a:pt x="210922" y="6410"/>
                    <a:pt x="226162" y="2600"/>
                  </a:cubicBezTo>
                  <a:cubicBezTo>
                    <a:pt x="240132" y="-1210"/>
                    <a:pt x="251562" y="-1210"/>
                    <a:pt x="264262" y="5140"/>
                  </a:cubicBezTo>
                  <a:cubicBezTo>
                    <a:pt x="282042" y="12760"/>
                    <a:pt x="303632" y="29270"/>
                    <a:pt x="316332" y="57210"/>
                  </a:cubicBezTo>
                  <a:cubicBezTo>
                    <a:pt x="344272" y="118170"/>
                    <a:pt x="341732" y="292160"/>
                    <a:pt x="343002" y="387410"/>
                  </a:cubicBezTo>
                  <a:cubicBezTo>
                    <a:pt x="343002" y="458530"/>
                    <a:pt x="340462" y="501710"/>
                    <a:pt x="330302" y="572830"/>
                  </a:cubicBezTo>
                  <a:cubicBezTo>
                    <a:pt x="315062" y="674430"/>
                    <a:pt x="268072" y="815400"/>
                    <a:pt x="246482" y="933510"/>
                  </a:cubicBezTo>
                  <a:cubicBezTo>
                    <a:pt x="226162" y="1047810"/>
                    <a:pt x="229972" y="1219260"/>
                    <a:pt x="200762" y="1272600"/>
                  </a:cubicBezTo>
                  <a:cubicBezTo>
                    <a:pt x="188062" y="1294190"/>
                    <a:pt x="172822" y="1303080"/>
                    <a:pt x="157582" y="1309430"/>
                  </a:cubicBezTo>
                  <a:cubicBezTo>
                    <a:pt x="146152" y="1314510"/>
                    <a:pt x="132182" y="1314510"/>
                    <a:pt x="119482" y="1313240"/>
                  </a:cubicBezTo>
                  <a:cubicBezTo>
                    <a:pt x="108052" y="1310700"/>
                    <a:pt x="95352" y="1306890"/>
                    <a:pt x="85192" y="1299270"/>
                  </a:cubicBezTo>
                  <a:cubicBezTo>
                    <a:pt x="72492" y="1289110"/>
                    <a:pt x="61062" y="1275140"/>
                    <a:pt x="53442" y="1252280"/>
                  </a:cubicBezTo>
                  <a:cubicBezTo>
                    <a:pt x="38202" y="1205290"/>
                    <a:pt x="34392" y="1098610"/>
                    <a:pt x="36932" y="1021140"/>
                  </a:cubicBezTo>
                  <a:cubicBezTo>
                    <a:pt x="39472" y="941130"/>
                    <a:pt x="63602" y="870010"/>
                    <a:pt x="71222" y="779840"/>
                  </a:cubicBezTo>
                  <a:cubicBezTo>
                    <a:pt x="80112" y="663000"/>
                    <a:pt x="61062" y="444560"/>
                    <a:pt x="82652" y="378520"/>
                  </a:cubicBezTo>
                  <a:cubicBezTo>
                    <a:pt x="91542" y="354390"/>
                    <a:pt x="100432" y="342960"/>
                    <a:pt x="114402" y="334070"/>
                  </a:cubicBezTo>
                  <a:cubicBezTo>
                    <a:pt x="128372" y="323910"/>
                    <a:pt x="151232" y="320100"/>
                    <a:pt x="167742" y="321370"/>
                  </a:cubicBezTo>
                  <a:cubicBezTo>
                    <a:pt x="180442" y="321370"/>
                    <a:pt x="191872" y="326450"/>
                    <a:pt x="202032" y="334070"/>
                  </a:cubicBezTo>
                  <a:cubicBezTo>
                    <a:pt x="213462" y="344230"/>
                    <a:pt x="222352" y="351850"/>
                    <a:pt x="232512" y="379790"/>
                  </a:cubicBezTo>
                  <a:cubicBezTo>
                    <a:pt x="274422" y="494090"/>
                    <a:pt x="290932" y="1069400"/>
                    <a:pt x="325222" y="1374200"/>
                  </a:cubicBezTo>
                  <a:cubicBezTo>
                    <a:pt x="355702" y="1633280"/>
                    <a:pt x="393802" y="1851720"/>
                    <a:pt x="423012" y="2094290"/>
                  </a:cubicBezTo>
                  <a:cubicBezTo>
                    <a:pt x="452222" y="2340670"/>
                    <a:pt x="506832" y="2761040"/>
                    <a:pt x="497942" y="2842320"/>
                  </a:cubicBezTo>
                  <a:cubicBezTo>
                    <a:pt x="496672" y="2858830"/>
                    <a:pt x="494132" y="2862640"/>
                    <a:pt x="489052" y="2871530"/>
                  </a:cubicBezTo>
                  <a:cubicBezTo>
                    <a:pt x="481432" y="2881690"/>
                    <a:pt x="464922" y="2894390"/>
                    <a:pt x="452222" y="2898200"/>
                  </a:cubicBezTo>
                  <a:cubicBezTo>
                    <a:pt x="442062" y="2902010"/>
                    <a:pt x="431902" y="2903280"/>
                    <a:pt x="421742" y="2899470"/>
                  </a:cubicBezTo>
                  <a:cubicBezTo>
                    <a:pt x="409042" y="2896930"/>
                    <a:pt x="395072" y="2891850"/>
                    <a:pt x="382372" y="2875340"/>
                  </a:cubicBezTo>
                  <a:cubicBezTo>
                    <a:pt x="348082" y="2828350"/>
                    <a:pt x="313792" y="2665790"/>
                    <a:pt x="287122" y="2532440"/>
                  </a:cubicBezTo>
                  <a:cubicBezTo>
                    <a:pt x="250292" y="2353370"/>
                    <a:pt x="232512" y="2063810"/>
                    <a:pt x="205842" y="1892360"/>
                  </a:cubicBezTo>
                  <a:cubicBezTo>
                    <a:pt x="188062" y="1778060"/>
                    <a:pt x="144882" y="1665030"/>
                    <a:pt x="155042" y="1606610"/>
                  </a:cubicBezTo>
                  <a:cubicBezTo>
                    <a:pt x="160122" y="1578670"/>
                    <a:pt x="172822" y="1559620"/>
                    <a:pt x="188062" y="1548190"/>
                  </a:cubicBezTo>
                  <a:cubicBezTo>
                    <a:pt x="202032" y="1538030"/>
                    <a:pt x="223622" y="1535490"/>
                    <a:pt x="238862" y="1538030"/>
                  </a:cubicBezTo>
                  <a:cubicBezTo>
                    <a:pt x="250292" y="1538030"/>
                    <a:pt x="261722" y="1543110"/>
                    <a:pt x="270612" y="1550730"/>
                  </a:cubicBezTo>
                  <a:cubicBezTo>
                    <a:pt x="282042" y="1560890"/>
                    <a:pt x="288392" y="1571050"/>
                    <a:pt x="298552" y="1593910"/>
                  </a:cubicBezTo>
                  <a:cubicBezTo>
                    <a:pt x="325222" y="1654870"/>
                    <a:pt x="377292" y="1836480"/>
                    <a:pt x="393802" y="1953320"/>
                  </a:cubicBezTo>
                  <a:cubicBezTo>
                    <a:pt x="409042" y="2063810"/>
                    <a:pt x="405232" y="2180650"/>
                    <a:pt x="402692" y="2278440"/>
                  </a:cubicBezTo>
                  <a:cubicBezTo>
                    <a:pt x="400152" y="2358450"/>
                    <a:pt x="396342" y="2427030"/>
                    <a:pt x="382372" y="2496880"/>
                  </a:cubicBezTo>
                  <a:cubicBezTo>
                    <a:pt x="369672" y="2562920"/>
                    <a:pt x="353162" y="2651820"/>
                    <a:pt x="325222" y="2688650"/>
                  </a:cubicBezTo>
                  <a:cubicBezTo>
                    <a:pt x="308712" y="2708970"/>
                    <a:pt x="287122" y="2721670"/>
                    <a:pt x="268072" y="2725480"/>
                  </a:cubicBezTo>
                  <a:cubicBezTo>
                    <a:pt x="251562" y="2728020"/>
                    <a:pt x="229972" y="2719130"/>
                    <a:pt x="217272" y="2711510"/>
                  </a:cubicBezTo>
                  <a:cubicBezTo>
                    <a:pt x="207112" y="2703890"/>
                    <a:pt x="199492" y="2695000"/>
                    <a:pt x="195682" y="2683570"/>
                  </a:cubicBezTo>
                  <a:cubicBezTo>
                    <a:pt x="189332" y="2669600"/>
                    <a:pt x="195682" y="2651820"/>
                    <a:pt x="190602" y="2631500"/>
                  </a:cubicBezTo>
                  <a:cubicBezTo>
                    <a:pt x="182982" y="2603560"/>
                    <a:pt x="158852" y="2576890"/>
                    <a:pt x="147422" y="2531170"/>
                  </a:cubicBezTo>
                  <a:cubicBezTo>
                    <a:pt x="125832" y="2443540"/>
                    <a:pt x="119482" y="2274630"/>
                    <a:pt x="116942" y="2128580"/>
                  </a:cubicBezTo>
                  <a:cubicBezTo>
                    <a:pt x="113132" y="1952050"/>
                    <a:pt x="125832" y="1737420"/>
                    <a:pt x="139802" y="1546920"/>
                  </a:cubicBezTo>
                  <a:cubicBezTo>
                    <a:pt x="155042" y="1361500"/>
                    <a:pt x="170282" y="1070670"/>
                    <a:pt x="202032" y="998280"/>
                  </a:cubicBezTo>
                  <a:cubicBezTo>
                    <a:pt x="212192" y="977960"/>
                    <a:pt x="219812" y="971610"/>
                    <a:pt x="232512" y="965260"/>
                  </a:cubicBezTo>
                  <a:cubicBezTo>
                    <a:pt x="249022" y="957640"/>
                    <a:pt x="276962" y="957640"/>
                    <a:pt x="292202" y="965260"/>
                  </a:cubicBezTo>
                  <a:cubicBezTo>
                    <a:pt x="308712" y="974150"/>
                    <a:pt x="315062" y="985580"/>
                    <a:pt x="326492" y="1014790"/>
                  </a:cubicBezTo>
                  <a:cubicBezTo>
                    <a:pt x="368402" y="1124010"/>
                    <a:pt x="421742" y="1648520"/>
                    <a:pt x="450952" y="1872040"/>
                  </a:cubicBezTo>
                  <a:cubicBezTo>
                    <a:pt x="468732" y="2014280"/>
                    <a:pt x="481432" y="2096830"/>
                    <a:pt x="491592" y="2223830"/>
                  </a:cubicBezTo>
                  <a:cubicBezTo>
                    <a:pt x="503022" y="2369880"/>
                    <a:pt x="532232" y="2620070"/>
                    <a:pt x="514452" y="2698810"/>
                  </a:cubicBezTo>
                  <a:cubicBezTo>
                    <a:pt x="509372" y="2726750"/>
                    <a:pt x="501752" y="2741990"/>
                    <a:pt x="487782" y="2752150"/>
                  </a:cubicBezTo>
                  <a:cubicBezTo>
                    <a:pt x="472542" y="2762310"/>
                    <a:pt x="444602" y="2764850"/>
                    <a:pt x="428092" y="2759770"/>
                  </a:cubicBezTo>
                  <a:cubicBezTo>
                    <a:pt x="414122" y="2755960"/>
                    <a:pt x="403962" y="2744530"/>
                    <a:pt x="392532" y="2730560"/>
                  </a:cubicBezTo>
                  <a:cubicBezTo>
                    <a:pt x="377292" y="2707700"/>
                    <a:pt x="368402" y="2682300"/>
                    <a:pt x="354432" y="2628960"/>
                  </a:cubicBezTo>
                  <a:cubicBezTo>
                    <a:pt x="309982" y="2465130"/>
                    <a:pt x="195682" y="1723450"/>
                    <a:pt x="185522" y="1585020"/>
                  </a:cubicBezTo>
                  <a:cubicBezTo>
                    <a:pt x="182982" y="1552000"/>
                    <a:pt x="181712" y="1538030"/>
                    <a:pt x="186792" y="1522790"/>
                  </a:cubicBezTo>
                  <a:cubicBezTo>
                    <a:pt x="190602" y="1510090"/>
                    <a:pt x="196952" y="1501200"/>
                    <a:pt x="205842" y="1494850"/>
                  </a:cubicBezTo>
                  <a:cubicBezTo>
                    <a:pt x="217272" y="1485960"/>
                    <a:pt x="238862" y="1478340"/>
                    <a:pt x="252832" y="1477070"/>
                  </a:cubicBezTo>
                  <a:cubicBezTo>
                    <a:pt x="265532" y="1477070"/>
                    <a:pt x="275692" y="1479610"/>
                    <a:pt x="285852" y="1485960"/>
                  </a:cubicBezTo>
                  <a:cubicBezTo>
                    <a:pt x="298552" y="1493580"/>
                    <a:pt x="309982" y="1501200"/>
                    <a:pt x="318872" y="1524060"/>
                  </a:cubicBezTo>
                  <a:cubicBezTo>
                    <a:pt x="348082" y="1595180"/>
                    <a:pt x="339192" y="1872040"/>
                    <a:pt x="341732" y="2037140"/>
                  </a:cubicBezTo>
                  <a:cubicBezTo>
                    <a:pt x="345542" y="2193350"/>
                    <a:pt x="345542" y="2311460"/>
                    <a:pt x="339192" y="2489260"/>
                  </a:cubicBezTo>
                  <a:cubicBezTo>
                    <a:pt x="329032" y="2745800"/>
                    <a:pt x="315062" y="3323650"/>
                    <a:pt x="276962" y="3429060"/>
                  </a:cubicBezTo>
                  <a:cubicBezTo>
                    <a:pt x="268072" y="3453190"/>
                    <a:pt x="261722" y="3459540"/>
                    <a:pt x="249022" y="3468430"/>
                  </a:cubicBezTo>
                  <a:cubicBezTo>
                    <a:pt x="236322" y="3477320"/>
                    <a:pt x="214732" y="3479860"/>
                    <a:pt x="200762" y="3478590"/>
                  </a:cubicBezTo>
                  <a:cubicBezTo>
                    <a:pt x="189332" y="3477320"/>
                    <a:pt x="179172" y="3473510"/>
                    <a:pt x="170282" y="3465890"/>
                  </a:cubicBezTo>
                  <a:cubicBezTo>
                    <a:pt x="160122" y="3457000"/>
                    <a:pt x="151232" y="3444300"/>
                    <a:pt x="143612" y="3425250"/>
                  </a:cubicBezTo>
                  <a:cubicBezTo>
                    <a:pt x="133452" y="3397310"/>
                    <a:pt x="130912" y="3357940"/>
                    <a:pt x="127102" y="3304600"/>
                  </a:cubicBezTo>
                  <a:cubicBezTo>
                    <a:pt x="119482" y="3197920"/>
                    <a:pt x="106782" y="2904550"/>
                    <a:pt x="120752" y="2827080"/>
                  </a:cubicBezTo>
                  <a:cubicBezTo>
                    <a:pt x="125832" y="2801680"/>
                    <a:pt x="129642" y="2788980"/>
                    <a:pt x="139802" y="2776280"/>
                  </a:cubicBezTo>
                  <a:cubicBezTo>
                    <a:pt x="151232" y="2763580"/>
                    <a:pt x="171552" y="2753420"/>
                    <a:pt x="188062" y="2750880"/>
                  </a:cubicBezTo>
                  <a:cubicBezTo>
                    <a:pt x="204572" y="2749610"/>
                    <a:pt x="227432" y="2753420"/>
                    <a:pt x="241402" y="2764850"/>
                  </a:cubicBezTo>
                  <a:cubicBezTo>
                    <a:pt x="256642" y="2776280"/>
                    <a:pt x="265532" y="2792790"/>
                    <a:pt x="274422" y="2827080"/>
                  </a:cubicBezTo>
                  <a:cubicBezTo>
                    <a:pt x="304902" y="2952810"/>
                    <a:pt x="251562" y="3567490"/>
                    <a:pt x="268072" y="3735130"/>
                  </a:cubicBezTo>
                  <a:cubicBezTo>
                    <a:pt x="274422" y="3799900"/>
                    <a:pt x="299822" y="3834190"/>
                    <a:pt x="294742" y="3869750"/>
                  </a:cubicBezTo>
                  <a:cubicBezTo>
                    <a:pt x="289662" y="3893880"/>
                    <a:pt x="274422" y="3916740"/>
                    <a:pt x="260452" y="3928170"/>
                  </a:cubicBezTo>
                  <a:cubicBezTo>
                    <a:pt x="250292" y="3937060"/>
                    <a:pt x="240132" y="3939600"/>
                    <a:pt x="227432" y="3939600"/>
                  </a:cubicBezTo>
                  <a:cubicBezTo>
                    <a:pt x="212192" y="3939600"/>
                    <a:pt x="190602" y="3933250"/>
                    <a:pt x="177902" y="3925630"/>
                  </a:cubicBezTo>
                  <a:cubicBezTo>
                    <a:pt x="167742" y="3919280"/>
                    <a:pt x="162662" y="3914200"/>
                    <a:pt x="155042" y="3898960"/>
                  </a:cubicBezTo>
                  <a:cubicBezTo>
                    <a:pt x="137262" y="3854510"/>
                    <a:pt x="132182" y="3744020"/>
                    <a:pt x="119482" y="3613210"/>
                  </a:cubicBezTo>
                  <a:cubicBezTo>
                    <a:pt x="92812" y="3327460"/>
                    <a:pt x="-1168" y="2369880"/>
                    <a:pt x="29312" y="2237800"/>
                  </a:cubicBezTo>
                  <a:cubicBezTo>
                    <a:pt x="34392" y="2213670"/>
                    <a:pt x="40742" y="2207320"/>
                    <a:pt x="50902" y="2198430"/>
                  </a:cubicBezTo>
                  <a:cubicBezTo>
                    <a:pt x="62332" y="2189540"/>
                    <a:pt x="80112" y="2183190"/>
                    <a:pt x="94082" y="2183190"/>
                  </a:cubicBezTo>
                  <a:cubicBezTo>
                    <a:pt x="109322" y="2184460"/>
                    <a:pt x="125832" y="2192080"/>
                    <a:pt x="135992" y="2200970"/>
                  </a:cubicBezTo>
                  <a:cubicBezTo>
                    <a:pt x="147422" y="2211130"/>
                    <a:pt x="149962" y="2218750"/>
                    <a:pt x="156312" y="2242880"/>
                  </a:cubicBezTo>
                  <a:cubicBezTo>
                    <a:pt x="189332" y="2366070"/>
                    <a:pt x="221082" y="3131880"/>
                    <a:pt x="236322" y="3448110"/>
                  </a:cubicBezTo>
                  <a:cubicBezTo>
                    <a:pt x="245212" y="3653850"/>
                    <a:pt x="262992" y="3892610"/>
                    <a:pt x="249022" y="3957380"/>
                  </a:cubicBezTo>
                  <a:cubicBezTo>
                    <a:pt x="245212" y="3972620"/>
                    <a:pt x="241402" y="3977700"/>
                    <a:pt x="233782" y="3985320"/>
                  </a:cubicBezTo>
                  <a:cubicBezTo>
                    <a:pt x="224892" y="3994210"/>
                    <a:pt x="207112" y="4005640"/>
                    <a:pt x="191872" y="4006910"/>
                  </a:cubicBezTo>
                  <a:cubicBezTo>
                    <a:pt x="177902" y="4009450"/>
                    <a:pt x="158852" y="4004370"/>
                    <a:pt x="147422" y="3996750"/>
                  </a:cubicBezTo>
                  <a:cubicBezTo>
                    <a:pt x="134722" y="3987860"/>
                    <a:pt x="127102" y="3978970"/>
                    <a:pt x="119482" y="3957380"/>
                  </a:cubicBezTo>
                  <a:cubicBezTo>
                    <a:pt x="99162" y="3895150"/>
                    <a:pt x="102972" y="3721160"/>
                    <a:pt x="100432" y="3554790"/>
                  </a:cubicBezTo>
                  <a:cubicBezTo>
                    <a:pt x="96622" y="3284280"/>
                    <a:pt x="109322" y="2682300"/>
                    <a:pt x="119482" y="2493070"/>
                  </a:cubicBezTo>
                  <a:cubicBezTo>
                    <a:pt x="123292" y="2421950"/>
                    <a:pt x="116942" y="2381310"/>
                    <a:pt x="132182" y="2349560"/>
                  </a:cubicBezTo>
                  <a:cubicBezTo>
                    <a:pt x="142342" y="2327970"/>
                    <a:pt x="161392" y="2312730"/>
                    <a:pt x="177902" y="2307650"/>
                  </a:cubicBezTo>
                  <a:cubicBezTo>
                    <a:pt x="193142" y="2302570"/>
                    <a:pt x="212192" y="2305110"/>
                    <a:pt x="224892" y="2312730"/>
                  </a:cubicBezTo>
                  <a:cubicBezTo>
                    <a:pt x="238862" y="2319080"/>
                    <a:pt x="247752" y="2329240"/>
                    <a:pt x="256642" y="2347020"/>
                  </a:cubicBezTo>
                  <a:cubicBezTo>
                    <a:pt x="275692" y="2385120"/>
                    <a:pt x="279502" y="2453700"/>
                    <a:pt x="289662" y="2541330"/>
                  </a:cubicBezTo>
                  <a:cubicBezTo>
                    <a:pt x="312522" y="2719130"/>
                    <a:pt x="341732" y="3117910"/>
                    <a:pt x="353162" y="3360480"/>
                  </a:cubicBezTo>
                  <a:cubicBezTo>
                    <a:pt x="362052" y="3550980"/>
                    <a:pt x="364592" y="3736400"/>
                    <a:pt x="360782" y="3873560"/>
                  </a:cubicBezTo>
                  <a:cubicBezTo>
                    <a:pt x="358242" y="3966270"/>
                    <a:pt x="355702" y="4017070"/>
                    <a:pt x="345542" y="4103430"/>
                  </a:cubicBezTo>
                  <a:cubicBezTo>
                    <a:pt x="332842" y="4216460"/>
                    <a:pt x="313792" y="4406960"/>
                    <a:pt x="284582" y="4489510"/>
                  </a:cubicBezTo>
                  <a:cubicBezTo>
                    <a:pt x="268072" y="4533960"/>
                    <a:pt x="252832" y="4574600"/>
                    <a:pt x="228702" y="4583490"/>
                  </a:cubicBezTo>
                  <a:cubicBezTo>
                    <a:pt x="207112" y="4591110"/>
                    <a:pt x="167742" y="4577140"/>
                    <a:pt x="148692" y="4551740"/>
                  </a:cubicBezTo>
                  <a:cubicBezTo>
                    <a:pt x="113132" y="4506020"/>
                    <a:pt x="122022" y="4354890"/>
                    <a:pt x="116942" y="4259640"/>
                  </a:cubicBezTo>
                  <a:cubicBezTo>
                    <a:pt x="113132" y="4168200"/>
                    <a:pt x="120752" y="4113590"/>
                    <a:pt x="119482" y="3991670"/>
                  </a:cubicBezTo>
                  <a:cubicBezTo>
                    <a:pt x="114402" y="3723700"/>
                    <a:pt x="33122" y="2842320"/>
                    <a:pt x="68682" y="2717860"/>
                  </a:cubicBezTo>
                  <a:cubicBezTo>
                    <a:pt x="75032" y="2695000"/>
                    <a:pt x="82652" y="2688650"/>
                    <a:pt x="94082" y="2681030"/>
                  </a:cubicBezTo>
                  <a:cubicBezTo>
                    <a:pt x="105512" y="2672140"/>
                    <a:pt x="124562" y="2667060"/>
                    <a:pt x="138532" y="2669600"/>
                  </a:cubicBezTo>
                  <a:cubicBezTo>
                    <a:pt x="152502" y="2670870"/>
                    <a:pt x="169012" y="2679760"/>
                    <a:pt x="179172" y="2689920"/>
                  </a:cubicBezTo>
                  <a:cubicBezTo>
                    <a:pt x="188062" y="2700080"/>
                    <a:pt x="190602" y="2707700"/>
                    <a:pt x="195682" y="2731830"/>
                  </a:cubicBezTo>
                  <a:cubicBezTo>
                    <a:pt x="222352" y="2856290"/>
                    <a:pt x="247752" y="3530660"/>
                    <a:pt x="259182" y="3892610"/>
                  </a:cubicBezTo>
                  <a:cubicBezTo>
                    <a:pt x="269342" y="4211380"/>
                    <a:pt x="279502" y="4513640"/>
                    <a:pt x="268072" y="4790500"/>
                  </a:cubicBezTo>
                  <a:cubicBezTo>
                    <a:pt x="257912" y="5027990"/>
                    <a:pt x="249022" y="5369620"/>
                    <a:pt x="205842" y="5453440"/>
                  </a:cubicBezTo>
                  <a:cubicBezTo>
                    <a:pt x="193142" y="5477570"/>
                    <a:pt x="179172" y="5487730"/>
                    <a:pt x="161392" y="5491540"/>
                  </a:cubicBezTo>
                  <a:cubicBezTo>
                    <a:pt x="144882" y="5495350"/>
                    <a:pt x="122022" y="5491540"/>
                    <a:pt x="105512" y="5476300"/>
                  </a:cubicBezTo>
                  <a:cubicBezTo>
                    <a:pt x="77572" y="5449630"/>
                    <a:pt x="59792" y="5384860"/>
                    <a:pt x="45822" y="5306120"/>
                  </a:cubicBezTo>
                  <a:cubicBezTo>
                    <a:pt x="16612" y="5143560"/>
                    <a:pt x="5182" y="4625400"/>
                    <a:pt x="34392" y="4528880"/>
                  </a:cubicBezTo>
                  <a:cubicBezTo>
                    <a:pt x="42012" y="4503480"/>
                    <a:pt x="52172" y="4495860"/>
                    <a:pt x="63602" y="4486970"/>
                  </a:cubicBezTo>
                  <a:cubicBezTo>
                    <a:pt x="72492" y="4479350"/>
                    <a:pt x="83922" y="4475540"/>
                    <a:pt x="95352" y="4474270"/>
                  </a:cubicBezTo>
                  <a:cubicBezTo>
                    <a:pt x="110592" y="4474270"/>
                    <a:pt x="132182" y="4479350"/>
                    <a:pt x="144882" y="4486970"/>
                  </a:cubicBezTo>
                  <a:cubicBezTo>
                    <a:pt x="155042" y="4493320"/>
                    <a:pt x="160122" y="4495860"/>
                    <a:pt x="167742" y="4512370"/>
                  </a:cubicBezTo>
                  <a:cubicBezTo>
                    <a:pt x="200762" y="4580950"/>
                    <a:pt x="245212" y="4911150"/>
                    <a:pt x="275692" y="5128320"/>
                  </a:cubicBezTo>
                  <a:cubicBezTo>
                    <a:pt x="308712" y="5368350"/>
                    <a:pt x="373482" y="5782370"/>
                    <a:pt x="355702" y="5890320"/>
                  </a:cubicBezTo>
                  <a:cubicBezTo>
                    <a:pt x="350622" y="5920800"/>
                    <a:pt x="345542" y="5934770"/>
                    <a:pt x="330302" y="5946200"/>
                  </a:cubicBezTo>
                  <a:cubicBezTo>
                    <a:pt x="316332" y="5957630"/>
                    <a:pt x="285852" y="5960170"/>
                    <a:pt x="270612" y="5957630"/>
                  </a:cubicBezTo>
                  <a:cubicBezTo>
                    <a:pt x="259182" y="5955090"/>
                    <a:pt x="250292" y="5950010"/>
                    <a:pt x="242672" y="5941120"/>
                  </a:cubicBezTo>
                  <a:cubicBezTo>
                    <a:pt x="233782" y="5930960"/>
                    <a:pt x="228702" y="5919530"/>
                    <a:pt x="223622" y="5897940"/>
                  </a:cubicBezTo>
                  <a:cubicBezTo>
                    <a:pt x="210922" y="5843330"/>
                    <a:pt x="214732" y="5698550"/>
                    <a:pt x="217272" y="5590600"/>
                  </a:cubicBezTo>
                  <a:cubicBezTo>
                    <a:pt x="221082" y="5469950"/>
                    <a:pt x="243942" y="5303580"/>
                    <a:pt x="243942" y="5207060"/>
                  </a:cubicBezTo>
                  <a:cubicBezTo>
                    <a:pt x="243942" y="5148640"/>
                    <a:pt x="229972" y="5100380"/>
                    <a:pt x="235052" y="5066090"/>
                  </a:cubicBezTo>
                  <a:cubicBezTo>
                    <a:pt x="238862" y="5044500"/>
                    <a:pt x="242672" y="5027990"/>
                    <a:pt x="254102" y="5016560"/>
                  </a:cubicBezTo>
                  <a:cubicBezTo>
                    <a:pt x="268072" y="5002590"/>
                    <a:pt x="299822" y="4991160"/>
                    <a:pt x="318872" y="4992430"/>
                  </a:cubicBezTo>
                  <a:cubicBezTo>
                    <a:pt x="336652" y="4993700"/>
                    <a:pt x="354432" y="5005130"/>
                    <a:pt x="365862" y="5017830"/>
                  </a:cubicBezTo>
                  <a:cubicBezTo>
                    <a:pt x="376022" y="5029260"/>
                    <a:pt x="379832" y="5039420"/>
                    <a:pt x="383642" y="5066090"/>
                  </a:cubicBezTo>
                  <a:cubicBezTo>
                    <a:pt x="396342" y="5165150"/>
                    <a:pt x="343002" y="5529640"/>
                    <a:pt x="316332" y="5773480"/>
                  </a:cubicBezTo>
                  <a:cubicBezTo>
                    <a:pt x="287122" y="6035100"/>
                    <a:pt x="246482" y="6488490"/>
                    <a:pt x="212192" y="6585010"/>
                  </a:cubicBezTo>
                  <a:cubicBezTo>
                    <a:pt x="204572" y="6607870"/>
                    <a:pt x="199492" y="6615490"/>
                    <a:pt x="188062" y="6624380"/>
                  </a:cubicBezTo>
                  <a:cubicBezTo>
                    <a:pt x="176632" y="6632000"/>
                    <a:pt x="158852" y="6638350"/>
                    <a:pt x="144882" y="6637080"/>
                  </a:cubicBezTo>
                  <a:cubicBezTo>
                    <a:pt x="130912" y="6635810"/>
                    <a:pt x="113132" y="6626920"/>
                    <a:pt x="102972" y="6618030"/>
                  </a:cubicBezTo>
                  <a:cubicBezTo>
                    <a:pt x="95352" y="6610410"/>
                    <a:pt x="91542" y="6606600"/>
                    <a:pt x="87732" y="6591360"/>
                  </a:cubicBezTo>
                  <a:cubicBezTo>
                    <a:pt x="71222" y="6535480"/>
                    <a:pt x="75032" y="6299260"/>
                    <a:pt x="76302" y="6162100"/>
                  </a:cubicBezTo>
                  <a:cubicBezTo>
                    <a:pt x="77572" y="6035100"/>
                    <a:pt x="81382" y="5911910"/>
                    <a:pt x="90272" y="5795070"/>
                  </a:cubicBezTo>
                  <a:cubicBezTo>
                    <a:pt x="97892" y="5685850"/>
                    <a:pt x="97892" y="5527100"/>
                    <a:pt x="124562" y="5478840"/>
                  </a:cubicBezTo>
                  <a:cubicBezTo>
                    <a:pt x="134722" y="5461060"/>
                    <a:pt x="147422" y="5453440"/>
                    <a:pt x="162662" y="5449630"/>
                  </a:cubicBezTo>
                  <a:cubicBezTo>
                    <a:pt x="180442" y="5444550"/>
                    <a:pt x="210922" y="5452170"/>
                    <a:pt x="224892" y="5459790"/>
                  </a:cubicBezTo>
                  <a:cubicBezTo>
                    <a:pt x="236322" y="5466140"/>
                    <a:pt x="240132" y="5473760"/>
                    <a:pt x="246482" y="5486460"/>
                  </a:cubicBezTo>
                  <a:cubicBezTo>
                    <a:pt x="257912" y="5509320"/>
                    <a:pt x="269342" y="5552500"/>
                    <a:pt x="278232" y="5594410"/>
                  </a:cubicBezTo>
                  <a:cubicBezTo>
                    <a:pt x="289662" y="5652830"/>
                    <a:pt x="299822" y="5725220"/>
                    <a:pt x="304902" y="5803960"/>
                  </a:cubicBezTo>
                  <a:cubicBezTo>
                    <a:pt x="313792" y="5908100"/>
                    <a:pt x="325222" y="6099870"/>
                    <a:pt x="313792" y="6164640"/>
                  </a:cubicBezTo>
                  <a:cubicBezTo>
                    <a:pt x="309982" y="6190040"/>
                    <a:pt x="306172" y="6202740"/>
                    <a:pt x="294742" y="6215440"/>
                  </a:cubicBezTo>
                  <a:cubicBezTo>
                    <a:pt x="283312" y="6228140"/>
                    <a:pt x="264262" y="6238300"/>
                    <a:pt x="246482" y="6240840"/>
                  </a:cubicBezTo>
                  <a:cubicBezTo>
                    <a:pt x="229972" y="6243380"/>
                    <a:pt x="208382" y="6237030"/>
                    <a:pt x="194412" y="6228140"/>
                  </a:cubicBezTo>
                  <a:cubicBezTo>
                    <a:pt x="180442" y="6217980"/>
                    <a:pt x="170282" y="6205280"/>
                    <a:pt x="162662" y="6183690"/>
                  </a:cubicBezTo>
                  <a:cubicBezTo>
                    <a:pt x="146152" y="6135430"/>
                    <a:pt x="149962" y="6038910"/>
                    <a:pt x="146152" y="5936040"/>
                  </a:cubicBezTo>
                  <a:cubicBezTo>
                    <a:pt x="141072" y="5765860"/>
                    <a:pt x="122022" y="5351840"/>
                    <a:pt x="151232" y="5261670"/>
                  </a:cubicBezTo>
                  <a:cubicBezTo>
                    <a:pt x="158852" y="5236270"/>
                    <a:pt x="167742" y="5226110"/>
                    <a:pt x="181712" y="5217220"/>
                  </a:cubicBezTo>
                  <a:cubicBezTo>
                    <a:pt x="194412" y="5207060"/>
                    <a:pt x="217272" y="5201980"/>
                    <a:pt x="233782" y="5204520"/>
                  </a:cubicBezTo>
                  <a:cubicBezTo>
                    <a:pt x="250292" y="5205790"/>
                    <a:pt x="269342" y="5215950"/>
                    <a:pt x="280772" y="5228650"/>
                  </a:cubicBezTo>
                  <a:cubicBezTo>
                    <a:pt x="292202" y="5241350"/>
                    <a:pt x="294742" y="5251510"/>
                    <a:pt x="299822" y="5279450"/>
                  </a:cubicBezTo>
                  <a:cubicBezTo>
                    <a:pt x="321412" y="5397560"/>
                    <a:pt x="325222" y="6110030"/>
                    <a:pt x="293472" y="6234490"/>
                  </a:cubicBezTo>
                  <a:cubicBezTo>
                    <a:pt x="285852" y="6266240"/>
                    <a:pt x="279502" y="6280210"/>
                    <a:pt x="264262" y="6291640"/>
                  </a:cubicBezTo>
                  <a:cubicBezTo>
                    <a:pt x="247752" y="6301800"/>
                    <a:pt x="217272" y="6304340"/>
                    <a:pt x="199492" y="6299260"/>
                  </a:cubicBezTo>
                  <a:cubicBezTo>
                    <a:pt x="184252" y="6294180"/>
                    <a:pt x="170282" y="6278940"/>
                    <a:pt x="162662" y="6266240"/>
                  </a:cubicBezTo>
                  <a:cubicBezTo>
                    <a:pt x="156312" y="6256080"/>
                    <a:pt x="156312" y="6251000"/>
                    <a:pt x="155042" y="6234490"/>
                  </a:cubicBezTo>
                  <a:cubicBezTo>
                    <a:pt x="147422" y="6177340"/>
                    <a:pt x="142342" y="5988110"/>
                    <a:pt x="151232" y="5856030"/>
                  </a:cubicBezTo>
                  <a:cubicBezTo>
                    <a:pt x="161392" y="5712520"/>
                    <a:pt x="191872" y="5500430"/>
                    <a:pt x="214732" y="5403910"/>
                  </a:cubicBezTo>
                  <a:cubicBezTo>
                    <a:pt x="224892" y="5358190"/>
                    <a:pt x="231242" y="5323900"/>
                    <a:pt x="246482" y="5302310"/>
                  </a:cubicBezTo>
                  <a:cubicBezTo>
                    <a:pt x="256642" y="5288340"/>
                    <a:pt x="268072" y="5279450"/>
                    <a:pt x="283312" y="5276910"/>
                  </a:cubicBezTo>
                  <a:cubicBezTo>
                    <a:pt x="301092" y="5273100"/>
                    <a:pt x="332842" y="5276910"/>
                    <a:pt x="348082" y="5288340"/>
                  </a:cubicBezTo>
                  <a:cubicBezTo>
                    <a:pt x="363322" y="5301040"/>
                    <a:pt x="374752" y="5331520"/>
                    <a:pt x="374752" y="5349300"/>
                  </a:cubicBezTo>
                  <a:cubicBezTo>
                    <a:pt x="374752" y="5364540"/>
                    <a:pt x="367132" y="5381050"/>
                    <a:pt x="356972" y="5391210"/>
                  </a:cubicBezTo>
                  <a:cubicBezTo>
                    <a:pt x="343002" y="5403910"/>
                    <a:pt x="313792" y="5416610"/>
                    <a:pt x="294742" y="5414070"/>
                  </a:cubicBezTo>
                  <a:cubicBezTo>
                    <a:pt x="275692" y="5411530"/>
                    <a:pt x="250292" y="5391210"/>
                    <a:pt x="241402" y="5375970"/>
                  </a:cubicBezTo>
                  <a:cubicBezTo>
                    <a:pt x="232512" y="5362000"/>
                    <a:pt x="231242" y="5345490"/>
                    <a:pt x="235052" y="5330250"/>
                  </a:cubicBezTo>
                  <a:cubicBezTo>
                    <a:pt x="240132" y="5313740"/>
                    <a:pt x="259182" y="5288340"/>
                    <a:pt x="275692" y="5279450"/>
                  </a:cubicBezTo>
                  <a:cubicBezTo>
                    <a:pt x="289662" y="5271830"/>
                    <a:pt x="307442" y="5271830"/>
                    <a:pt x="321412" y="5275640"/>
                  </a:cubicBezTo>
                  <a:cubicBezTo>
                    <a:pt x="334112" y="5278180"/>
                    <a:pt x="349352" y="5288340"/>
                    <a:pt x="359512" y="5299770"/>
                  </a:cubicBezTo>
                  <a:cubicBezTo>
                    <a:pt x="368402" y="5311200"/>
                    <a:pt x="372212" y="5320090"/>
                    <a:pt x="374752" y="5341680"/>
                  </a:cubicBezTo>
                  <a:cubicBezTo>
                    <a:pt x="379832" y="5406450"/>
                    <a:pt x="317602" y="5600760"/>
                    <a:pt x="302362" y="5741730"/>
                  </a:cubicBezTo>
                  <a:cubicBezTo>
                    <a:pt x="287122" y="5900480"/>
                    <a:pt x="315062" y="6177340"/>
                    <a:pt x="292202" y="6251000"/>
                  </a:cubicBezTo>
                  <a:cubicBezTo>
                    <a:pt x="284582" y="6273860"/>
                    <a:pt x="276962" y="6282750"/>
                    <a:pt x="264262" y="6291640"/>
                  </a:cubicBezTo>
                  <a:cubicBezTo>
                    <a:pt x="247752" y="6300530"/>
                    <a:pt x="216002" y="6303070"/>
                    <a:pt x="199492" y="6299260"/>
                  </a:cubicBezTo>
                  <a:cubicBezTo>
                    <a:pt x="188062" y="6296720"/>
                    <a:pt x="179172" y="6289100"/>
                    <a:pt x="171552" y="6280210"/>
                  </a:cubicBezTo>
                  <a:cubicBezTo>
                    <a:pt x="162662" y="6268780"/>
                    <a:pt x="158852" y="6259890"/>
                    <a:pt x="155042" y="6234490"/>
                  </a:cubicBezTo>
                  <a:cubicBezTo>
                    <a:pt x="133452" y="6118920"/>
                    <a:pt x="115672" y="5373430"/>
                    <a:pt x="151232" y="5261670"/>
                  </a:cubicBezTo>
                  <a:cubicBezTo>
                    <a:pt x="158852" y="5235000"/>
                    <a:pt x="167742" y="5226110"/>
                    <a:pt x="181712" y="5217220"/>
                  </a:cubicBezTo>
                  <a:cubicBezTo>
                    <a:pt x="194412" y="5207060"/>
                    <a:pt x="217272" y="5201980"/>
                    <a:pt x="233782" y="5204520"/>
                  </a:cubicBezTo>
                  <a:cubicBezTo>
                    <a:pt x="250292" y="5205790"/>
                    <a:pt x="269342" y="5215950"/>
                    <a:pt x="280772" y="5228650"/>
                  </a:cubicBezTo>
                  <a:cubicBezTo>
                    <a:pt x="292202" y="5241350"/>
                    <a:pt x="294742" y="5251510"/>
                    <a:pt x="299822" y="5279450"/>
                  </a:cubicBezTo>
                  <a:cubicBezTo>
                    <a:pt x="321412" y="5392480"/>
                    <a:pt x="334112" y="6050340"/>
                    <a:pt x="313792" y="6164640"/>
                  </a:cubicBezTo>
                  <a:cubicBezTo>
                    <a:pt x="309982" y="6192580"/>
                    <a:pt x="307442" y="6202740"/>
                    <a:pt x="294742" y="6215440"/>
                  </a:cubicBezTo>
                  <a:cubicBezTo>
                    <a:pt x="280772" y="6229410"/>
                    <a:pt x="246482" y="6240840"/>
                    <a:pt x="228702" y="6240840"/>
                  </a:cubicBezTo>
                  <a:cubicBezTo>
                    <a:pt x="214732" y="6240840"/>
                    <a:pt x="204572" y="6235760"/>
                    <a:pt x="194412" y="6228140"/>
                  </a:cubicBezTo>
                  <a:cubicBezTo>
                    <a:pt x="181712" y="6217980"/>
                    <a:pt x="170282" y="6206550"/>
                    <a:pt x="162662" y="6183690"/>
                  </a:cubicBezTo>
                  <a:cubicBezTo>
                    <a:pt x="143612" y="6121460"/>
                    <a:pt x="165202" y="5939850"/>
                    <a:pt x="156312" y="5824280"/>
                  </a:cubicBezTo>
                  <a:cubicBezTo>
                    <a:pt x="147422" y="5716330"/>
                    <a:pt x="106782" y="5567740"/>
                    <a:pt x="114402" y="5510590"/>
                  </a:cubicBezTo>
                  <a:cubicBezTo>
                    <a:pt x="118212" y="5489000"/>
                    <a:pt x="123292" y="5477570"/>
                    <a:pt x="134722" y="5466140"/>
                  </a:cubicBezTo>
                  <a:cubicBezTo>
                    <a:pt x="144882" y="5455980"/>
                    <a:pt x="162662" y="5445820"/>
                    <a:pt x="179172" y="5445820"/>
                  </a:cubicBezTo>
                  <a:cubicBezTo>
                    <a:pt x="196952" y="5445820"/>
                    <a:pt x="224892" y="5458520"/>
                    <a:pt x="237592" y="5471220"/>
                  </a:cubicBezTo>
                  <a:cubicBezTo>
                    <a:pt x="247752" y="5483920"/>
                    <a:pt x="250292" y="5496620"/>
                    <a:pt x="252832" y="5518210"/>
                  </a:cubicBezTo>
                  <a:cubicBezTo>
                    <a:pt x="257912" y="5571550"/>
                    <a:pt x="229972" y="5679500"/>
                    <a:pt x="222352" y="5796340"/>
                  </a:cubicBezTo>
                  <a:cubicBezTo>
                    <a:pt x="210922" y="5991920"/>
                    <a:pt x="240132" y="6489760"/>
                    <a:pt x="212192" y="6585010"/>
                  </a:cubicBezTo>
                  <a:cubicBezTo>
                    <a:pt x="205842" y="6607870"/>
                    <a:pt x="200762" y="6615490"/>
                    <a:pt x="188062" y="6624380"/>
                  </a:cubicBezTo>
                  <a:cubicBezTo>
                    <a:pt x="174092" y="6633270"/>
                    <a:pt x="144882" y="6637080"/>
                    <a:pt x="129642" y="6634540"/>
                  </a:cubicBezTo>
                  <a:cubicBezTo>
                    <a:pt x="118212" y="6632000"/>
                    <a:pt x="110592" y="6625650"/>
                    <a:pt x="102972" y="6618030"/>
                  </a:cubicBezTo>
                  <a:cubicBezTo>
                    <a:pt x="94082" y="6607870"/>
                    <a:pt x="87732" y="6600250"/>
                    <a:pt x="83922" y="6576120"/>
                  </a:cubicBezTo>
                  <a:cubicBezTo>
                    <a:pt x="69952" y="6477060"/>
                    <a:pt x="163932" y="6024940"/>
                    <a:pt x="189332" y="5762050"/>
                  </a:cubicBezTo>
                  <a:cubicBezTo>
                    <a:pt x="213462" y="5516940"/>
                    <a:pt x="204572" y="5139750"/>
                    <a:pt x="237592" y="5048310"/>
                  </a:cubicBezTo>
                  <a:cubicBezTo>
                    <a:pt x="246482" y="5022910"/>
                    <a:pt x="254102" y="5014020"/>
                    <a:pt x="268072" y="5005130"/>
                  </a:cubicBezTo>
                  <a:cubicBezTo>
                    <a:pt x="280772" y="4994970"/>
                    <a:pt x="302362" y="4989890"/>
                    <a:pt x="318872" y="4992430"/>
                  </a:cubicBezTo>
                  <a:cubicBezTo>
                    <a:pt x="335382" y="4994970"/>
                    <a:pt x="354432" y="5003860"/>
                    <a:pt x="365862" y="5017830"/>
                  </a:cubicBezTo>
                  <a:cubicBezTo>
                    <a:pt x="378562" y="5033070"/>
                    <a:pt x="384912" y="5049580"/>
                    <a:pt x="389992" y="5085140"/>
                  </a:cubicBezTo>
                  <a:cubicBezTo>
                    <a:pt x="409042" y="5205790"/>
                    <a:pt x="374752" y="5820470"/>
                    <a:pt x="354432" y="5906830"/>
                  </a:cubicBezTo>
                  <a:cubicBezTo>
                    <a:pt x="350622" y="5923340"/>
                    <a:pt x="349352" y="5927150"/>
                    <a:pt x="341732" y="5934770"/>
                  </a:cubicBezTo>
                  <a:cubicBezTo>
                    <a:pt x="332842" y="5944930"/>
                    <a:pt x="316332" y="5956360"/>
                    <a:pt x="302362" y="5960170"/>
                  </a:cubicBezTo>
                  <a:cubicBezTo>
                    <a:pt x="287122" y="5962710"/>
                    <a:pt x="268072" y="5957630"/>
                    <a:pt x="255372" y="5951280"/>
                  </a:cubicBezTo>
                  <a:cubicBezTo>
                    <a:pt x="245212" y="5946200"/>
                    <a:pt x="240132" y="5942390"/>
                    <a:pt x="233782" y="5928420"/>
                  </a:cubicBezTo>
                  <a:cubicBezTo>
                    <a:pt x="207112" y="5873810"/>
                    <a:pt x="208382" y="5642670"/>
                    <a:pt x="182982" y="5466140"/>
                  </a:cubicBezTo>
                  <a:cubicBezTo>
                    <a:pt x="149962" y="5229920"/>
                    <a:pt x="55982" y="4776530"/>
                    <a:pt x="39472" y="4638100"/>
                  </a:cubicBezTo>
                  <a:cubicBezTo>
                    <a:pt x="33122" y="4592380"/>
                    <a:pt x="29312" y="4570790"/>
                    <a:pt x="33122" y="4545390"/>
                  </a:cubicBezTo>
                  <a:cubicBezTo>
                    <a:pt x="35662" y="4527610"/>
                    <a:pt x="39472" y="4509830"/>
                    <a:pt x="50902" y="4498400"/>
                  </a:cubicBezTo>
                  <a:cubicBezTo>
                    <a:pt x="63602" y="4484430"/>
                    <a:pt x="95352" y="4474270"/>
                    <a:pt x="113132" y="4474270"/>
                  </a:cubicBezTo>
                  <a:cubicBezTo>
                    <a:pt x="125832" y="4474270"/>
                    <a:pt x="135992" y="4479350"/>
                    <a:pt x="144882" y="4486970"/>
                  </a:cubicBezTo>
                  <a:cubicBezTo>
                    <a:pt x="156312" y="4495860"/>
                    <a:pt x="166472" y="4504750"/>
                    <a:pt x="174092" y="4528880"/>
                  </a:cubicBezTo>
                  <a:cubicBezTo>
                    <a:pt x="202032" y="4619050"/>
                    <a:pt x="161392" y="5069900"/>
                    <a:pt x="175362" y="5235000"/>
                  </a:cubicBezTo>
                  <a:cubicBezTo>
                    <a:pt x="182982" y="5323900"/>
                    <a:pt x="217272" y="5397560"/>
                    <a:pt x="209652" y="5438200"/>
                  </a:cubicBezTo>
                  <a:cubicBezTo>
                    <a:pt x="207112" y="5457250"/>
                    <a:pt x="199492" y="5468680"/>
                    <a:pt x="189332" y="5477570"/>
                  </a:cubicBezTo>
                  <a:cubicBezTo>
                    <a:pt x="177902" y="5486460"/>
                    <a:pt x="160122" y="5492810"/>
                    <a:pt x="147422" y="5492810"/>
                  </a:cubicBezTo>
                  <a:cubicBezTo>
                    <a:pt x="133452" y="5492810"/>
                    <a:pt x="115672" y="5485190"/>
                    <a:pt x="105512" y="5476300"/>
                  </a:cubicBezTo>
                  <a:cubicBezTo>
                    <a:pt x="95352" y="5467410"/>
                    <a:pt x="89002" y="5457250"/>
                    <a:pt x="85192" y="5436930"/>
                  </a:cubicBezTo>
                  <a:cubicBezTo>
                    <a:pt x="73762" y="5370890"/>
                    <a:pt x="127102" y="5160070"/>
                    <a:pt x="137262" y="5012750"/>
                  </a:cubicBezTo>
                  <a:cubicBezTo>
                    <a:pt x="149962" y="4852730"/>
                    <a:pt x="149962" y="4686360"/>
                    <a:pt x="149962" y="4511100"/>
                  </a:cubicBezTo>
                  <a:cubicBezTo>
                    <a:pt x="151232" y="4316790"/>
                    <a:pt x="149962" y="4127560"/>
                    <a:pt x="139802" y="3898960"/>
                  </a:cubicBezTo>
                  <a:cubicBezTo>
                    <a:pt x="125832" y="3609400"/>
                    <a:pt x="69952" y="3107750"/>
                    <a:pt x="63602" y="2912170"/>
                  </a:cubicBezTo>
                  <a:cubicBezTo>
                    <a:pt x="61062" y="2828350"/>
                    <a:pt x="57252" y="2775010"/>
                    <a:pt x="67412" y="2733100"/>
                  </a:cubicBezTo>
                  <a:cubicBezTo>
                    <a:pt x="72492" y="2710240"/>
                    <a:pt x="81382" y="2691190"/>
                    <a:pt x="94082" y="2681030"/>
                  </a:cubicBezTo>
                  <a:cubicBezTo>
                    <a:pt x="105512" y="2670870"/>
                    <a:pt x="124562" y="2667060"/>
                    <a:pt x="138532" y="2669600"/>
                  </a:cubicBezTo>
                  <a:cubicBezTo>
                    <a:pt x="152502" y="2670870"/>
                    <a:pt x="169012" y="2679760"/>
                    <a:pt x="179172" y="2689920"/>
                  </a:cubicBezTo>
                  <a:cubicBezTo>
                    <a:pt x="188062" y="2700080"/>
                    <a:pt x="191872" y="2710240"/>
                    <a:pt x="195682" y="2731830"/>
                  </a:cubicBezTo>
                  <a:cubicBezTo>
                    <a:pt x="208382" y="2796600"/>
                    <a:pt x="193142" y="2955350"/>
                    <a:pt x="198222" y="3124260"/>
                  </a:cubicBezTo>
                  <a:cubicBezTo>
                    <a:pt x="207112" y="3432870"/>
                    <a:pt x="275692" y="4260910"/>
                    <a:pt x="265532" y="4433630"/>
                  </a:cubicBezTo>
                  <a:cubicBezTo>
                    <a:pt x="262992" y="4475540"/>
                    <a:pt x="268072" y="4506020"/>
                    <a:pt x="252832" y="4513640"/>
                  </a:cubicBezTo>
                  <a:cubicBezTo>
                    <a:pt x="236322" y="4521260"/>
                    <a:pt x="179172" y="4494590"/>
                    <a:pt x="163932" y="4461570"/>
                  </a:cubicBezTo>
                  <a:cubicBezTo>
                    <a:pt x="134722" y="4398070"/>
                    <a:pt x="217272" y="4226620"/>
                    <a:pt x="229972" y="4095810"/>
                  </a:cubicBezTo>
                  <a:cubicBezTo>
                    <a:pt x="243942" y="3947220"/>
                    <a:pt x="242672" y="3792280"/>
                    <a:pt x="240132" y="3615750"/>
                  </a:cubicBezTo>
                  <a:cubicBezTo>
                    <a:pt x="236322" y="3399850"/>
                    <a:pt x="219812" y="3116640"/>
                    <a:pt x="199492" y="2894390"/>
                  </a:cubicBezTo>
                  <a:cubicBezTo>
                    <a:pt x="180442" y="2703890"/>
                    <a:pt x="115672" y="2441000"/>
                    <a:pt x="128372" y="2364800"/>
                  </a:cubicBezTo>
                  <a:cubicBezTo>
                    <a:pt x="132182" y="2341940"/>
                    <a:pt x="138532" y="2331780"/>
                    <a:pt x="149962" y="2322890"/>
                  </a:cubicBezTo>
                  <a:cubicBezTo>
                    <a:pt x="161392" y="2312730"/>
                    <a:pt x="179172" y="2305110"/>
                    <a:pt x="194412" y="2305110"/>
                  </a:cubicBezTo>
                  <a:cubicBezTo>
                    <a:pt x="209652" y="2305110"/>
                    <a:pt x="227432" y="2311460"/>
                    <a:pt x="238862" y="2321620"/>
                  </a:cubicBezTo>
                  <a:cubicBezTo>
                    <a:pt x="250292" y="2331780"/>
                    <a:pt x="256642" y="2340670"/>
                    <a:pt x="261722" y="2363530"/>
                  </a:cubicBezTo>
                  <a:cubicBezTo>
                    <a:pt x="278232" y="2437190"/>
                    <a:pt x="237592" y="2664520"/>
                    <a:pt x="233782" y="2862640"/>
                  </a:cubicBezTo>
                  <a:cubicBezTo>
                    <a:pt x="227432" y="3154740"/>
                    <a:pt x="261722" y="3838000"/>
                    <a:pt x="250292" y="3940870"/>
                  </a:cubicBezTo>
                  <a:cubicBezTo>
                    <a:pt x="249022" y="3958650"/>
                    <a:pt x="249022" y="3962460"/>
                    <a:pt x="242672" y="3971350"/>
                  </a:cubicBezTo>
                  <a:cubicBezTo>
                    <a:pt x="236322" y="3984050"/>
                    <a:pt x="222352" y="3999290"/>
                    <a:pt x="208382" y="4003100"/>
                  </a:cubicBezTo>
                  <a:cubicBezTo>
                    <a:pt x="191872" y="4008180"/>
                    <a:pt x="161392" y="4006910"/>
                    <a:pt x="147422" y="3996750"/>
                  </a:cubicBezTo>
                  <a:cubicBezTo>
                    <a:pt x="132182" y="3985320"/>
                    <a:pt x="124562" y="3970080"/>
                    <a:pt x="118212" y="3942140"/>
                  </a:cubicBezTo>
                  <a:cubicBezTo>
                    <a:pt x="97892" y="3862130"/>
                    <a:pt x="123292" y="3644960"/>
                    <a:pt x="114402" y="3457000"/>
                  </a:cubicBezTo>
                  <a:cubicBezTo>
                    <a:pt x="101702" y="3197920"/>
                    <a:pt x="44552" y="2753420"/>
                    <a:pt x="33122" y="2531170"/>
                  </a:cubicBezTo>
                  <a:cubicBezTo>
                    <a:pt x="26772" y="2406710"/>
                    <a:pt x="15342" y="2289870"/>
                    <a:pt x="29312" y="2237800"/>
                  </a:cubicBezTo>
                  <a:cubicBezTo>
                    <a:pt x="34392" y="2217480"/>
                    <a:pt x="40742" y="2207320"/>
                    <a:pt x="50902" y="2198430"/>
                  </a:cubicBezTo>
                  <a:cubicBezTo>
                    <a:pt x="62332" y="2189540"/>
                    <a:pt x="80112" y="2183190"/>
                    <a:pt x="94082" y="2183190"/>
                  </a:cubicBezTo>
                  <a:cubicBezTo>
                    <a:pt x="109322" y="2184460"/>
                    <a:pt x="125832" y="2192080"/>
                    <a:pt x="135992" y="2200970"/>
                  </a:cubicBezTo>
                  <a:cubicBezTo>
                    <a:pt x="147422" y="2211130"/>
                    <a:pt x="149962" y="2218750"/>
                    <a:pt x="156312" y="2242880"/>
                  </a:cubicBezTo>
                  <a:cubicBezTo>
                    <a:pt x="188062" y="2359720"/>
                    <a:pt x="213462" y="3045520"/>
                    <a:pt x="240132" y="3345240"/>
                  </a:cubicBezTo>
                  <a:cubicBezTo>
                    <a:pt x="257912" y="3552250"/>
                    <a:pt x="312522" y="3783390"/>
                    <a:pt x="294742" y="3869750"/>
                  </a:cubicBezTo>
                  <a:cubicBezTo>
                    <a:pt x="287122" y="3900230"/>
                    <a:pt x="274422" y="3916740"/>
                    <a:pt x="260452" y="3928170"/>
                  </a:cubicBezTo>
                  <a:cubicBezTo>
                    <a:pt x="250292" y="3937060"/>
                    <a:pt x="240132" y="3939600"/>
                    <a:pt x="227432" y="3939600"/>
                  </a:cubicBezTo>
                  <a:cubicBezTo>
                    <a:pt x="212192" y="3939600"/>
                    <a:pt x="190602" y="3933250"/>
                    <a:pt x="177902" y="3925630"/>
                  </a:cubicBezTo>
                  <a:cubicBezTo>
                    <a:pt x="167742" y="3919280"/>
                    <a:pt x="155042" y="3898960"/>
                    <a:pt x="155042" y="3898960"/>
                  </a:cubicBezTo>
                  <a:cubicBezTo>
                    <a:pt x="156312" y="3897690"/>
                    <a:pt x="177902" y="3920550"/>
                    <a:pt x="180442" y="3918010"/>
                  </a:cubicBezTo>
                  <a:cubicBezTo>
                    <a:pt x="185522" y="3914200"/>
                    <a:pt x="143612" y="3844350"/>
                    <a:pt x="134722" y="3811330"/>
                  </a:cubicBezTo>
                  <a:cubicBezTo>
                    <a:pt x="127102" y="3784660"/>
                    <a:pt x="129642" y="3774500"/>
                    <a:pt x="127102" y="3735130"/>
                  </a:cubicBezTo>
                  <a:cubicBezTo>
                    <a:pt x="120752" y="3597970"/>
                    <a:pt x="89002" y="2918520"/>
                    <a:pt x="123292" y="2809300"/>
                  </a:cubicBezTo>
                  <a:cubicBezTo>
                    <a:pt x="130912" y="2782630"/>
                    <a:pt x="142342" y="2773740"/>
                    <a:pt x="153772" y="2764850"/>
                  </a:cubicBezTo>
                  <a:cubicBezTo>
                    <a:pt x="163932" y="2755960"/>
                    <a:pt x="175362" y="2752150"/>
                    <a:pt x="188062" y="2750880"/>
                  </a:cubicBezTo>
                  <a:cubicBezTo>
                    <a:pt x="203302" y="2750880"/>
                    <a:pt x="227432" y="2754690"/>
                    <a:pt x="241402" y="2764850"/>
                  </a:cubicBezTo>
                  <a:cubicBezTo>
                    <a:pt x="255372" y="2773740"/>
                    <a:pt x="264262" y="2783900"/>
                    <a:pt x="271882" y="2809300"/>
                  </a:cubicBezTo>
                  <a:cubicBezTo>
                    <a:pt x="298552" y="2893120"/>
                    <a:pt x="303632" y="3319840"/>
                    <a:pt x="279502" y="3412550"/>
                  </a:cubicBezTo>
                  <a:cubicBezTo>
                    <a:pt x="271882" y="3443030"/>
                    <a:pt x="262992" y="3458270"/>
                    <a:pt x="249022" y="3468430"/>
                  </a:cubicBezTo>
                  <a:cubicBezTo>
                    <a:pt x="236322" y="3477320"/>
                    <a:pt x="216002" y="3481130"/>
                    <a:pt x="200762" y="3478590"/>
                  </a:cubicBezTo>
                  <a:cubicBezTo>
                    <a:pt x="185522" y="3477320"/>
                    <a:pt x="169012" y="3467160"/>
                    <a:pt x="158852" y="3455730"/>
                  </a:cubicBezTo>
                  <a:cubicBezTo>
                    <a:pt x="148692" y="3443030"/>
                    <a:pt x="146152" y="3435410"/>
                    <a:pt x="142342" y="3408740"/>
                  </a:cubicBezTo>
                  <a:cubicBezTo>
                    <a:pt x="128372" y="3298250"/>
                    <a:pt x="208382" y="2800410"/>
                    <a:pt x="216002" y="2489260"/>
                  </a:cubicBezTo>
                  <a:cubicBezTo>
                    <a:pt x="223622" y="2171760"/>
                    <a:pt x="148692" y="1625660"/>
                    <a:pt x="186792" y="1522790"/>
                  </a:cubicBezTo>
                  <a:cubicBezTo>
                    <a:pt x="195682" y="1498660"/>
                    <a:pt x="208382" y="1492310"/>
                    <a:pt x="219812" y="1484690"/>
                  </a:cubicBezTo>
                  <a:cubicBezTo>
                    <a:pt x="231242" y="1479610"/>
                    <a:pt x="241402" y="1475800"/>
                    <a:pt x="252832" y="1477070"/>
                  </a:cubicBezTo>
                  <a:cubicBezTo>
                    <a:pt x="268072" y="1478340"/>
                    <a:pt x="288392" y="1485960"/>
                    <a:pt x="299822" y="1496120"/>
                  </a:cubicBezTo>
                  <a:cubicBezTo>
                    <a:pt x="308712" y="1502470"/>
                    <a:pt x="312522" y="1507550"/>
                    <a:pt x="318872" y="1524060"/>
                  </a:cubicBezTo>
                  <a:cubicBezTo>
                    <a:pt x="343002" y="1586290"/>
                    <a:pt x="360782" y="1849180"/>
                    <a:pt x="387452" y="2021900"/>
                  </a:cubicBezTo>
                  <a:cubicBezTo>
                    <a:pt x="416662" y="2206050"/>
                    <a:pt x="458572" y="2484180"/>
                    <a:pt x="483972" y="2597210"/>
                  </a:cubicBezTo>
                  <a:cubicBezTo>
                    <a:pt x="495402" y="2645470"/>
                    <a:pt x="515722" y="2672140"/>
                    <a:pt x="514452" y="2698810"/>
                  </a:cubicBezTo>
                  <a:cubicBezTo>
                    <a:pt x="514452" y="2716590"/>
                    <a:pt x="508102" y="2730560"/>
                    <a:pt x="499212" y="2741990"/>
                  </a:cubicBezTo>
                  <a:cubicBezTo>
                    <a:pt x="490322" y="2752150"/>
                    <a:pt x="472542" y="2762310"/>
                    <a:pt x="458572" y="2763580"/>
                  </a:cubicBezTo>
                  <a:cubicBezTo>
                    <a:pt x="444602" y="2766120"/>
                    <a:pt x="425552" y="2761040"/>
                    <a:pt x="414122" y="2753420"/>
                  </a:cubicBezTo>
                  <a:cubicBezTo>
                    <a:pt x="401422" y="2745800"/>
                    <a:pt x="393802" y="2736910"/>
                    <a:pt x="387452" y="2715320"/>
                  </a:cubicBezTo>
                  <a:cubicBezTo>
                    <a:pt x="364592" y="2646740"/>
                    <a:pt x="391262" y="2433380"/>
                    <a:pt x="374752" y="2239070"/>
                  </a:cubicBezTo>
                  <a:cubicBezTo>
                    <a:pt x="348082" y="1924110"/>
                    <a:pt x="176632" y="1137980"/>
                    <a:pt x="198222" y="1013520"/>
                  </a:cubicBezTo>
                  <a:cubicBezTo>
                    <a:pt x="203302" y="990660"/>
                    <a:pt x="209652" y="983040"/>
                    <a:pt x="219812" y="974150"/>
                  </a:cubicBezTo>
                  <a:cubicBezTo>
                    <a:pt x="231242" y="963990"/>
                    <a:pt x="249022" y="957640"/>
                    <a:pt x="262992" y="957640"/>
                  </a:cubicBezTo>
                  <a:cubicBezTo>
                    <a:pt x="276962" y="957640"/>
                    <a:pt x="294742" y="965260"/>
                    <a:pt x="304902" y="974150"/>
                  </a:cubicBezTo>
                  <a:cubicBezTo>
                    <a:pt x="316332" y="984310"/>
                    <a:pt x="321412" y="993200"/>
                    <a:pt x="326492" y="1014790"/>
                  </a:cubicBezTo>
                  <a:cubicBezTo>
                    <a:pt x="340462" y="1090990"/>
                    <a:pt x="278232" y="1403410"/>
                    <a:pt x="265532" y="1555810"/>
                  </a:cubicBezTo>
                  <a:cubicBezTo>
                    <a:pt x="256642" y="1668840"/>
                    <a:pt x="251562" y="1745040"/>
                    <a:pt x="251562" y="1850450"/>
                  </a:cubicBezTo>
                  <a:cubicBezTo>
                    <a:pt x="250292" y="1972370"/>
                    <a:pt x="257912" y="2127310"/>
                    <a:pt x="266802" y="2244150"/>
                  </a:cubicBezTo>
                  <a:cubicBezTo>
                    <a:pt x="273152" y="2339400"/>
                    <a:pt x="280772" y="2423220"/>
                    <a:pt x="293472" y="2499420"/>
                  </a:cubicBezTo>
                  <a:cubicBezTo>
                    <a:pt x="304902" y="2562920"/>
                    <a:pt x="340462" y="2635310"/>
                    <a:pt x="332842" y="2672140"/>
                  </a:cubicBezTo>
                  <a:cubicBezTo>
                    <a:pt x="327762" y="2691190"/>
                    <a:pt x="315062" y="2705160"/>
                    <a:pt x="301092" y="2714050"/>
                  </a:cubicBezTo>
                  <a:cubicBezTo>
                    <a:pt x="287122" y="2722940"/>
                    <a:pt x="266802" y="2726750"/>
                    <a:pt x="250292" y="2724210"/>
                  </a:cubicBezTo>
                  <a:cubicBezTo>
                    <a:pt x="233782" y="2721670"/>
                    <a:pt x="214732" y="2710240"/>
                    <a:pt x="204572" y="2698810"/>
                  </a:cubicBezTo>
                  <a:cubicBezTo>
                    <a:pt x="196952" y="2689920"/>
                    <a:pt x="190602" y="2682300"/>
                    <a:pt x="189332" y="2667060"/>
                  </a:cubicBezTo>
                  <a:cubicBezTo>
                    <a:pt x="186792" y="2631500"/>
                    <a:pt x="229972" y="2552760"/>
                    <a:pt x="241402" y="2481640"/>
                  </a:cubicBezTo>
                  <a:cubicBezTo>
                    <a:pt x="255372" y="2391470"/>
                    <a:pt x="255372" y="2258120"/>
                    <a:pt x="254102" y="2166680"/>
                  </a:cubicBezTo>
                  <a:cubicBezTo>
                    <a:pt x="254102" y="2096830"/>
                    <a:pt x="255372" y="2052380"/>
                    <a:pt x="243942" y="1979990"/>
                  </a:cubicBezTo>
                  <a:cubicBezTo>
                    <a:pt x="228702" y="1877120"/>
                    <a:pt x="144882" y="1676460"/>
                    <a:pt x="155042" y="1606610"/>
                  </a:cubicBezTo>
                  <a:cubicBezTo>
                    <a:pt x="158852" y="1577400"/>
                    <a:pt x="174092" y="1559620"/>
                    <a:pt x="188062" y="1548190"/>
                  </a:cubicBezTo>
                  <a:cubicBezTo>
                    <a:pt x="198222" y="1540570"/>
                    <a:pt x="208382" y="1536760"/>
                    <a:pt x="221082" y="1536760"/>
                  </a:cubicBezTo>
                  <a:cubicBezTo>
                    <a:pt x="236322" y="1536760"/>
                    <a:pt x="257912" y="1541840"/>
                    <a:pt x="270612" y="1550730"/>
                  </a:cubicBezTo>
                  <a:cubicBezTo>
                    <a:pt x="283312" y="1560890"/>
                    <a:pt x="290932" y="1568510"/>
                    <a:pt x="299822" y="1595180"/>
                  </a:cubicBezTo>
                  <a:cubicBezTo>
                    <a:pt x="339192" y="1696780"/>
                    <a:pt x="372212" y="2189540"/>
                    <a:pt x="411582" y="2418140"/>
                  </a:cubicBezTo>
                  <a:cubicBezTo>
                    <a:pt x="439522" y="2583240"/>
                    <a:pt x="506832" y="2776280"/>
                    <a:pt x="497942" y="2842320"/>
                  </a:cubicBezTo>
                  <a:cubicBezTo>
                    <a:pt x="495402" y="2863910"/>
                    <a:pt x="489052" y="2874070"/>
                    <a:pt x="478892" y="2882960"/>
                  </a:cubicBezTo>
                  <a:cubicBezTo>
                    <a:pt x="468732" y="2893120"/>
                    <a:pt x="450952" y="2900740"/>
                    <a:pt x="436982" y="2900740"/>
                  </a:cubicBezTo>
                  <a:cubicBezTo>
                    <a:pt x="423012" y="2902010"/>
                    <a:pt x="403962" y="2895660"/>
                    <a:pt x="393802" y="2886770"/>
                  </a:cubicBezTo>
                  <a:cubicBezTo>
                    <a:pt x="382372" y="2877880"/>
                    <a:pt x="378562" y="2870260"/>
                    <a:pt x="370942" y="2847400"/>
                  </a:cubicBezTo>
                  <a:cubicBezTo>
                    <a:pt x="341732" y="2755960"/>
                    <a:pt x="339192" y="2406710"/>
                    <a:pt x="307442" y="2110800"/>
                  </a:cubicBezTo>
                  <a:cubicBezTo>
                    <a:pt x="257912" y="1658680"/>
                    <a:pt x="61062" y="563940"/>
                    <a:pt x="80112" y="397570"/>
                  </a:cubicBezTo>
                  <a:cubicBezTo>
                    <a:pt x="83922" y="367090"/>
                    <a:pt x="89002" y="359470"/>
                    <a:pt x="100432" y="346770"/>
                  </a:cubicBezTo>
                  <a:cubicBezTo>
                    <a:pt x="111862" y="334070"/>
                    <a:pt x="132182" y="322640"/>
                    <a:pt x="148692" y="321370"/>
                  </a:cubicBezTo>
                  <a:cubicBezTo>
                    <a:pt x="165202" y="318830"/>
                    <a:pt x="188062" y="323910"/>
                    <a:pt x="202032" y="334070"/>
                  </a:cubicBezTo>
                  <a:cubicBezTo>
                    <a:pt x="216002" y="344230"/>
                    <a:pt x="224892" y="354390"/>
                    <a:pt x="232512" y="379790"/>
                  </a:cubicBezTo>
                  <a:cubicBezTo>
                    <a:pt x="252832" y="447100"/>
                    <a:pt x="235052" y="684590"/>
                    <a:pt x="226162" y="801430"/>
                  </a:cubicBezTo>
                  <a:cubicBezTo>
                    <a:pt x="221082" y="886520"/>
                    <a:pt x="202032" y="946210"/>
                    <a:pt x="198222" y="1019870"/>
                  </a:cubicBezTo>
                  <a:cubicBezTo>
                    <a:pt x="194412" y="1096070"/>
                    <a:pt x="222352" y="1207830"/>
                    <a:pt x="208382" y="1254820"/>
                  </a:cubicBezTo>
                  <a:cubicBezTo>
                    <a:pt x="200762" y="1277680"/>
                    <a:pt x="188062" y="1290380"/>
                    <a:pt x="175362" y="1300540"/>
                  </a:cubicBezTo>
                  <a:cubicBezTo>
                    <a:pt x="163932" y="1308160"/>
                    <a:pt x="152502" y="1313240"/>
                    <a:pt x="138532" y="1313240"/>
                  </a:cubicBezTo>
                  <a:cubicBezTo>
                    <a:pt x="123292" y="1314510"/>
                    <a:pt x="99162" y="1309430"/>
                    <a:pt x="85192" y="1299270"/>
                  </a:cubicBezTo>
                  <a:cubicBezTo>
                    <a:pt x="69952" y="1287840"/>
                    <a:pt x="59792" y="1273870"/>
                    <a:pt x="53442" y="1252280"/>
                  </a:cubicBezTo>
                  <a:cubicBezTo>
                    <a:pt x="43282" y="1211640"/>
                    <a:pt x="55982" y="1145600"/>
                    <a:pt x="66142" y="1071940"/>
                  </a:cubicBezTo>
                  <a:cubicBezTo>
                    <a:pt x="83922" y="944940"/>
                    <a:pt x="158852" y="707450"/>
                    <a:pt x="175362" y="567750"/>
                  </a:cubicBezTo>
                  <a:cubicBezTo>
                    <a:pt x="186792" y="469960"/>
                    <a:pt x="182982" y="397570"/>
                    <a:pt x="180442" y="315020"/>
                  </a:cubicBezTo>
                  <a:cubicBezTo>
                    <a:pt x="177902" y="236280"/>
                    <a:pt x="156312" y="134680"/>
                    <a:pt x="161392" y="85150"/>
                  </a:cubicBezTo>
                  <a:cubicBezTo>
                    <a:pt x="163932" y="61020"/>
                    <a:pt x="167742" y="44510"/>
                    <a:pt x="177902" y="31810"/>
                  </a:cubicBezTo>
                  <a:cubicBezTo>
                    <a:pt x="189332" y="17840"/>
                    <a:pt x="208382" y="3870"/>
                    <a:pt x="226162" y="2600"/>
                  </a:cubicBezTo>
                  <a:cubicBezTo>
                    <a:pt x="247752" y="60"/>
                    <a:pt x="279502" y="8950"/>
                    <a:pt x="297282" y="24190"/>
                  </a:cubicBezTo>
                  <a:cubicBezTo>
                    <a:pt x="316332" y="41970"/>
                    <a:pt x="323952" y="78800"/>
                    <a:pt x="334112" y="109280"/>
                  </a:cubicBezTo>
                  <a:cubicBezTo>
                    <a:pt x="344272" y="142300"/>
                    <a:pt x="349352" y="162620"/>
                    <a:pt x="355702" y="213420"/>
                  </a:cubicBezTo>
                  <a:cubicBezTo>
                    <a:pt x="369672" y="345500"/>
                    <a:pt x="392532" y="830640"/>
                    <a:pt x="364592" y="942400"/>
                  </a:cubicBezTo>
                  <a:cubicBezTo>
                    <a:pt x="355702" y="977960"/>
                    <a:pt x="345542" y="995740"/>
                    <a:pt x="329032" y="1009710"/>
                  </a:cubicBezTo>
                  <a:cubicBezTo>
                    <a:pt x="313792" y="1021140"/>
                    <a:pt x="289662" y="1023680"/>
                    <a:pt x="273152" y="1022410"/>
                  </a:cubicBezTo>
                  <a:cubicBezTo>
                    <a:pt x="259182" y="1021140"/>
                    <a:pt x="247752" y="1017330"/>
                    <a:pt x="236322" y="1008440"/>
                  </a:cubicBezTo>
                  <a:cubicBezTo>
                    <a:pt x="221082" y="995740"/>
                    <a:pt x="208382" y="972880"/>
                    <a:pt x="195682" y="943670"/>
                  </a:cubicBezTo>
                  <a:cubicBezTo>
                    <a:pt x="174092" y="897950"/>
                    <a:pt x="160122" y="829370"/>
                    <a:pt x="137262" y="748090"/>
                  </a:cubicBezTo>
                  <a:cubicBezTo>
                    <a:pt x="100432" y="617280"/>
                    <a:pt x="-3708" y="318830"/>
                    <a:pt x="102" y="237550"/>
                  </a:cubicBezTo>
                  <a:cubicBezTo>
                    <a:pt x="1372" y="210880"/>
                    <a:pt x="7722" y="198180"/>
                    <a:pt x="17882" y="185480"/>
                  </a:cubicBezTo>
                  <a:cubicBezTo>
                    <a:pt x="29312" y="171510"/>
                    <a:pt x="49632" y="161350"/>
                    <a:pt x="66142" y="158810"/>
                  </a:cubicBezTo>
                  <a:cubicBezTo>
                    <a:pt x="83922" y="156270"/>
                    <a:pt x="105512" y="160080"/>
                    <a:pt x="120752" y="170240"/>
                  </a:cubicBezTo>
                  <a:cubicBezTo>
                    <a:pt x="134722" y="179130"/>
                    <a:pt x="152502" y="214690"/>
                    <a:pt x="152502" y="2146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2046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29" y="0"/>
                </a:lnTo>
                <a:lnTo>
                  <a:pt x="1127029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01184" y="2339344"/>
            <a:ext cx="6858116" cy="4885548"/>
          </a:xfrm>
          <a:custGeom>
            <a:avLst/>
            <a:gdLst/>
            <a:ahLst/>
            <a:cxnLst/>
            <a:rect r="r" b="b" t="t" l="l"/>
            <a:pathLst>
              <a:path h="4885548" w="6858116">
                <a:moveTo>
                  <a:pt x="0" y="0"/>
                </a:moveTo>
                <a:lnTo>
                  <a:pt x="6858116" y="0"/>
                </a:lnTo>
                <a:lnTo>
                  <a:pt x="6858116" y="4885548"/>
                </a:lnTo>
                <a:lnTo>
                  <a:pt x="0" y="48855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52869" y="970915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11725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7C7C"/>
                </a:solidFill>
                <a:latin typeface="Raleway Bold"/>
                <a:ea typeface="Raleway Bold"/>
                <a:cs typeface="Raleway Bold"/>
                <a:sym typeface="Raleway Bold"/>
              </a:rPr>
              <a:t>CORE DISTANCE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580535"/>
            <a:ext cx="9062161" cy="335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core distance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serve per capire se un punto può essere </a:t>
            </a:r>
            <a:r>
              <a:rPr lang="en-US" sz="1850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considerato parte del “cuore” di un cluster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-US" sz="1850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più vicini ha attorno a sé, più è probabile che appartenga a un cluster ben formato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just">
              <a:lnSpc>
                <a:spcPts val="2405"/>
              </a:lnSpc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 un punto (p), la core distance è la distanza che lo separa dal suo MinPts-esimo vicino più vicino. Questo valore riflette il livello di densità locale:</a:t>
            </a:r>
          </a:p>
          <a:p>
            <a:pPr algn="just">
              <a:lnSpc>
                <a:spcPts val="2405"/>
              </a:lnSpc>
            </a:pPr>
          </a:p>
          <a:p>
            <a:pPr algn="just" marL="399416" indent="-199708" lvl="1">
              <a:lnSpc>
                <a:spcPts val="2405"/>
              </a:lnSpc>
              <a:buFont typeface="Arial"/>
              <a:buChar char="•"/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il punto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ha almeno MinPts vicini in un raggio ragionevole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è abbastanza “circondato” da altri punti e diventa un core point</a:t>
            </a:r>
          </a:p>
          <a:p>
            <a:pPr algn="just" marL="399416" indent="-199708" lvl="1">
              <a:lnSpc>
                <a:spcPts val="2405"/>
              </a:lnSpc>
              <a:buFont typeface="Arial"/>
              <a:buChar char="•"/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i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vicini sono pochi o troppo distanti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il punto non ha sufficiente densità attorno a sé e non può dare origine a un cluster.</a:t>
            </a:r>
          </a:p>
          <a:p>
            <a:pPr algn="just">
              <a:lnSpc>
                <a:spcPts val="2405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881265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A065"/>
                </a:solidFill>
                <a:latin typeface="Raleway Bold"/>
                <a:ea typeface="Raleway Bold"/>
                <a:cs typeface="Raleway Bold"/>
                <a:sym typeface="Raleway Bold"/>
              </a:rPr>
              <a:t>REACHABILITY DISTANCE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429906"/>
            <a:ext cx="9062161" cy="335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reachability distance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misura quanto un punto è “raggiungibile” da un altro in una zona densa, considerando, oltre alla distanza geometrica, anche la densità locale.</a:t>
            </a:r>
          </a:p>
          <a:p>
            <a:pPr algn="just">
              <a:lnSpc>
                <a:spcPts val="2405"/>
              </a:lnSpc>
            </a:pPr>
          </a:p>
          <a:p>
            <a:pPr algn="just">
              <a:lnSpc>
                <a:spcPts val="2405"/>
              </a:lnSpc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È definita come </a:t>
            </a:r>
            <a:r>
              <a:rPr lang="en-US" sz="1850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massimo tra la core distance del punto di partenza e la distanza effettiva tra i due punti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just">
              <a:lnSpc>
                <a:spcPts val="2405"/>
              </a:lnSpc>
            </a:pPr>
          </a:p>
          <a:p>
            <a:pPr algn="just" marL="399416" indent="-199708" lvl="1">
              <a:lnSpc>
                <a:spcPts val="2405"/>
              </a:lnSpc>
              <a:buFont typeface="Arial"/>
              <a:buChar char="•"/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Valori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bassi  →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continuità in regioni dense;</a:t>
            </a:r>
          </a:p>
          <a:p>
            <a:pPr algn="just" marL="399416" indent="-199708" lvl="1">
              <a:lnSpc>
                <a:spcPts val="2405"/>
              </a:lnSpc>
              <a:buFont typeface="Arial"/>
              <a:buChar char="•"/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alori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alti →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transizioni verso bordi o zone sparse, permettendo a OPTICS di distinguere cluster e rumore.</a:t>
            </a:r>
          </a:p>
          <a:p>
            <a:pPr algn="just">
              <a:lnSpc>
                <a:spcPts val="24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42046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29" y="0"/>
                </a:lnTo>
                <a:lnTo>
                  <a:pt x="1127029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34225" y="3603312"/>
            <a:ext cx="7925075" cy="5482007"/>
          </a:xfrm>
          <a:custGeom>
            <a:avLst/>
            <a:gdLst/>
            <a:ahLst/>
            <a:cxnLst/>
            <a:rect r="r" b="b" t="t" l="l"/>
            <a:pathLst>
              <a:path h="5482007" w="7925075">
                <a:moveTo>
                  <a:pt x="0" y="0"/>
                </a:moveTo>
                <a:lnTo>
                  <a:pt x="7925075" y="0"/>
                </a:lnTo>
                <a:lnTo>
                  <a:pt x="7925075" y="5482007"/>
                </a:lnTo>
                <a:lnTo>
                  <a:pt x="0" y="54820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52869" y="970915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71550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DE59"/>
                </a:solidFill>
                <a:latin typeface="Raleway Bold"/>
                <a:ea typeface="Raleway Bold"/>
                <a:cs typeface="Raleway Bold"/>
                <a:sym typeface="Raleway Bold"/>
              </a:rPr>
              <a:t>REACHABILITY PLOT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624586"/>
            <a:ext cx="14530138" cy="274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reachability plot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è u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d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gli elementi più caratteristici e potenti di OPTICS. Si tratta di un grafico dove i punti vengono </a:t>
            </a:r>
            <a:r>
              <a:rPr lang="en-US" sz="1850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ordinati secondo la sequenza con cui l’algoritmo li visita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e rappresentati in base alla loro reachability distance.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Visualmente:</a:t>
            </a:r>
          </a:p>
          <a:p>
            <a:pPr algn="just">
              <a:lnSpc>
                <a:spcPts val="2405"/>
              </a:lnSpc>
            </a:pPr>
          </a:p>
          <a:p>
            <a:pPr algn="just" marL="399416" indent="-199708" lvl="1">
              <a:lnSpc>
                <a:spcPts val="2405"/>
              </a:lnSpc>
              <a:buFont typeface="Arial"/>
              <a:buChar char="•"/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“val</a:t>
            </a:r>
            <a:r>
              <a:rPr lang="en-US" b="true" sz="1850" spc="55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ate”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indican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r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egioni 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bass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0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reachability distance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quindi zone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nse →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corris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don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cluster. I dro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signific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at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ivi s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na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l'ingr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sso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 una zon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d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sa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i mi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imi loc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li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rappres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ta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 il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"cuo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e".</a:t>
            </a:r>
          </a:p>
          <a:p>
            <a:pPr algn="just">
              <a:lnSpc>
                <a:spcPts val="2405"/>
              </a:lnSpc>
            </a:pPr>
          </a:p>
          <a:p>
            <a:pPr algn="just" marL="399416" indent="-199708" lvl="1">
              <a:lnSpc>
                <a:spcPts val="2405"/>
              </a:lnSpc>
              <a:buFont typeface="Arial"/>
              <a:buChar char="•"/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</a:t>
            </a:r>
            <a:r>
              <a:rPr lang="en-US" b="true" sz="1850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“picchi”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rappres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ntano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punti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con </a:t>
            </a:r>
            <a:r>
              <a:rPr lang="en-US" sz="1850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alta reachability distance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→ spesso in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dica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 rumore, outlier, o transizioni tra cluster, cioè i confini tra una regione densa e l'altra.</a:t>
            </a:r>
          </a:p>
          <a:p>
            <a:pPr algn="just">
              <a:lnSpc>
                <a:spcPts val="2405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798194"/>
            <a:ext cx="7265069" cy="244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sto tipo 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rappresentazione è estrem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amente u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perché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ette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di osservare:</a:t>
            </a:r>
          </a:p>
          <a:p>
            <a:pPr algn="just">
              <a:lnSpc>
                <a:spcPts val="2405"/>
              </a:lnSpc>
            </a:pPr>
          </a:p>
          <a:p>
            <a:pPr algn="just" marL="399416" indent="-199708" lvl="1">
              <a:lnSpc>
                <a:spcPts val="2405"/>
              </a:lnSpc>
              <a:buFont typeface="Arial"/>
              <a:buChar char="•"/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cluster di form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qu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lsiasi,</a:t>
            </a:r>
          </a:p>
          <a:p>
            <a:pPr algn="just" marL="399416" indent="-199708" lvl="1">
              <a:lnSpc>
                <a:spcPts val="2405"/>
              </a:lnSpc>
              <a:buFont typeface="Arial"/>
              <a:buChar char="•"/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cluster con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ità molto div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rs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tra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lo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ro,</a:t>
            </a:r>
          </a:p>
          <a:p>
            <a:pPr algn="just" marL="399416" indent="-199708" lvl="1">
              <a:lnSpc>
                <a:spcPts val="2405"/>
              </a:lnSpc>
              <a:buFont typeface="Arial"/>
              <a:buChar char="•"/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lust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er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nid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ati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1850" spc="55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</a:t>
            </a: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ntro l’altro,</a:t>
            </a:r>
          </a:p>
          <a:p>
            <a:pPr algn="just" marL="399416" indent="-199708" lvl="1">
              <a:lnSpc>
                <a:spcPts val="2405"/>
              </a:lnSpc>
              <a:buFont typeface="Arial"/>
              <a:buChar char="•"/>
            </a:pPr>
            <a:r>
              <a:rPr lang="en-US" sz="1850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la distribuzione del rumore nel dataset.</a:t>
            </a:r>
          </a:p>
          <a:p>
            <a:pPr algn="just">
              <a:lnSpc>
                <a:spcPts val="24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027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628909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57055" y="465582"/>
            <a:ext cx="16773890" cy="120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9273"/>
              </a:lnSpc>
              <a:spcBef>
                <a:spcPct val="0"/>
              </a:spcBef>
            </a:pPr>
            <a:r>
              <a:rPr lang="en-US" b="true" sz="8430" spc="25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FUNZIONAMENTO ALGORITMO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027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067104" y="9729470"/>
            <a:ext cx="219521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4678" y="2332155"/>
            <a:ext cx="16184622" cy="1775323"/>
            <a:chOff x="0" y="0"/>
            <a:chExt cx="21579496" cy="236709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3858279" y="0"/>
              <a:ext cx="5106059" cy="2367097"/>
              <a:chOff x="0" y="0"/>
              <a:chExt cx="876644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7664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76644">
                    <a:moveTo>
                      <a:pt x="0" y="0"/>
                    </a:moveTo>
                    <a:lnTo>
                      <a:pt x="673444" y="0"/>
                    </a:lnTo>
                    <a:lnTo>
                      <a:pt x="876644" y="203200"/>
                    </a:lnTo>
                    <a:lnTo>
                      <a:pt x="673444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38B6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77800" y="-28575"/>
                <a:ext cx="622644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  <a:r>
                  <a:rPr lang="en-US" b="true" sz="1899" spc="56">
                    <a:solidFill>
                      <a:srgbClr val="38B6FF"/>
                    </a:solidFill>
                    <a:latin typeface="Raleway Semi-Bold"/>
                    <a:ea typeface="Raleway Semi-Bold"/>
                    <a:cs typeface="Raleway Semi-Bold"/>
                    <a:sym typeface="Raleway Semi-Bold"/>
                  </a:rPr>
                  <a:t>Definire le Reachability Distances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734194" cy="2367097"/>
              <a:chOff x="0" y="0"/>
              <a:chExt cx="812800" cy="406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60960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609600" y="406400"/>
                    </a:lnTo>
                    <a:lnTo>
                      <a:pt x="812800" y="203200"/>
                    </a:lnTo>
                    <a:lnTo>
                      <a:pt x="6096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2962F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69850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  <a:r>
                  <a:rPr lang="en-US" b="true" sz="1899" spc="56">
                    <a:solidFill>
                      <a:srgbClr val="2962FF"/>
                    </a:solidFill>
                    <a:latin typeface="Raleway Bold"/>
                    <a:ea typeface="Raleway Bold"/>
                    <a:cs typeface="Raleway Bold"/>
                    <a:sym typeface="Raleway Bold"/>
                  </a:rPr>
                  <a:t>Identificare i core points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8058624" y="0"/>
              <a:ext cx="5106059" cy="2367097"/>
              <a:chOff x="0" y="0"/>
              <a:chExt cx="876644" cy="406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7664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76644">
                    <a:moveTo>
                      <a:pt x="0" y="0"/>
                    </a:moveTo>
                    <a:lnTo>
                      <a:pt x="673444" y="0"/>
                    </a:lnTo>
                    <a:lnTo>
                      <a:pt x="876644" y="203200"/>
                    </a:lnTo>
                    <a:lnTo>
                      <a:pt x="673444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62DDA7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77800" y="-28575"/>
                <a:ext cx="622644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  <a:r>
                  <a:rPr lang="en-US" b="true" sz="1899" spc="56">
                    <a:solidFill>
                      <a:srgbClr val="62DDA7"/>
                    </a:solidFill>
                    <a:latin typeface="Raleway Semi-Bold"/>
                    <a:ea typeface="Raleway Semi-Bold"/>
                    <a:cs typeface="Raleway Semi-Bold"/>
                    <a:sym typeface="Raleway Semi-Bold"/>
                  </a:rPr>
                  <a:t>Scoprire i Border Points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2273091" y="0"/>
              <a:ext cx="5106059" cy="2367097"/>
              <a:chOff x="0" y="0"/>
              <a:chExt cx="876644" cy="406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7664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76644">
                    <a:moveTo>
                      <a:pt x="0" y="0"/>
                    </a:moveTo>
                    <a:lnTo>
                      <a:pt x="673444" y="0"/>
                    </a:lnTo>
                    <a:lnTo>
                      <a:pt x="876644" y="203200"/>
                    </a:lnTo>
                    <a:lnTo>
                      <a:pt x="673444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7ED957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28575"/>
                <a:ext cx="622644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  <a:r>
                  <a:rPr lang="en-US" b="true" sz="1899" spc="56">
                    <a:solidFill>
                      <a:srgbClr val="7ED957"/>
                    </a:solidFill>
                    <a:latin typeface="Raleway Semi-Bold"/>
                    <a:ea typeface="Raleway Semi-Bold"/>
                    <a:cs typeface="Raleway Semi-Bold"/>
                    <a:sym typeface="Raleway Semi-Bold"/>
                  </a:rPr>
                  <a:t>Classificare i Noise Points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6473436" y="0"/>
              <a:ext cx="5106059" cy="2367097"/>
              <a:chOff x="0" y="0"/>
              <a:chExt cx="876644" cy="406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7664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76644">
                    <a:moveTo>
                      <a:pt x="0" y="0"/>
                    </a:moveTo>
                    <a:lnTo>
                      <a:pt x="673444" y="0"/>
                    </a:lnTo>
                    <a:lnTo>
                      <a:pt x="876644" y="203200"/>
                    </a:lnTo>
                    <a:lnTo>
                      <a:pt x="673444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47625" cap="sq">
                <a:solidFill>
                  <a:srgbClr val="FFDE59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28575"/>
                <a:ext cx="622644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69"/>
                  </a:lnSpc>
                </a:pPr>
                <a:r>
                  <a:rPr lang="en-US" b="true" sz="1899" spc="56">
                    <a:solidFill>
                      <a:srgbClr val="FFDE59"/>
                    </a:solidFill>
                    <a:latin typeface="Raleway Semi-Bold"/>
                    <a:ea typeface="Raleway Semi-Bold"/>
                    <a:cs typeface="Raleway Semi-Bold"/>
                    <a:sym typeface="Raleway Semi-Bold"/>
                  </a:rPr>
                  <a:t>Costruzione del Reachability</a:t>
                </a:r>
              </a:p>
              <a:p>
                <a:pPr algn="ctr">
                  <a:lnSpc>
                    <a:spcPts val="2469"/>
                  </a:lnSpc>
                </a:pPr>
                <a:r>
                  <a:rPr lang="en-US" b="true" sz="1899" spc="56">
                    <a:solidFill>
                      <a:srgbClr val="FFDE59"/>
                    </a:solidFill>
                    <a:latin typeface="Raleway Semi-Bold"/>
                    <a:ea typeface="Raleway Semi-Bold"/>
                    <a:cs typeface="Raleway Semi-Bold"/>
                    <a:sym typeface="Raleway Semi-Bold"/>
                  </a:rPr>
                  <a:t>Plot </a:t>
                </a: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1028700" y="4659928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2962FF"/>
                </a:solidFill>
                <a:latin typeface="Raleway Bold"/>
                <a:ea typeface="Raleway Bold"/>
                <a:cs typeface="Raleway Bold"/>
                <a:sym typeface="Raleway Bold"/>
              </a:rPr>
              <a:t>01. IDENTIFICARE I CORE POINTS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5168999"/>
            <a:ext cx="16230600" cy="13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l’algoritmo identifica i </a:t>
            </a:r>
            <a:r>
              <a:rPr lang="en-US" b="true" sz="1900" spc="38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core points</a:t>
            </a: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quando un punto soddisfa le condizioni per essere c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tutt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 punt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ne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suo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intorno vengono con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siderati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parte dello stesso gruppo. L’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oritmo quindi individua i punti direttamente raggiungibili dai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 po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int, che sono gli unici da cui può iniziare la formazione effettiva di un </a:t>
            </a:r>
            <a:r>
              <a:rPr lang="en-US" b="true" sz="1900" spc="38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just" marL="0" indent="0" lvl="1">
              <a:lnSpc>
                <a:spcPts val="266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6899292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38B6FF"/>
                </a:solidFill>
                <a:latin typeface="Raleway Bold"/>
                <a:ea typeface="Raleway Bold"/>
                <a:cs typeface="Raleway Bold"/>
                <a:sym typeface="Raleway Bold"/>
              </a:rPr>
              <a:t>02. DEFINIRE LE REACHABILITY DISTANCES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7408362"/>
            <a:ext cx="16230600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 calcola la</a:t>
            </a:r>
            <a:r>
              <a:rPr lang="en-US" b="true" sz="1900" spc="38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reachability distance</a:t>
            </a: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Il risultato serve a costruire il </a:t>
            </a:r>
            <a:r>
              <a:rPr lang="en-US" b="true" sz="1900" spc="38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reachability plot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valori bassi indicano aree dense e ben definite, mentre valori alti segnalano bordi di cluster o punti isolati.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027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628909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8557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30" y="0"/>
                </a:lnTo>
                <a:lnTo>
                  <a:pt x="1127030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027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067104" y="9729470"/>
            <a:ext cx="219521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78246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62DDA7"/>
                </a:solidFill>
                <a:latin typeface="Raleway Bold"/>
                <a:ea typeface="Raleway Bold"/>
                <a:cs typeface="Raleway Bold"/>
                <a:sym typeface="Raleway Bold"/>
              </a:rPr>
              <a:t>03. SCOPRIRE I BORDER POINTS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987317"/>
            <a:ext cx="16230600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L’algoritmo identifica i </a:t>
            </a:r>
            <a:r>
              <a:rPr lang="en-US" b="true" sz="1900" spc="38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border points</a:t>
            </a: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Anche se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non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prese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nt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ano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ce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tro d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el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ter, ne fanno comunque parte e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am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lian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la forma, creando una continuità naturale tra diverse zone dei dati. I punti di bor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do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ontribuiscono alla </a:t>
            </a:r>
            <a:r>
              <a:rPr lang="en-US" b="true" sz="1900" spc="38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densità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del cluster e servono a </a:t>
            </a:r>
            <a:r>
              <a:rPr lang="en-US" b="true" sz="1900" spc="38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evitare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che gruppi di punti vengano </a:t>
            </a:r>
            <a:r>
              <a:rPr lang="en-US" b="true" sz="1900" spc="38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separati in modo artificiale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527332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7ED957"/>
                </a:solidFill>
                <a:latin typeface="Raleway Bold"/>
                <a:ea typeface="Raleway Bold"/>
                <a:cs typeface="Raleway Bold"/>
                <a:sym typeface="Raleway Bold"/>
              </a:rPr>
              <a:t>04. CLASSIFICARE I NOISE POINTS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036403"/>
            <a:ext cx="16230600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Vengono identificati i </a:t>
            </a:r>
            <a:r>
              <a:rPr lang="en-US" b="true" sz="1900" spc="38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noise points</a:t>
            </a: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Nel reachability plot compaiono come </a:t>
            </a:r>
            <a:r>
              <a:rPr lang="en-US" b="true" sz="1900" spc="38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punti isolati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con distanze elevate, segnalando che non appartengono a nessun cluster significativo. In pratica, rappresentano valori </a:t>
            </a:r>
            <a:r>
              <a:rPr lang="en-US" b="true" sz="1900" spc="38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rari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</a:t>
            </a:r>
            <a:r>
              <a:rPr lang="en-US" b="true" sz="1900" spc="38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poco rilevanti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rispetto alla struttura principale dei dati e vengono </a:t>
            </a:r>
            <a:r>
              <a:rPr lang="en-US" b="true" sz="1900" spc="38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esclusi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dai cluster finali.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578818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DE59"/>
                </a:solidFill>
                <a:latin typeface="Raleway Bold"/>
                <a:ea typeface="Raleway Bold"/>
                <a:cs typeface="Raleway Bold"/>
                <a:sym typeface="Raleway Bold"/>
              </a:rPr>
              <a:t>05. COSTRUZIONE DEL REACHABILITY PLOT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8225" y="7087888"/>
            <a:ext cx="16230600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Viene costruito il </a:t>
            </a:r>
            <a:r>
              <a:rPr lang="en-US" b="true" sz="1900" spc="38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reachability plot</a:t>
            </a:r>
            <a:r>
              <a:rPr lang="en-US" sz="1900" spc="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r>
              <a:rPr lang="en-US" sz="1900" spc="38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Analizzando la forma del plot è possibile individuare facilmente i cluster e anche la loro gerarchia, scegliendo una soglia di reachability a cui “tagliare” il grafico. Questa flessibilità rende OPTICS molto utile quando non si conosce in anticipo il numero di cluster presenti nei dati.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027" y="389360"/>
            <a:ext cx="24844443" cy="1278681"/>
            <a:chOff x="0" y="0"/>
            <a:chExt cx="33125925" cy="170490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6200"/>
              <a:ext cx="17387830" cy="1628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276"/>
                </a:lnSpc>
              </a:pPr>
              <a:r>
                <a:rPr lang="en-US" b="true" sz="8433" spc="253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OPTICS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810263" y="342897"/>
              <a:ext cx="1469632" cy="1140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7"/>
                </a:lnSpc>
              </a:pPr>
              <a:r>
                <a:rPr lang="en-US" b="true" sz="5833" spc="175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VS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506800" y="76200"/>
              <a:ext cx="6614092" cy="1628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276"/>
                </a:lnSpc>
              </a:pPr>
              <a:r>
                <a:rPr lang="en-US" b="true" sz="8433" spc="253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DBSCAN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4039863" y="342897"/>
              <a:ext cx="1469632" cy="1140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7"/>
                </a:lnSpc>
              </a:pPr>
              <a:r>
                <a:rPr lang="en-US" b="true" sz="5833" spc="175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VS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5738094" y="76200"/>
              <a:ext cx="17387830" cy="1628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276"/>
                </a:lnSpc>
              </a:pPr>
              <a:r>
                <a:rPr lang="en-US" b="true" sz="8433" spc="253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K-MEANS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2180035"/>
            <a:ext cx="16522522" cy="6383114"/>
            <a:chOff x="0" y="0"/>
            <a:chExt cx="22030030" cy="85108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9083385" y="2101616"/>
              <a:ext cx="3063588" cy="2971680"/>
            </a:xfrm>
            <a:custGeom>
              <a:avLst/>
              <a:gdLst/>
              <a:ahLst/>
              <a:cxnLst/>
              <a:rect r="r" b="b" t="t" l="l"/>
              <a:pathLst>
                <a:path h="2971680" w="3063588">
                  <a:moveTo>
                    <a:pt x="0" y="0"/>
                  </a:moveTo>
                  <a:lnTo>
                    <a:pt x="3063588" y="0"/>
                  </a:lnTo>
                  <a:lnTo>
                    <a:pt x="3063588" y="2971680"/>
                  </a:lnTo>
                  <a:lnTo>
                    <a:pt x="0" y="297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3909744" y="7274345"/>
              <a:ext cx="4457520" cy="1236473"/>
              <a:chOff x="0" y="0"/>
              <a:chExt cx="812800" cy="22546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225463"/>
              </a:xfrm>
              <a:custGeom>
                <a:avLst/>
                <a:gdLst/>
                <a:ahLst/>
                <a:cxnLst/>
                <a:rect r="r" b="b" t="t" l="l"/>
                <a:pathLst>
                  <a:path h="22546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25463"/>
                    </a:lnTo>
                    <a:lnTo>
                      <a:pt x="0" y="225463"/>
                    </a:lnTo>
                    <a:close/>
                  </a:path>
                </a:pathLst>
              </a:custGeom>
              <a:solidFill>
                <a:srgbClr val="FFC0D8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812800" cy="2635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8367265" y="5073296"/>
              <a:ext cx="4457520" cy="3437522"/>
              <a:chOff x="0" y="0"/>
              <a:chExt cx="812800" cy="62681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626810"/>
              </a:xfrm>
              <a:custGeom>
                <a:avLst/>
                <a:gdLst/>
                <a:ahLst/>
                <a:cxnLst/>
                <a:rect r="r" b="b" t="t" l="l"/>
                <a:pathLst>
                  <a:path h="62681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626810"/>
                    </a:lnTo>
                    <a:lnTo>
                      <a:pt x="0" y="626810"/>
                    </a:lnTo>
                    <a:close/>
                  </a:path>
                </a:pathLst>
              </a:custGeom>
              <a:solidFill>
                <a:srgbClr val="FFC0D8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12800" cy="6649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2824785" y="6173820"/>
              <a:ext cx="4457520" cy="2336998"/>
              <a:chOff x="0" y="0"/>
              <a:chExt cx="812800" cy="42613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426136"/>
              </a:xfrm>
              <a:custGeom>
                <a:avLst/>
                <a:gdLst/>
                <a:ahLst/>
                <a:cxnLst/>
                <a:rect r="r" b="b" t="t" l="l"/>
                <a:pathLst>
                  <a:path h="426136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26136"/>
                    </a:lnTo>
                    <a:lnTo>
                      <a:pt x="0" y="426136"/>
                    </a:lnTo>
                    <a:close/>
                  </a:path>
                </a:pathLst>
              </a:custGeom>
              <a:solidFill>
                <a:srgbClr val="FFC0D8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812800" cy="4642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4606711" y="4302664"/>
              <a:ext cx="3063588" cy="2971680"/>
            </a:xfrm>
            <a:custGeom>
              <a:avLst/>
              <a:gdLst/>
              <a:ahLst/>
              <a:cxnLst/>
              <a:rect r="r" b="b" t="t" l="l"/>
              <a:pathLst>
                <a:path h="2971680" w="3063588">
                  <a:moveTo>
                    <a:pt x="0" y="0"/>
                  </a:moveTo>
                  <a:lnTo>
                    <a:pt x="3063588" y="0"/>
                  </a:lnTo>
                  <a:lnTo>
                    <a:pt x="3063588" y="2971681"/>
                  </a:lnTo>
                  <a:lnTo>
                    <a:pt x="0" y="2971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3521751" y="3202140"/>
              <a:ext cx="3063588" cy="2971680"/>
            </a:xfrm>
            <a:custGeom>
              <a:avLst/>
              <a:gdLst/>
              <a:ahLst/>
              <a:cxnLst/>
              <a:rect r="r" b="b" t="t" l="l"/>
              <a:pathLst>
                <a:path h="2971680" w="3063588">
                  <a:moveTo>
                    <a:pt x="0" y="0"/>
                  </a:moveTo>
                  <a:lnTo>
                    <a:pt x="3063588" y="0"/>
                  </a:lnTo>
                  <a:lnTo>
                    <a:pt x="3063588" y="2971680"/>
                  </a:lnTo>
                  <a:lnTo>
                    <a:pt x="0" y="297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5892700" y="4578027"/>
              <a:ext cx="491610" cy="878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80"/>
                </a:lnSpc>
              </a:pPr>
              <a:r>
                <a:rPr lang="en-US" b="true" sz="4527" spc="135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3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0417068" y="2397249"/>
              <a:ext cx="396223" cy="878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80"/>
                </a:lnSpc>
              </a:pPr>
              <a:r>
                <a:rPr lang="en-US" b="true" sz="4527" spc="135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1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4855434" y="3544950"/>
              <a:ext cx="396223" cy="878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80"/>
                </a:lnSpc>
              </a:pPr>
              <a:r>
                <a:rPr lang="en-US" b="true" sz="4527" spc="135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2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9695387" y="-66675"/>
              <a:ext cx="1801275" cy="631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1">
                <a:lnSpc>
                  <a:spcPts val="3943"/>
                </a:lnSpc>
              </a:pPr>
              <a:r>
                <a:rPr lang="en-US" b="true" sz="2816" spc="56">
                  <a:solidFill>
                    <a:srgbClr val="FABF5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OPTICS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7368702" y="692888"/>
              <a:ext cx="6492954" cy="9431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881"/>
                </a:lnSpc>
              </a:pPr>
              <a:r>
                <a:rPr lang="en-US" b="true" sz="2058" spc="4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Eccelle nell’identificazione di clusters di densità variabili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7751616" y="1120507"/>
              <a:ext cx="2063875" cy="631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1">
                <a:lnSpc>
                  <a:spcPts val="3943"/>
                </a:lnSpc>
              </a:pPr>
              <a:r>
                <a:rPr lang="en-US" b="true" sz="2816" spc="56">
                  <a:solidFill>
                    <a:srgbClr val="BCB4A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DBSCAN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5537076" y="1876346"/>
              <a:ext cx="6492954" cy="9431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881"/>
                </a:lnSpc>
              </a:pPr>
              <a:r>
                <a:rPr lang="en-US" b="true" sz="2058" spc="4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Trova efficacemente clusters di densità uniforme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050391" y="1120507"/>
              <a:ext cx="2392171" cy="631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1">
                <a:lnSpc>
                  <a:spcPts val="3943"/>
                </a:lnSpc>
              </a:pPr>
              <a:r>
                <a:rPr lang="en-US" b="true" sz="2816" spc="56">
                  <a:solidFill>
                    <a:srgbClr val="CC815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K-MEANS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876346"/>
              <a:ext cx="6492954" cy="9431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881"/>
                </a:lnSpc>
              </a:pPr>
              <a:r>
                <a:rPr lang="en-US" b="true" sz="2058" spc="4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Trova efficientemente i dati dei clusters in forma sferica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027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628909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8557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30" y="0"/>
                </a:lnTo>
                <a:lnTo>
                  <a:pt x="1127030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76393" y="2716229"/>
            <a:ext cx="15735213" cy="372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716"/>
              </a:lnSpc>
              <a:spcBef>
                <a:spcPct val="0"/>
              </a:spcBef>
            </a:pPr>
            <a:r>
              <a:rPr lang="en-US" b="true" sz="8833" spc="26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APPLICAZIONE DI OPTICS SU UN INSIEME DI DATI REALI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027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06710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5214" y="6881496"/>
            <a:ext cx="3977572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059"/>
              </a:lnSpc>
            </a:pPr>
            <a:r>
              <a:rPr lang="en-US" b="true" sz="2899" spc="57">
                <a:solidFill>
                  <a:srgbClr val="FF9DC3"/>
                </a:solidFill>
                <a:latin typeface="Raleway Bold"/>
                <a:ea typeface="Raleway Bold"/>
                <a:cs typeface="Raleway Bold"/>
                <a:sym typeface="Raleway Bold"/>
              </a:rPr>
              <a:t>DATASET: “Penguins”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266594"/>
            <a:ext cx="480334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9DC3"/>
                </a:solidFill>
                <a:latin typeface="Raleway Bold"/>
                <a:ea typeface="Raleway Bold"/>
                <a:cs typeface="Raleway Bold"/>
                <a:sym typeface="Raleway Bold"/>
              </a:rPr>
              <a:t>Obiettivi: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692096"/>
            <a:ext cx="302694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9DC3"/>
                </a:solidFill>
                <a:latin typeface="Raleway Bold"/>
                <a:ea typeface="Raleway Bold"/>
                <a:cs typeface="Raleway Bold"/>
                <a:sym typeface="Raleway Bold"/>
              </a:rPr>
              <a:t>Strumenti utilizzati: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24929" y="3295169"/>
            <a:ext cx="12634371" cy="91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L’obiettivo di questa parte pratica è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vedere come OPTICS si comporta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su un dataset reale con poche dimensioni e una possibile struttura a cluster e, allo stesso tempo,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capire se nei dati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dei pinguini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emergono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davvero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gruppi di individui con caratteristiche simili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(ad ese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mp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nsioni,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sa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orpor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ea 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sesso).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24929" y="5720671"/>
            <a:ext cx="12634371" cy="244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 analizzare il comportamento dell’algoritmo OPTICS è stato utilizzato il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dataset “</a:t>
            </a:r>
            <a:r>
              <a:rPr lang="en-US" b="true" sz="1851" i="true" spc="55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Penguins”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che contiene una serie di misure morfologiche di un ampio numero di pinguini (lunghezza e profondità del becco, lunghezza della pinna, massa corporea) e il loro sesso.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L’algoritmo è stato implementato in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Python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utilizzando le principali librerie per l’analisi dei dati e il machine learning.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OBIETTIVI E STRUMENTI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2136" y="4581654"/>
            <a:ext cx="7557737" cy="1973854"/>
          </a:xfrm>
          <a:custGeom>
            <a:avLst/>
            <a:gdLst/>
            <a:ahLst/>
            <a:cxnLst/>
            <a:rect r="r" b="b" t="t" l="l"/>
            <a:pathLst>
              <a:path h="1973854" w="7557737">
                <a:moveTo>
                  <a:pt x="0" y="0"/>
                </a:moveTo>
                <a:lnTo>
                  <a:pt x="7557736" y="0"/>
                </a:lnTo>
                <a:lnTo>
                  <a:pt x="7557736" y="1973854"/>
                </a:lnTo>
                <a:lnTo>
                  <a:pt x="0" y="1973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99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60141" y="4505488"/>
            <a:ext cx="3033511" cy="780777"/>
          </a:xfrm>
          <a:custGeom>
            <a:avLst/>
            <a:gdLst/>
            <a:ahLst/>
            <a:cxnLst/>
            <a:rect r="r" b="b" t="t" l="l"/>
            <a:pathLst>
              <a:path h="780777" w="3033511">
                <a:moveTo>
                  <a:pt x="0" y="0"/>
                </a:moveTo>
                <a:lnTo>
                  <a:pt x="3033511" y="0"/>
                </a:lnTo>
                <a:lnTo>
                  <a:pt x="3033511" y="780777"/>
                </a:lnTo>
                <a:lnTo>
                  <a:pt x="0" y="7807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441888" y="5443410"/>
            <a:ext cx="670018" cy="543502"/>
            <a:chOff x="0" y="0"/>
            <a:chExt cx="813181" cy="6596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3181" cy="659632"/>
            </a:xfrm>
            <a:custGeom>
              <a:avLst/>
              <a:gdLst/>
              <a:ahLst/>
              <a:cxnLst/>
              <a:rect r="r" b="b" t="t" l="l"/>
              <a:pathLst>
                <a:path h="659632" w="813181">
                  <a:moveTo>
                    <a:pt x="406591" y="659632"/>
                  </a:moveTo>
                  <a:lnTo>
                    <a:pt x="0" y="253232"/>
                  </a:lnTo>
                  <a:lnTo>
                    <a:pt x="203200" y="253232"/>
                  </a:lnTo>
                  <a:lnTo>
                    <a:pt x="203200" y="0"/>
                  </a:lnTo>
                  <a:lnTo>
                    <a:pt x="609981" y="0"/>
                  </a:lnTo>
                  <a:lnTo>
                    <a:pt x="609981" y="253232"/>
                  </a:lnTo>
                  <a:lnTo>
                    <a:pt x="813181" y="253232"/>
                  </a:lnTo>
                  <a:lnTo>
                    <a:pt x="406591" y="659632"/>
                  </a:lnTo>
                  <a:close/>
                </a:path>
              </a:pathLst>
            </a:custGeom>
            <a:solidFill>
              <a:srgbClr val="2962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03200" y="-19050"/>
              <a:ext cx="406781" cy="577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20978"/>
            <a:ext cx="14131714" cy="2374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DAL PUNTO DI VISTA IMPLEMENTATIVO...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132915"/>
            <a:ext cx="1056524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2962FF"/>
                </a:solidFill>
                <a:latin typeface="Raleway Bold"/>
                <a:ea typeface="Raleway Bold"/>
                <a:cs typeface="Raleway Bold"/>
                <a:sym typeface="Raleway Bold"/>
              </a:rPr>
              <a:t>01. SETTING DELL’AMBIENTE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814661"/>
            <a:ext cx="7551172" cy="61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 prima cosa sono state impor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tat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tutte le librerie necessarie al funzionamento del programma: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94493" y="3814661"/>
            <a:ext cx="6765675" cy="61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dataset è stato caricato da file CSV in un DataFrame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pandas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ne è stata effettuata una prima ispezione: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94493" y="6115482"/>
            <a:ext cx="6964807" cy="3053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L’output mostra le prime righe e alcune informazioni strutturali: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344 righe totali</a:t>
            </a: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5 colonne:</a:t>
            </a:r>
          </a:p>
          <a:p>
            <a:pPr algn="just" marL="799450" indent="-266483" lvl="2">
              <a:lnSpc>
                <a:spcPts val="2406"/>
              </a:lnSpc>
              <a:buFont typeface="Arial"/>
              <a:buChar char="⚬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culmen_length_mm,culmen_depth_mm, flipper_length_mm, body_mass_g (di tipo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float64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</a:p>
          <a:p>
            <a:pPr algn="just" marL="799450" indent="-266483" lvl="2">
              <a:lnSpc>
                <a:spcPts val="2406"/>
              </a:lnSpc>
              <a:buFont typeface="Arial"/>
              <a:buChar char="⚬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sex (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tipo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object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Viene inoltre evidenziata la presenza di valori mancanti.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46433" y="6596362"/>
            <a:ext cx="2630391" cy="544219"/>
          </a:xfrm>
          <a:custGeom>
            <a:avLst/>
            <a:gdLst/>
            <a:ahLst/>
            <a:cxnLst/>
            <a:rect r="r" b="b" t="t" l="l"/>
            <a:pathLst>
              <a:path h="544219" w="2630391">
                <a:moveTo>
                  <a:pt x="0" y="0"/>
                </a:moveTo>
                <a:lnTo>
                  <a:pt x="2630391" y="0"/>
                </a:lnTo>
                <a:lnTo>
                  <a:pt x="2630391" y="544219"/>
                </a:lnTo>
                <a:lnTo>
                  <a:pt x="0" y="54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42558" y="6364525"/>
            <a:ext cx="6559641" cy="567384"/>
          </a:xfrm>
          <a:custGeom>
            <a:avLst/>
            <a:gdLst/>
            <a:ahLst/>
            <a:cxnLst/>
            <a:rect r="r" b="b" t="t" l="l"/>
            <a:pathLst>
              <a:path h="567384" w="6559641">
                <a:moveTo>
                  <a:pt x="0" y="0"/>
                </a:moveTo>
                <a:lnTo>
                  <a:pt x="6559641" y="0"/>
                </a:lnTo>
                <a:lnTo>
                  <a:pt x="6559641" y="567384"/>
                </a:lnTo>
                <a:lnTo>
                  <a:pt x="0" y="5673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05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IMPLEMENTAZIONE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132915"/>
            <a:ext cx="488904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38B6FF"/>
                </a:solidFill>
                <a:latin typeface="Raleway Bold"/>
                <a:ea typeface="Raleway Bold"/>
                <a:cs typeface="Raleway Bold"/>
                <a:sym typeface="Raleway Bold"/>
              </a:rPr>
              <a:t>02. PRE-PROCESSING DEI DATI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814661"/>
            <a:ext cx="12393679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Prima di poter applicar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l’algoritmo è stato necessario ripulire e trasformare i dati, mediante i seguenti step: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833638"/>
            <a:ext cx="7320577" cy="33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  <a:spcBef>
                <a:spcPct val="0"/>
              </a:spcBef>
            </a:pPr>
            <a:r>
              <a:rPr lang="en-US" b="true" sz="2051" spc="61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Rimozione dei valori mancanti: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410200"/>
            <a:ext cx="7065857" cy="91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 eliminano le righe contenenti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almeno un valore mancante; questo riduce leggermente il numero di pinguini ma garantisce che l’algoritmo lavori su un dataset completo.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39592" y="4833638"/>
            <a:ext cx="7320577" cy="33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  <a:spcBef>
                <a:spcPct val="0"/>
              </a:spcBef>
            </a:pPr>
            <a:r>
              <a:rPr lang="en-US" b="true" sz="2051" spc="61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Codifica della variabile categorica </a:t>
            </a:r>
            <a:r>
              <a:rPr lang="en-US" b="true" sz="2051" i="true" spc="61">
                <a:solidFill>
                  <a:srgbClr val="000000"/>
                </a:solidFill>
                <a:latin typeface="Raleway Semi-Bold Italics"/>
                <a:ea typeface="Raleway Semi-Bold Italics"/>
                <a:cs typeface="Raleway Semi-Bold Italics"/>
                <a:sym typeface="Raleway Semi-Bold Italics"/>
              </a:rPr>
              <a:t>sex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39592" y="5410200"/>
            <a:ext cx="7320577" cy="61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OPTICS richiede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esc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lusivamente feature numeriche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 La variabile sex è stata trasformata in una variabile binaria: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39592" y="7242997"/>
            <a:ext cx="7320577" cy="91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L’opzione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drop_first=True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evita la col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linearità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invece di creare due colonne (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sex_FEMALE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sex_MALE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) ridondanti, viene mantenuta solo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sex_MALE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(0 = femmina, 1= maschio)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6060" y="7378706"/>
            <a:ext cx="7065857" cy="27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Come risultato si hanno 335 righe totali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49931" y="4757141"/>
            <a:ext cx="5880669" cy="3028544"/>
          </a:xfrm>
          <a:custGeom>
            <a:avLst/>
            <a:gdLst/>
            <a:ahLst/>
            <a:cxnLst/>
            <a:rect r="r" b="b" t="t" l="l"/>
            <a:pathLst>
              <a:path h="3028544" w="5880669">
                <a:moveTo>
                  <a:pt x="0" y="0"/>
                </a:moveTo>
                <a:lnTo>
                  <a:pt x="5880669" y="0"/>
                </a:lnTo>
                <a:lnTo>
                  <a:pt x="5880669" y="3028544"/>
                </a:lnTo>
                <a:lnTo>
                  <a:pt x="0" y="30285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19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32915"/>
            <a:ext cx="499547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62DDA7"/>
                </a:solidFill>
                <a:latin typeface="Raleway Bold"/>
                <a:ea typeface="Raleway Bold"/>
                <a:cs typeface="Raleway Bold"/>
                <a:sym typeface="Raleway Bold"/>
              </a:rPr>
              <a:t>03. SELEZIONE DELLE FEATURE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786852"/>
            <a:ext cx="7693077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state selezionate tutte le feature disponibili per il clustering: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728566"/>
            <a:ext cx="7693077" cy="274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culmen_length_mm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-&gt; Lunghezza del becco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culmen_depth_mm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-&gt; Profondità del becco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flipper_length_mm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-&gt; Lunghezza della pinna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body_mass_g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-&gt; Massa corporea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sex_MALE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-&gt; Sesso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IMPLEMENTAZIONE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668214"/>
            <a:ext cx="7754277" cy="1657477"/>
          </a:xfrm>
          <a:custGeom>
            <a:avLst/>
            <a:gdLst/>
            <a:ahLst/>
            <a:cxnLst/>
            <a:rect r="r" b="b" t="t" l="l"/>
            <a:pathLst>
              <a:path h="1657477" w="7754277">
                <a:moveTo>
                  <a:pt x="0" y="0"/>
                </a:moveTo>
                <a:lnTo>
                  <a:pt x="7754277" y="0"/>
                </a:lnTo>
                <a:lnTo>
                  <a:pt x="7754277" y="1657476"/>
                </a:lnTo>
                <a:lnTo>
                  <a:pt x="0" y="1657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32915"/>
            <a:ext cx="671606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7ED957"/>
                </a:solidFill>
                <a:latin typeface="Raleway Bold"/>
                <a:ea typeface="Raleway Bold"/>
                <a:cs typeface="Raleway Bold"/>
                <a:sym typeface="Raleway Bold"/>
              </a:rPr>
              <a:t>04. STANDARDIZZAZIONE DELLE FEATURE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786852"/>
            <a:ext cx="16230600" cy="61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 variabili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presentano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scale molto diverse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(millimetri, grammi, variabile binaria). Poiché OPTICS si basa sulle distanze, è necessario riportarle su una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scala comparabile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tramite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standardizzazione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per evitare che alcune feature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influenzino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maggiormente l’algoritmo.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547102"/>
            <a:ext cx="10944641" cy="152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L’output conferma che: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i="true" spc="55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X_scaled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ha dimensione (335, 5)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spcBef>
                <a:spcPct val="0"/>
              </a:spcBef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gni riga rappresenta un pinguino in uno spazio a 5 dimensioni standardizzato, ad esempio:</a:t>
            </a:r>
          </a:p>
        </p:txBody>
      </p:sp>
      <p:sp>
        <p:nvSpPr>
          <p:cNvPr name="AutoShape 6" id="6"/>
          <p:cNvSpPr/>
          <p:nvPr/>
        </p:nvSpPr>
        <p:spPr>
          <a:xfrm>
            <a:off x="666027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628909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027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067104" y="9729470"/>
            <a:ext cx="248543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28557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30" y="0"/>
                </a:lnTo>
                <a:lnTo>
                  <a:pt x="1127030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74570" y="8429859"/>
            <a:ext cx="7463135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  <a:spcBef>
                <a:spcPct val="0"/>
              </a:spcBef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Prima riga: [-0.89772327 0.77726336 -0.12689335 -0.57223347 0.99108452]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IMPLEMENTAZIONE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027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628909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8557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30" y="0"/>
                </a:lnTo>
                <a:lnTo>
                  <a:pt x="1127030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21094" y="6645700"/>
            <a:ext cx="3845811" cy="2370093"/>
          </a:xfrm>
          <a:custGeom>
            <a:avLst/>
            <a:gdLst/>
            <a:ahLst/>
            <a:cxnLst/>
            <a:rect r="r" b="b" t="t" l="l"/>
            <a:pathLst>
              <a:path h="2370093" w="3845811">
                <a:moveTo>
                  <a:pt x="0" y="0"/>
                </a:moveTo>
                <a:lnTo>
                  <a:pt x="3845812" y="0"/>
                </a:lnTo>
                <a:lnTo>
                  <a:pt x="3845812" y="2370093"/>
                </a:lnTo>
                <a:lnTo>
                  <a:pt x="0" y="23700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132915"/>
            <a:ext cx="671606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DE59"/>
                </a:solidFill>
                <a:latin typeface="Raleway Bold"/>
                <a:ea typeface="Raleway Bold"/>
                <a:cs typeface="Raleway Bold"/>
                <a:sym typeface="Raleway Bold"/>
              </a:rPr>
              <a:t>05. APPLICAZIONE DI OPTICS ...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786852"/>
            <a:ext cx="16230600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itmo OPTICS è stato applicato a X_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scal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con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 seguent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parametri: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027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067104" y="9729470"/>
            <a:ext cx="219521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2072" y="4440363"/>
            <a:ext cx="15467228" cy="183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i="true" spc="55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min_s</a:t>
            </a:r>
            <a:r>
              <a:rPr lang="en-US" b="true" sz="1851" i="true" spc="55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amples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= 10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-&gt; numero min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imo di punti nel vicinato di un punto perché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questo sia considerato </a:t>
            </a:r>
            <a:r>
              <a:rPr lang="en-US" b="true" sz="1851" i="true" spc="55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core point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;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i="true" spc="55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xi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= 0.05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-&gt; controlla la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sensibilità alle variazioni di densità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valori più piccoli rendono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OPTICS più sensibile a cambiamenti locali e tendono a produrre più cluster;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51" i="true" spc="55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min_cluster_size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= 0.05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-&gt;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dimensione minima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del cluster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pari al 5% del numero totale di punti.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IMPLEMENTAZIONE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027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628909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8557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30" y="0"/>
                </a:lnTo>
                <a:lnTo>
                  <a:pt x="1127030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24916" y="3815427"/>
            <a:ext cx="7471280" cy="1634343"/>
          </a:xfrm>
          <a:custGeom>
            <a:avLst/>
            <a:gdLst/>
            <a:ahLst/>
            <a:cxnLst/>
            <a:rect r="r" b="b" t="t" l="l"/>
            <a:pathLst>
              <a:path h="1634343" w="7471280">
                <a:moveTo>
                  <a:pt x="0" y="0"/>
                </a:moveTo>
                <a:lnTo>
                  <a:pt x="7471280" y="0"/>
                </a:lnTo>
                <a:lnTo>
                  <a:pt x="7471280" y="1634343"/>
                </a:lnTo>
                <a:lnTo>
                  <a:pt x="0" y="16343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24916" y="6451721"/>
            <a:ext cx="4569638" cy="2747567"/>
          </a:xfrm>
          <a:custGeom>
            <a:avLst/>
            <a:gdLst/>
            <a:ahLst/>
            <a:cxnLst/>
            <a:rect r="r" b="b" t="t" l="l"/>
            <a:pathLst>
              <a:path h="2747567" w="4569638">
                <a:moveTo>
                  <a:pt x="0" y="0"/>
                </a:moveTo>
                <a:lnTo>
                  <a:pt x="4569638" y="0"/>
                </a:lnTo>
                <a:lnTo>
                  <a:pt x="4569638" y="2747567"/>
                </a:lnTo>
                <a:lnTo>
                  <a:pt x="0" y="2747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013293" y="6533692"/>
            <a:ext cx="824849" cy="846369"/>
            <a:chOff x="0" y="0"/>
            <a:chExt cx="678416" cy="6961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8416" cy="696116"/>
            </a:xfrm>
            <a:custGeom>
              <a:avLst/>
              <a:gdLst/>
              <a:ahLst/>
              <a:cxnLst/>
              <a:rect r="r" b="b" t="t" l="l"/>
              <a:pathLst>
                <a:path h="696116" w="678416">
                  <a:moveTo>
                    <a:pt x="678416" y="348058"/>
                  </a:moveTo>
                  <a:lnTo>
                    <a:pt x="272016" y="0"/>
                  </a:lnTo>
                  <a:lnTo>
                    <a:pt x="272016" y="203200"/>
                  </a:lnTo>
                  <a:lnTo>
                    <a:pt x="0" y="203200"/>
                  </a:lnTo>
                  <a:lnTo>
                    <a:pt x="0" y="492916"/>
                  </a:lnTo>
                  <a:lnTo>
                    <a:pt x="272016" y="492916"/>
                  </a:lnTo>
                  <a:lnTo>
                    <a:pt x="272016" y="696116"/>
                  </a:lnTo>
                  <a:lnTo>
                    <a:pt x="678416" y="348058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84150"/>
              <a:ext cx="576816" cy="308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132915"/>
            <a:ext cx="671606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DE59"/>
                </a:solidFill>
                <a:latin typeface="Raleway Bold"/>
                <a:ea typeface="Raleway Bold"/>
                <a:cs typeface="Raleway Bold"/>
                <a:sym typeface="Raleway Bold"/>
              </a:rPr>
              <a:t>05. ...APPLICAZIONE DI OPTICS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786852"/>
            <a:ext cx="6137611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op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il fit vengono estratte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etichette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di cluster: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027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067104" y="9729470"/>
            <a:ext cx="235297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475315"/>
            <a:ext cx="7397017" cy="152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 etichette hann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il seguente significato: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-1 -&gt; punti considerati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rumore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(outlier)</a:t>
            </a: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0, 1, 2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… -&gt;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 individuati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dall’algoritmo</a:t>
            </a: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505117"/>
            <a:ext cx="6137611" cy="91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Nell’es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imento con tutte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feature (incluso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sex_MALE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) OPTICS ha individuato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6 cluster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(0-5) più una quota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di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rumore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(-1).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6341" y="8459248"/>
            <a:ext cx="6955257" cy="27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6"/>
              </a:lnSpc>
              <a:spcBef>
                <a:spcPct val="0"/>
              </a:spcBef>
            </a:pP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(La somma c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orrisp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onde ai 335 pinguini rimasti dopo i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 preprocess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ing).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IMPLEMENTAZIONE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027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628909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8557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30" y="0"/>
                </a:lnTo>
                <a:lnTo>
                  <a:pt x="1127030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879759"/>
            <a:ext cx="5935577" cy="678352"/>
          </a:xfrm>
          <a:custGeom>
            <a:avLst/>
            <a:gdLst/>
            <a:ahLst/>
            <a:cxnLst/>
            <a:rect r="r" b="b" t="t" l="l"/>
            <a:pathLst>
              <a:path h="678352" w="5935577">
                <a:moveTo>
                  <a:pt x="0" y="0"/>
                </a:moveTo>
                <a:lnTo>
                  <a:pt x="5935577" y="0"/>
                </a:lnTo>
                <a:lnTo>
                  <a:pt x="5935577" y="678351"/>
                </a:lnTo>
                <a:lnTo>
                  <a:pt x="0" y="6783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088552"/>
            <a:ext cx="5759311" cy="1770988"/>
          </a:xfrm>
          <a:custGeom>
            <a:avLst/>
            <a:gdLst/>
            <a:ahLst/>
            <a:cxnLst/>
            <a:rect r="r" b="b" t="t" l="l"/>
            <a:pathLst>
              <a:path h="1770988" w="5759311">
                <a:moveTo>
                  <a:pt x="0" y="0"/>
                </a:moveTo>
                <a:lnTo>
                  <a:pt x="5759311" y="0"/>
                </a:lnTo>
                <a:lnTo>
                  <a:pt x="5759311" y="1770988"/>
                </a:lnTo>
                <a:lnTo>
                  <a:pt x="0" y="17709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132915"/>
            <a:ext cx="721152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A065"/>
                </a:solidFill>
                <a:latin typeface="Raleway Bold"/>
                <a:ea typeface="Raleway Bold"/>
                <a:cs typeface="Raleway Bold"/>
                <a:sym typeface="Raleway Bold"/>
              </a:rPr>
              <a:t>06. COSTRUZIONE DEL REACHABILITY PLOT...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786852"/>
            <a:ext cx="16230600" cy="1224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 inter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pretare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il risultato di OPTICS è stato costruito il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reachability plot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che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rappresenta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la reachability distance dei punti nell’ordine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in cui vengono visitati dall’algoritmo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66027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067104" y="9729470"/>
            <a:ext cx="235297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75510" y="5190359"/>
            <a:ext cx="8783790" cy="213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i="true" spc="55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ordering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è la permutazione degli indici dei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pinguini secondo l’ordine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di visita di OPTICS (guidato dalla 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à,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 dall’ordine 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igin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io 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 data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i="true" spc="55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reachability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 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ascun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punt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qu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sto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ordine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achab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ance.</a:t>
            </a: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IMPLEMENTAZIONE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027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628909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8557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30" y="0"/>
                </a:lnTo>
                <a:lnTo>
                  <a:pt x="1127030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034521"/>
            <a:ext cx="9316796" cy="3726718"/>
          </a:xfrm>
          <a:custGeom>
            <a:avLst/>
            <a:gdLst/>
            <a:ahLst/>
            <a:cxnLst/>
            <a:rect r="r" b="b" t="t" l="l"/>
            <a:pathLst>
              <a:path h="3726718" w="9316796">
                <a:moveTo>
                  <a:pt x="0" y="0"/>
                </a:moveTo>
                <a:lnTo>
                  <a:pt x="9316796" y="0"/>
                </a:lnTo>
                <a:lnTo>
                  <a:pt x="9316796" y="3726718"/>
                </a:lnTo>
                <a:lnTo>
                  <a:pt x="0" y="37267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132915"/>
            <a:ext cx="721152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A065"/>
                </a:solidFill>
                <a:latin typeface="Raleway Bold"/>
                <a:ea typeface="Raleway Bold"/>
                <a:cs typeface="Raleway Bold"/>
                <a:sym typeface="Raleway Bold"/>
              </a:rPr>
              <a:t>06. ...E ANALISI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13504" y="4330295"/>
            <a:ext cx="6009676" cy="244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Nel gr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af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ico risultante si osservano: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vallate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”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bass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reachability distance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-&gt; 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ni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 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ell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spazio dei dati, 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spo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ster;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picch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più el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vati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-&gt; pu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olat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nsizion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uster, spesso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a ru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027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067104" y="9729470"/>
            <a:ext cx="238423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IMPLEMENTAZIONE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557" y="7940025"/>
            <a:ext cx="14896884" cy="27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6"/>
              </a:lnSpc>
              <a:spcBef>
                <a:spcPct val="0"/>
              </a:spcBef>
            </a:pP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(L’enorme picco all’estremità rappresenta un punto estremamente distante (altissima reachability distance), e viene quindi classificato come rumore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).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027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628909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8557" y="803294"/>
            <a:ext cx="1127030" cy="225406"/>
          </a:xfrm>
          <a:custGeom>
            <a:avLst/>
            <a:gdLst/>
            <a:ahLst/>
            <a:cxnLst/>
            <a:rect r="r" b="b" t="t" l="l"/>
            <a:pathLst>
              <a:path h="225406" w="1127030">
                <a:moveTo>
                  <a:pt x="0" y="0"/>
                </a:moveTo>
                <a:lnTo>
                  <a:pt x="1127030" y="0"/>
                </a:lnTo>
                <a:lnTo>
                  <a:pt x="1127030" y="225406"/>
                </a:lnTo>
                <a:lnTo>
                  <a:pt x="0" y="225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331460"/>
            <a:ext cx="7751371" cy="988300"/>
          </a:xfrm>
          <a:custGeom>
            <a:avLst/>
            <a:gdLst/>
            <a:ahLst/>
            <a:cxnLst/>
            <a:rect r="r" b="b" t="t" l="l"/>
            <a:pathLst>
              <a:path h="988300" w="7751371">
                <a:moveTo>
                  <a:pt x="0" y="0"/>
                </a:moveTo>
                <a:lnTo>
                  <a:pt x="7751371" y="0"/>
                </a:lnTo>
                <a:lnTo>
                  <a:pt x="7751371" y="988300"/>
                </a:lnTo>
                <a:lnTo>
                  <a:pt x="0" y="9883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598940"/>
            <a:ext cx="5210718" cy="2116841"/>
          </a:xfrm>
          <a:custGeom>
            <a:avLst/>
            <a:gdLst/>
            <a:ahLst/>
            <a:cxnLst/>
            <a:rect r="r" b="b" t="t" l="l"/>
            <a:pathLst>
              <a:path h="2116841" w="5210718">
                <a:moveTo>
                  <a:pt x="0" y="0"/>
                </a:moveTo>
                <a:lnTo>
                  <a:pt x="5210718" y="0"/>
                </a:lnTo>
                <a:lnTo>
                  <a:pt x="5210718" y="2116841"/>
                </a:lnTo>
                <a:lnTo>
                  <a:pt x="0" y="21168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003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18919" y="7240575"/>
            <a:ext cx="4122304" cy="1475206"/>
          </a:xfrm>
          <a:custGeom>
            <a:avLst/>
            <a:gdLst/>
            <a:ahLst/>
            <a:cxnLst/>
            <a:rect r="r" b="b" t="t" l="l"/>
            <a:pathLst>
              <a:path h="1475206" w="4122304">
                <a:moveTo>
                  <a:pt x="0" y="0"/>
                </a:moveTo>
                <a:lnTo>
                  <a:pt x="4122304" y="0"/>
                </a:lnTo>
                <a:lnTo>
                  <a:pt x="4122304" y="1475206"/>
                </a:lnTo>
                <a:lnTo>
                  <a:pt x="0" y="14752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81950" y="6598940"/>
            <a:ext cx="2653181" cy="2409375"/>
          </a:xfrm>
          <a:custGeom>
            <a:avLst/>
            <a:gdLst/>
            <a:ahLst/>
            <a:cxnLst/>
            <a:rect r="r" b="b" t="t" l="l"/>
            <a:pathLst>
              <a:path h="2409375" w="2653181">
                <a:moveTo>
                  <a:pt x="0" y="0"/>
                </a:moveTo>
                <a:lnTo>
                  <a:pt x="2653181" y="0"/>
                </a:lnTo>
                <a:lnTo>
                  <a:pt x="2653181" y="2409375"/>
                </a:lnTo>
                <a:lnTo>
                  <a:pt x="0" y="24093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132915"/>
            <a:ext cx="862756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7C7C"/>
                </a:solidFill>
                <a:latin typeface="Raleway Bold"/>
                <a:ea typeface="Raleway Bold"/>
                <a:cs typeface="Raleway Bold"/>
                <a:sym typeface="Raleway Bold"/>
              </a:rPr>
              <a:t>07. VISUALIZZAZIONE DEI CLUSTER TRAMITE PCA 2D...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027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067104" y="9729470"/>
            <a:ext cx="235744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786852"/>
            <a:ext cx="16230600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 verific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 cluster è stata applicata la PCA (P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ip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aly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z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5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2 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ensi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ni: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529310"/>
            <a:ext cx="16230600" cy="61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 due compon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principali (PC1, PC2) spiegano una frazione consistente della va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ianz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otal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e. I punti so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stat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pro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iettati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nel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PC1 - PC2 e colorati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in b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ase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all’etichetta 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clu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ster: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IMPLEMENTAZIONE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99763" y="3548205"/>
            <a:ext cx="6661778" cy="5710095"/>
          </a:xfrm>
          <a:custGeom>
            <a:avLst/>
            <a:gdLst/>
            <a:ahLst/>
            <a:cxnLst/>
            <a:rect r="r" b="b" t="t" l="l"/>
            <a:pathLst>
              <a:path h="5710095" w="6661778">
                <a:moveTo>
                  <a:pt x="0" y="0"/>
                </a:moveTo>
                <a:lnTo>
                  <a:pt x="6661777" y="0"/>
                </a:lnTo>
                <a:lnTo>
                  <a:pt x="6661777" y="5710095"/>
                </a:lnTo>
                <a:lnTo>
                  <a:pt x="0" y="5710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32915"/>
            <a:ext cx="837340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359"/>
              </a:lnSpc>
            </a:pPr>
            <a:r>
              <a:rPr lang="en-US" b="true" sz="2399" spc="47" u="sng">
                <a:solidFill>
                  <a:srgbClr val="FF7C7C"/>
                </a:solidFill>
                <a:latin typeface="Raleway Bold"/>
                <a:ea typeface="Raleway Bold"/>
                <a:cs typeface="Raleway Bold"/>
                <a:sym typeface="Raleway Bold"/>
              </a:rPr>
              <a:t>07. ...E ANALISI</a:t>
            </a:r>
          </a:p>
        </p:txBody>
      </p:sp>
      <p:sp>
        <p:nvSpPr>
          <p:cNvPr name="AutoShape 4" id="4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135563"/>
            <a:ext cx="8115300" cy="244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Nel gr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af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ico risultante si osservano: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punti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pp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nenti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allo ste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sso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cluste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 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a formare gruppi compatti e rag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nevolme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separati;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rumore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(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ab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 =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-1) appare più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dispers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o, spesso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margin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dell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regioni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ccupa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dai cluster.</a:t>
            </a:r>
          </a:p>
          <a:p>
            <a:pPr algn="just">
              <a:lnSpc>
                <a:spcPts val="240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IMPLEMENTAZIONE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137224"/>
            <a:ext cx="6639593" cy="2290660"/>
          </a:xfrm>
          <a:custGeom>
            <a:avLst/>
            <a:gdLst/>
            <a:ahLst/>
            <a:cxnLst/>
            <a:rect r="r" b="b" t="t" l="l"/>
            <a:pathLst>
              <a:path h="2290660" w="6639593">
                <a:moveTo>
                  <a:pt x="0" y="0"/>
                </a:moveTo>
                <a:lnTo>
                  <a:pt x="6639593" y="0"/>
                </a:lnTo>
                <a:lnTo>
                  <a:pt x="6639593" y="2290660"/>
                </a:lnTo>
                <a:lnTo>
                  <a:pt x="0" y="2290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38597" y="2942510"/>
            <a:ext cx="2933319" cy="2485373"/>
          </a:xfrm>
          <a:custGeom>
            <a:avLst/>
            <a:gdLst/>
            <a:ahLst/>
            <a:cxnLst/>
            <a:rect r="r" b="b" t="t" l="l"/>
            <a:pathLst>
              <a:path h="2485373" w="2933319">
                <a:moveTo>
                  <a:pt x="0" y="0"/>
                </a:moveTo>
                <a:lnTo>
                  <a:pt x="2933319" y="0"/>
                </a:lnTo>
                <a:lnTo>
                  <a:pt x="2933319" y="2485374"/>
                </a:lnTo>
                <a:lnTo>
                  <a:pt x="0" y="24853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93371" y="6328265"/>
            <a:ext cx="11301259" cy="2853568"/>
          </a:xfrm>
          <a:custGeom>
            <a:avLst/>
            <a:gdLst/>
            <a:ahLst/>
            <a:cxnLst/>
            <a:rect r="r" b="b" t="t" l="l"/>
            <a:pathLst>
              <a:path h="2853568" w="11301259">
                <a:moveTo>
                  <a:pt x="0" y="0"/>
                </a:moveTo>
                <a:lnTo>
                  <a:pt x="11301258" y="0"/>
                </a:lnTo>
                <a:lnTo>
                  <a:pt x="11301258" y="2853568"/>
                </a:lnTo>
                <a:lnTo>
                  <a:pt x="0" y="28535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RISULTATI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398737"/>
            <a:ext cx="7320703" cy="61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 sintetizz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il risultato è stato creato un DataF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esteso co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segn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z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one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cluster: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38597" y="2410494"/>
            <a:ext cx="7320703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b="true" sz="1851" spc="55">
                <a:solidFill>
                  <a:srgbClr val="FF9DC3"/>
                </a:solidFill>
                <a:latin typeface="Raleway Bold"/>
                <a:ea typeface="Raleway Bold"/>
                <a:cs typeface="Raleway Bold"/>
                <a:sym typeface="Raleway Bold"/>
              </a:rPr>
              <a:t>Distribuzione dei pinguini per cluster: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83649" y="5895544"/>
            <a:ext cx="7320703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6"/>
              </a:lnSpc>
              <a:spcBef>
                <a:spcPct val="0"/>
              </a:spcBef>
            </a:pPr>
            <a:r>
              <a:rPr lang="en-US" b="true" sz="1851" spc="55">
                <a:solidFill>
                  <a:srgbClr val="FF9DC3"/>
                </a:solidFill>
                <a:latin typeface="Raleway Bold"/>
                <a:ea typeface="Raleway Bold"/>
                <a:cs typeface="Raleway Bold"/>
                <a:sym typeface="Raleway Bold"/>
              </a:rPr>
              <a:t>Medie di valori per cluster: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61177" y="2810792"/>
            <a:ext cx="6998123" cy="4665415"/>
          </a:xfrm>
          <a:custGeom>
            <a:avLst/>
            <a:gdLst/>
            <a:ahLst/>
            <a:cxnLst/>
            <a:rect r="r" b="b" t="t" l="l"/>
            <a:pathLst>
              <a:path h="4665415" w="6998123">
                <a:moveTo>
                  <a:pt x="0" y="0"/>
                </a:moveTo>
                <a:lnTo>
                  <a:pt x="6998123" y="0"/>
                </a:lnTo>
                <a:lnTo>
                  <a:pt x="6998123" y="4665416"/>
                </a:lnTo>
                <a:lnTo>
                  <a:pt x="0" y="46654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ANALISI DEI RISULTATI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28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138162"/>
            <a:ext cx="7320703" cy="33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6"/>
              </a:lnSpc>
              <a:spcBef>
                <a:spcPct val="0"/>
              </a:spcBef>
            </a:pPr>
            <a:r>
              <a:rPr lang="en-US" b="true" sz="2051" spc="61">
                <a:solidFill>
                  <a:srgbClr val="FF9DC3"/>
                </a:solidFill>
                <a:latin typeface="Raleway Bold"/>
                <a:ea typeface="Raleway Bold"/>
                <a:cs typeface="Raleway Bold"/>
                <a:sym typeface="Raleway Bold"/>
              </a:rPr>
              <a:t>DISTRIBUZIONE DEI PINGUINI PER CLUSTER: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889502"/>
            <a:ext cx="8784400" cy="579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Questa distribuzione è stata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anche rappresentata con un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istogramma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del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numero di pinguini per cluster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da cui si vede subito che: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 4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è il più ampio (75 individui)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rumore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(-1) con 141 punti è molto numeroso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 0, 1, 2, 3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5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hanno quantità più contenute.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L’istogramma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rende visiva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ente chiaro che: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OPTICS individua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pochi cluster “grandi”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(in particolare il 4) e alcu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ni 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ster più piccoli, che rappre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sentano sottogruppi morfologicamente più specifici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parte imp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ortante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del dataset viene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comunque etichettata come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rumore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ossia punti che non rientrano in regioni abbastanza dense.</a:t>
            </a: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12334" y="2983548"/>
            <a:ext cx="7539023" cy="5385017"/>
          </a:xfrm>
          <a:custGeom>
            <a:avLst/>
            <a:gdLst/>
            <a:ahLst/>
            <a:cxnLst/>
            <a:rect r="r" b="b" t="t" l="l"/>
            <a:pathLst>
              <a:path h="5385017" w="7539023">
                <a:moveTo>
                  <a:pt x="0" y="0"/>
                </a:moveTo>
                <a:lnTo>
                  <a:pt x="7539024" y="0"/>
                </a:lnTo>
                <a:lnTo>
                  <a:pt x="7539024" y="5385017"/>
                </a:lnTo>
                <a:lnTo>
                  <a:pt x="0" y="5385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14131714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ANALISI DEI RISULTATI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60999"/>
            <a:ext cx="7320703" cy="335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6"/>
              </a:lnSpc>
              <a:spcBef>
                <a:spcPct val="0"/>
              </a:spcBef>
            </a:pPr>
            <a:r>
              <a:rPr lang="en-US" b="true" sz="2051" spc="61">
                <a:solidFill>
                  <a:srgbClr val="FF9DC3"/>
                </a:solidFill>
                <a:latin typeface="Raleway Bold"/>
                <a:ea typeface="Raleway Bold"/>
                <a:cs typeface="Raleway Bold"/>
                <a:sym typeface="Raleway Bold"/>
              </a:rPr>
              <a:t>MEDIE DI VALORI PER CLUSTER: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756611"/>
            <a:ext cx="8784400" cy="1224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 rendere più leggibili gli scostamenti rispetto alla media globale, è stata costruita una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heatmap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delle medie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sul dataset standardizzato.</a:t>
            </a:r>
          </a:p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Questa mostra, per ogni cluster e feature, quanto il valore medio è sopra o sotto la soglia globale (0).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12334" y="8339990"/>
            <a:ext cx="6946966" cy="80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6"/>
              </a:lnSpc>
              <a:spcBef>
                <a:spcPct val="0"/>
              </a:spcBef>
            </a:pP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Per leggere correttamente il grafico è importante considerare </a:t>
            </a:r>
            <a:r>
              <a:rPr lang="en-US" b="true" sz="1651" i="true" spc="49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l’inten</a:t>
            </a:r>
            <a:r>
              <a:rPr lang="en-US" b="true" sz="1651" i="true" spc="49" u="none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s</a:t>
            </a:r>
            <a:r>
              <a:rPr lang="en-US" b="true" sz="1651" i="true" spc="49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ità</a:t>
            </a:r>
            <a:r>
              <a:rPr lang="en-US" b="true" sz="1651" i="true" spc="49" u="none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 </a:t>
            </a:r>
            <a:r>
              <a:rPr lang="en-US" sz="1651" i="true" spc="49" u="none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de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</a:t>
            </a:r>
            <a:r>
              <a:rPr lang="en-US" sz="1651" i="true" spc="49" u="none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</a:t>
            </a:r>
            <a:r>
              <a:rPr lang="en-US" sz="1651" i="true" spc="49" u="none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lore, che misura quanto un valore si discosta dalla media.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265830"/>
            <a:ext cx="8784400" cy="488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b="true" sz="1851" spc="55">
                <a:solidFill>
                  <a:srgbClr val="FF9DC3"/>
                </a:solidFill>
                <a:latin typeface="Raleway Bold"/>
                <a:ea typeface="Raleway Bold"/>
                <a:cs typeface="Raleway Bold"/>
                <a:sym typeface="Raleway Bold"/>
              </a:rPr>
              <a:t>Si osserva che, per i cluster di maschi: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 2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ha un forte valore positivo su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body_mass_g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-&gt;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pinguini molto pesanti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;</a:t>
            </a: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cluster 1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spicca per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lunghezza e profondità del becco sopra la media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;</a:t>
            </a: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 0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ha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becco meno lungo ma più profond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  <a:r>
              <a:rPr lang="en-US" b="true" sz="1851" spc="55">
                <a:solidFill>
                  <a:srgbClr val="FF9DC3"/>
                </a:solidFill>
                <a:latin typeface="Raleway Bold"/>
                <a:ea typeface="Raleway Bold"/>
                <a:cs typeface="Raleway Bold"/>
                <a:sym typeface="Raleway Bold"/>
              </a:rPr>
              <a:t>Per quanto riguarda i cluster di femmine: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 4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ha valori negativi su quasi tutte le feature -&gt;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femmine piccole e leggere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;</a:t>
            </a: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 5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mostra massa sopra la media ma profondità del becco sotto la media -&gt;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femmine più pesanti con becco meno profondo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;</a:t>
            </a: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cluster 3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è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vicino alla media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su gran parte delle feature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rumore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(-1) ha valori moderati, senza scostamenti estremi</a:t>
            </a:r>
          </a:p>
        </p:txBody>
      </p:sp>
      <p:sp>
        <p:nvSpPr>
          <p:cNvPr name="AutoShape 9" id="9"/>
          <p:cNvSpPr/>
          <p:nvPr/>
        </p:nvSpPr>
        <p:spPr>
          <a:xfrm>
            <a:off x="1028700" y="9413931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6135691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29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713969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173225"/>
            <a:ext cx="2971691" cy="1642250"/>
          </a:xfrm>
          <a:custGeom>
            <a:avLst/>
            <a:gdLst/>
            <a:ahLst/>
            <a:cxnLst/>
            <a:rect r="r" b="b" t="t" l="l"/>
            <a:pathLst>
              <a:path h="1642250" w="2971691">
                <a:moveTo>
                  <a:pt x="0" y="0"/>
                </a:moveTo>
                <a:lnTo>
                  <a:pt x="2971691" y="0"/>
                </a:lnTo>
                <a:lnTo>
                  <a:pt x="2971691" y="1642250"/>
                </a:lnTo>
                <a:lnTo>
                  <a:pt x="0" y="1642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96592" y="7173225"/>
            <a:ext cx="10062708" cy="1999963"/>
          </a:xfrm>
          <a:custGeom>
            <a:avLst/>
            <a:gdLst/>
            <a:ahLst/>
            <a:cxnLst/>
            <a:rect r="r" b="b" t="t" l="l"/>
            <a:pathLst>
              <a:path h="1999963" w="10062708">
                <a:moveTo>
                  <a:pt x="0" y="0"/>
                </a:moveTo>
                <a:lnTo>
                  <a:pt x="10062708" y="0"/>
                </a:lnTo>
                <a:lnTo>
                  <a:pt x="10062708" y="1999964"/>
                </a:lnTo>
                <a:lnTo>
                  <a:pt x="0" y="19999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86707"/>
            <a:ext cx="15201900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ESPERIMENTO AGGIUNTIVO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72806"/>
            <a:ext cx="8802017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199"/>
              </a:lnSpc>
            </a:pPr>
            <a:r>
              <a:rPr lang="en-US" b="true" sz="2999" spc="59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RIMOZIONE DELLA FEATURE sex_MALE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96732"/>
            <a:ext cx="16230600" cy="244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 valut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l’impatto della scelta delle feature, è stato condotto un secondo esperimento eliminando la va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riabil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sex_MALE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utilizzando solta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nto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 qu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attr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feature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morfologi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che: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culmen_length_mm</a:t>
            </a: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culmen_depth_mm</a:t>
            </a: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flipper_length_mm</a:t>
            </a: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body_mass_g</a:t>
            </a: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11688" y="5467193"/>
            <a:ext cx="14272718" cy="27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6"/>
              </a:lnSpc>
              <a:spcBef>
                <a:spcPct val="0"/>
              </a:spcBef>
            </a:pP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 paramet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ri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di OPTICS sono stati mantenuti inva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riati (</a:t>
            </a:r>
            <a:r>
              <a:rPr lang="en-US" b="true" sz="1651" i="true" spc="49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min_samples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= 10, </a:t>
            </a:r>
            <a:r>
              <a:rPr lang="en-US" b="true" sz="1651" i="true" spc="49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xi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= 0.05, </a:t>
            </a:r>
            <a:r>
              <a:rPr lang="en-US" b="true" sz="1651" i="true" spc="49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min_cluster_size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= 0.05) per rendere il confronto 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sign</a:t>
            </a:r>
            <a:r>
              <a:rPr lang="en-US" sz="1651" i="true" spc="49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ificativo.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027244"/>
            <a:ext cx="16230600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Applicando OPTICS, abbiamo come risultato: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751526"/>
            <a:ext cx="4566433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b="true" sz="1851" spc="55">
                <a:solidFill>
                  <a:srgbClr val="A300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Distribuzione di pinguini per cluster: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95696" y="6751526"/>
            <a:ext cx="6607247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b="true" sz="1851" spc="55">
                <a:solidFill>
                  <a:srgbClr val="A300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Medie per cluster:</a:t>
            </a:r>
          </a:p>
        </p:txBody>
      </p:sp>
      <p:sp>
        <p:nvSpPr>
          <p:cNvPr name="AutoShape 12" id="12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666027" y="8695289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30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333520"/>
            <a:ext cx="9049898" cy="3619959"/>
          </a:xfrm>
          <a:custGeom>
            <a:avLst/>
            <a:gdLst/>
            <a:ahLst/>
            <a:cxnLst/>
            <a:rect r="r" b="b" t="t" l="l"/>
            <a:pathLst>
              <a:path h="3619959" w="9049898">
                <a:moveTo>
                  <a:pt x="0" y="0"/>
                </a:moveTo>
                <a:lnTo>
                  <a:pt x="9049898" y="0"/>
                </a:lnTo>
                <a:lnTo>
                  <a:pt x="9049898" y="3619960"/>
                </a:lnTo>
                <a:lnTo>
                  <a:pt x="0" y="3619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72618" y="1564895"/>
            <a:ext cx="6286682" cy="5388585"/>
          </a:xfrm>
          <a:custGeom>
            <a:avLst/>
            <a:gdLst/>
            <a:ahLst/>
            <a:cxnLst/>
            <a:rect r="r" b="b" t="t" l="l"/>
            <a:pathLst>
              <a:path h="5388585" w="6286682">
                <a:moveTo>
                  <a:pt x="0" y="0"/>
                </a:moveTo>
                <a:lnTo>
                  <a:pt x="6286682" y="0"/>
                </a:lnTo>
                <a:lnTo>
                  <a:pt x="6286682" y="5388585"/>
                </a:lnTo>
                <a:lnTo>
                  <a:pt x="0" y="53885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04900"/>
            <a:ext cx="15201900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GRAFICAMENTE...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50231"/>
            <a:ext cx="8802017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199"/>
              </a:lnSpc>
            </a:pPr>
            <a:r>
              <a:rPr lang="en-US" b="true" sz="2999" spc="59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RIMOZIONE DELLA FEATURE sex_MALE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182682"/>
            <a:ext cx="8802017" cy="91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nuovo reachability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plot presenta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poche vallate strette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lunghi tratti con valo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di reachability elevati, segno che OPTICS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no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 individu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 più regi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oni estese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e stabili di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alta densità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17908" y="7182682"/>
            <a:ext cx="5741392" cy="91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PCA 2D mostra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 meno compatti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più sovrapposti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  <p:sp>
        <p:nvSpPr>
          <p:cNvPr name="AutoShape 9" id="9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498364" y="9719310"/>
            <a:ext cx="112360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31</a:t>
            </a:r>
          </a:p>
          <a:p>
            <a:pPr algn="r">
              <a:lnSpc>
                <a:spcPts val="20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65560"/>
            <a:ext cx="15201900" cy="2374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ANALISI E INTERPRETAZIONE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82465"/>
            <a:ext cx="8802017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199"/>
              </a:lnSpc>
            </a:pPr>
            <a:r>
              <a:rPr lang="en-US" b="true" sz="2999" spc="59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RIMOZIONE DELLA FEATURE sex_MALE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650275"/>
            <a:ext cx="16230600" cy="3053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L’analisi delle medie evidenzia che: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</a:t>
            </a:r>
            <a:r>
              <a:rPr lang="en-US" b="true" sz="1851" spc="55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 cluster 2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raggruppa pinguini con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pinne molto lunghe e massa corporea elevata, inter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retabili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individui di taglia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partico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rmen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grande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b="true" sz="1851" spc="55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 1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 valori al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sia di lunghezza sia di profondità del becco, indicando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pinguini con becco più sviluppato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rispetto alla media. </a:t>
            </a: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b="true" sz="1851" spc="55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 0,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al contra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rio, è caratterizzato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da pinne più corte e massa inferiore, compatibili con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esemplari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complessivamente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più piccoli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fatto che la </a:t>
            </a:r>
            <a:r>
              <a:rPr lang="en-US" b="true" sz="1851" spc="55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maggior</a:t>
            </a:r>
            <a:r>
              <a:rPr lang="en-US" b="true" sz="1851" spc="55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parte dei</a:t>
            </a:r>
            <a:r>
              <a:rPr lang="en-US" b="true" sz="1851" spc="55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 punti resti c</a:t>
            </a:r>
            <a:r>
              <a:rPr lang="en-US" b="true" sz="1851" spc="55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omunque classificata come rumore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uggerisce però che, in assenza della fea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sso,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en-US" b="true" sz="1851" spc="55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differenze morfologiche non si</a:t>
            </a:r>
            <a:r>
              <a:rPr lang="en-US" b="true" sz="1851" spc="55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ano sufficienti a definire regioni di densità ben separate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nello spazio delle feature.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512962"/>
            <a:ext cx="16230600" cy="91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L’interpretazione è che,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rimuovendo il sesso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lo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spazio delle feature diventa più “continuo”: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maschi e femmine con misure simili finiscono vicini. A parità di parametri, OPTICS non considera più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maggior parte dei punti come appartenenti a cluster sufficientemente densi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li classifica come rumore.</a:t>
            </a:r>
          </a:p>
        </p:txBody>
      </p:sp>
      <p:sp>
        <p:nvSpPr>
          <p:cNvPr name="AutoShape 7" id="7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32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413931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65560"/>
            <a:ext cx="15201900" cy="2374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DISCUSSIONE DEI RISULTATI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35691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33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713969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08070"/>
            <a:ext cx="16230600" cy="640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b="true" sz="1851" spc="55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Importanza delle feature</a:t>
            </a: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L’aggiunta della sola variabile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sex_MALE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fa passare da una situazione in cui quasi tutto il dataset è considerato rumore a una in cui emergono diversi cluster ben formati. Il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sesso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risulta quindi una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feature fortemente informativa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→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 maschi sono quindi di natura più grandi delle femmine, e includendo il sesso è possibile individuare correttamente le differenze morfologiche considerando anche questa caratteristica.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  <a:r>
              <a:rPr lang="en-US" b="true" sz="1851" spc="55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Spazio delle feature vs parametri dell’algoritmo</a:t>
            </a: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parametri di OPTICS sono gli stessi in entrambi i casi; il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cambiamento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nel numero di cluster e nella quantità di rumore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dipende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dunque esclusivamente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 quali feature vengono selezionate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  <a:r>
              <a:rPr lang="en-US" b="true" sz="1851" spc="55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Feature poco informative = più rumore, feature più informativ</a:t>
            </a:r>
            <a:r>
              <a:rPr lang="en-US" b="true" sz="1851" spc="55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e =clus</a:t>
            </a:r>
            <a:r>
              <a:rPr lang="en-US" b="true" sz="1851" spc="55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t</a:t>
            </a:r>
            <a:r>
              <a:rPr lang="en-US" b="true" sz="1851" spc="55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e</a:t>
            </a:r>
            <a:r>
              <a:rPr lang="en-US" b="true" sz="1851" spc="55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  <a:r>
              <a:rPr lang="en-US" b="true" sz="1851" spc="55">
                <a:solidFill>
                  <a:srgbClr val="A300FF"/>
                </a:solidFill>
                <a:latin typeface="Raleway Bold"/>
                <a:ea typeface="Raleway Bold"/>
                <a:cs typeface="Raleway Bold"/>
                <a:sym typeface="Raleway Bold"/>
              </a:rPr>
              <a:t> più puliti</a:t>
            </a: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Nel caso morfologico puro (senza quindi considerare il sesso), le differenze tra individui so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no distribuite in modo gradua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le, senza stacchi netti, causando un’elevata quot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di outlier.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Introducend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una feature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che separa gruppi relativamente omogenei (come il sesso) aumenta la densità locale e l’algoritmo riesce a identificare cluster più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chiari e interpretabili.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 sintesi, l’esperimento 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dataset Penguins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ostra ch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OPTICS non “inventa” cluster dove la struttura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on è supportata dai dati: se lo spazio del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feature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on contiene 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ioni ben separa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e, l’algoritmo restituisce prevalente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ente ru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ore.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Quando invece le feature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att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rano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differ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z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tra sottogru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pi, il reachability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lot e la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roi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zione PCA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ivelano una struttura a c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uster complessa ma coer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ent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413931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487418"/>
            <a:ext cx="5565882" cy="4786658"/>
          </a:xfrm>
          <a:custGeom>
            <a:avLst/>
            <a:gdLst/>
            <a:ahLst/>
            <a:cxnLst/>
            <a:rect r="r" b="b" t="t" l="l"/>
            <a:pathLst>
              <a:path h="4786658" w="5565882">
                <a:moveTo>
                  <a:pt x="0" y="0"/>
                </a:moveTo>
                <a:lnTo>
                  <a:pt x="5565882" y="0"/>
                </a:lnTo>
                <a:lnTo>
                  <a:pt x="5565882" y="4786658"/>
                </a:lnTo>
                <a:lnTo>
                  <a:pt x="0" y="4786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97101" y="4739867"/>
            <a:ext cx="2698171" cy="1976878"/>
          </a:xfrm>
          <a:custGeom>
            <a:avLst/>
            <a:gdLst/>
            <a:ahLst/>
            <a:cxnLst/>
            <a:rect r="r" b="b" t="t" l="l"/>
            <a:pathLst>
              <a:path h="1976878" w="2698171">
                <a:moveTo>
                  <a:pt x="0" y="0"/>
                </a:moveTo>
                <a:lnTo>
                  <a:pt x="2698171" y="0"/>
                </a:lnTo>
                <a:lnTo>
                  <a:pt x="2698171" y="1976878"/>
                </a:lnTo>
                <a:lnTo>
                  <a:pt x="0" y="1976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97101" y="7201865"/>
            <a:ext cx="9929229" cy="1985846"/>
          </a:xfrm>
          <a:custGeom>
            <a:avLst/>
            <a:gdLst/>
            <a:ahLst/>
            <a:cxnLst/>
            <a:rect r="r" b="b" t="t" l="l"/>
            <a:pathLst>
              <a:path h="1985846" w="9929229">
                <a:moveTo>
                  <a:pt x="0" y="0"/>
                </a:moveTo>
                <a:lnTo>
                  <a:pt x="9929229" y="0"/>
                </a:lnTo>
                <a:lnTo>
                  <a:pt x="9929229" y="1985845"/>
                </a:lnTo>
                <a:lnTo>
                  <a:pt x="0" y="19858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04900"/>
            <a:ext cx="15201900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ALTRO ESPERIMENTO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35691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34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713969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861574"/>
            <a:ext cx="16230600" cy="1529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 valut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l’effetto dei parametri di OPTICS, è stato eseguito un ulteriore esperimento variando il pa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etro x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i,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che controlla quanto l’algoritmo è sensibile a variazioni locali di densità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L'esperime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nto è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effettuato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impostando </a:t>
            </a:r>
            <a:r>
              <a:rPr lang="en-US" b="true" sz="1851" i="true" spc="55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xi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al valore di 0.1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5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ciò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è ris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ult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è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tato:</a:t>
            </a: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397101" y="6892003"/>
            <a:ext cx="6607247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b="true" sz="1851" spc="55">
                <a:solidFill>
                  <a:srgbClr val="2962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Medie per cluster: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97101" y="4430005"/>
            <a:ext cx="4566433" cy="30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  <a:spcBef>
                <a:spcPct val="0"/>
              </a:spcBef>
            </a:pPr>
            <a:r>
              <a:rPr lang="en-US" b="true" sz="1851" spc="55">
                <a:solidFill>
                  <a:srgbClr val="2962FF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Distribuzione di pinguini per cluster: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250231"/>
            <a:ext cx="10527584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199"/>
              </a:lnSpc>
            </a:pPr>
            <a:r>
              <a:rPr lang="en-US" b="true" sz="2999" spc="59">
                <a:solidFill>
                  <a:srgbClr val="2962FF"/>
                </a:solidFill>
                <a:latin typeface="Raleway Bold"/>
                <a:ea typeface="Raleway Bold"/>
                <a:cs typeface="Raleway Bold"/>
                <a:sym typeface="Raleway Bold"/>
              </a:rPr>
              <a:t>ANALISI DI SENSIBILITÀ RISPETTO AL PARAMETRO xi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413931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15201900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ANALISI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35691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35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713969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50231"/>
            <a:ext cx="10527584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199"/>
              </a:lnSpc>
            </a:pPr>
            <a:r>
              <a:rPr lang="en-US" b="true" sz="2999" spc="59">
                <a:solidFill>
                  <a:srgbClr val="2962FF"/>
                </a:solidFill>
                <a:latin typeface="Raleway Bold"/>
                <a:ea typeface="Raleway Bold"/>
                <a:cs typeface="Raleway Bold"/>
                <a:sym typeface="Raleway Bold"/>
              </a:rPr>
              <a:t>ANALISI DI SENSIBILITÀ RISPETTO AL PARAMETRO xi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895709"/>
            <a:ext cx="16230600" cy="579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Aumentando </a:t>
            </a:r>
            <a:r>
              <a:rPr lang="en-US" b="true" sz="1851" i="true" spc="55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xi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(riducendo quindi la sensibilità) si osserva che: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numero di cluste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 diminuisce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(da 6 cluster + rumore a 4 cluster principali + rumore),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Il numero di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punti etichettati come rumore crolla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(da 141 a 4 osservazioni),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cluster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risultano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più estesi e compatti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nello spazio delle feature.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Nel corrispondente grafico PCA 2D i quattro cluster formano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insiemi ben separati -&gt;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pochi outlier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rimangono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isolati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edie 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</a:t>
            </a:r>
            <a:r>
              <a:rPr lang="en-US" sz="1851" i="true" spc="55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sex_MALE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lust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ancor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u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forte separazio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gruppi di so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maschi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(v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alor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med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io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1)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grupp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femmine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(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va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 med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0),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cando che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struttura legata al sess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rimane visibile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he con un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sce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xi molto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meno 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ensi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bile. Ques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esperime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nto conferma che: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OPTICS può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passare da un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descrizione più fine (molti cluster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+ più rumore) a una più grossolana (pochi cluster grandi + quas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nessun rumore) semplicemente variando xi</a:t>
            </a:r>
          </a:p>
          <a:p>
            <a:pPr algn="just">
              <a:lnSpc>
                <a:spcPts val="2406"/>
              </a:lnSpc>
            </a:pPr>
          </a:p>
          <a:p>
            <a:pPr algn="just" marL="399725" indent="-199862" lvl="1">
              <a:lnSpc>
                <a:spcPts val="2406"/>
              </a:lnSpc>
              <a:spcBef>
                <a:spcPct val="0"/>
              </a:spcBef>
              <a:buFont typeface="Arial"/>
              <a:buChar char="•"/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scelta di xi non crea cluster “dal nulla”, ma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cide a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che livello di dettaglio vogliamo strutturare la densità 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già pre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sen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 nei dati, quindi la scelta delle feature rimane fondamentale per il corretto funzionamento dell’algoritmo.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04900"/>
            <a:ext cx="15201900" cy="12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6"/>
              </a:lnSpc>
            </a:pPr>
            <a:r>
              <a:rPr lang="en-US" b="true" sz="8433" spc="25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OSSERVAZIONE FINALE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50231"/>
            <a:ext cx="10527584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199"/>
              </a:lnSpc>
            </a:pPr>
            <a:r>
              <a:rPr lang="en-US" b="true" sz="2999" spc="59">
                <a:solidFill>
                  <a:srgbClr val="2962FF"/>
                </a:solidFill>
                <a:latin typeface="Raleway Bold"/>
                <a:ea typeface="Raleway Bold"/>
                <a:cs typeface="Raleway Bold"/>
                <a:sym typeface="Raleway Bold"/>
              </a:rPr>
              <a:t>RISPETTO ALLA MODIFICA DEI PARAMETRI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39752"/>
            <a:ext cx="16230600" cy="213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Sono stati effettuati diversi esperimenti variando tutti i parametri dell’algoritmo, prima con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modifiche di piccola entità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 poi con cambiamenti più marcati rispetto ai valori iniziali. In tutti i casi,</a:t>
            </a:r>
            <a:r>
              <a:rPr lang="en-US" sz="1851" spc="55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la quantità di punti etichettati come rumore è rimasta </a:t>
            </a:r>
            <a:r>
              <a:rPr lang="en-US" b="true" sz="1851" spc="55" u="sng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elevata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a meno di ridurre la sensibilità del metodo fino a valori tali da rendere i dati quasi uniformi.</a:t>
            </a:r>
          </a:p>
          <a:p>
            <a:pPr algn="just">
              <a:lnSpc>
                <a:spcPts val="2406"/>
              </a:lnSpc>
            </a:pPr>
          </a:p>
          <a:p>
            <a:pPr algn="just">
              <a:lnSpc>
                <a:spcPts val="2406"/>
              </a:lnSpc>
            </a:pP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Questo indica che </a:t>
            </a:r>
            <a:r>
              <a:rPr lang="en-US" b="true" sz="1851" spc="5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il problema non dipende tanto dalla scelta dei parametri,</a:t>
            </a:r>
            <a:r>
              <a:rPr lang="en-US" sz="1851" spc="5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quanto dal fatto che i punti del dataset sono effettivamente molto dispersi nello spazio delle feature.</a:t>
            </a:r>
          </a:p>
          <a:p>
            <a:pPr algn="just">
              <a:lnSpc>
                <a:spcPts val="2406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>
            <a:off x="3852869" y="9413931"/>
            <a:ext cx="1376910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498364" y="9719310"/>
            <a:ext cx="1123609" cy="25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b="true" sz="1599" spc="4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36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55646" y="9719310"/>
            <a:ext cx="3379119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spc="47" b="true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Analisi delle densità con OPTICS</a:t>
            </a:r>
          </a:p>
          <a:p>
            <a:pPr algn="l">
              <a:lnSpc>
                <a:spcPts val="2079"/>
              </a:lnSpc>
            </a:pP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106571" y="4010798"/>
            <a:ext cx="10074858" cy="247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2"/>
              </a:lnSpc>
            </a:pPr>
            <a:r>
              <a:rPr lang="en-US" b="true" sz="9804" spc="29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GRAZIE PER L’ATTENZIONE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6230600" y="0"/>
            <a:ext cx="2057400" cy="2057400"/>
          </a:xfrm>
          <a:custGeom>
            <a:avLst/>
            <a:gdLst/>
            <a:ahLst/>
            <a:cxnLst/>
            <a:rect r="r" b="b" t="t" l="l"/>
            <a:pathLst>
              <a:path h="2057400" w="2057400">
                <a:moveTo>
                  <a:pt x="2057400" y="0"/>
                </a:moveTo>
                <a:lnTo>
                  <a:pt x="0" y="0"/>
                </a:lnTo>
                <a:lnTo>
                  <a:pt x="0" y="2057400"/>
                </a:lnTo>
                <a:lnTo>
                  <a:pt x="2057400" y="2057400"/>
                </a:lnTo>
                <a:lnTo>
                  <a:pt x="20574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6027" y="8685764"/>
            <a:ext cx="2993064" cy="2993064"/>
          </a:xfrm>
          <a:custGeom>
            <a:avLst/>
            <a:gdLst/>
            <a:ahLst/>
            <a:cxnLst/>
            <a:rect r="r" b="b" t="t" l="l"/>
            <a:pathLst>
              <a:path h="2993064" w="2993064">
                <a:moveTo>
                  <a:pt x="0" y="0"/>
                </a:moveTo>
                <a:lnTo>
                  <a:pt x="2993064" y="0"/>
                </a:lnTo>
                <a:lnTo>
                  <a:pt x="2993064" y="2993064"/>
                </a:lnTo>
                <a:lnTo>
                  <a:pt x="0" y="29930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DAG5s8WrfDc</dc:identifier>
  <dcterms:modified xsi:type="dcterms:W3CDTF">2011-08-01T06:04:30Z</dcterms:modified>
  <cp:revision>1</cp:revision>
  <dc:title>Analisi delle densità con OPTICS</dc:title>
</cp:coreProperties>
</file>